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2.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3.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handoutMasterIdLst>
    <p:handoutMasterId r:id="rId19"/>
  </p:handoutMasterIdLst>
  <p:sldIdLst>
    <p:sldId id="305" r:id="rId2"/>
    <p:sldId id="366" r:id="rId3"/>
    <p:sldId id="354" r:id="rId4"/>
    <p:sldId id="355" r:id="rId5"/>
    <p:sldId id="356" r:id="rId6"/>
    <p:sldId id="357" r:id="rId7"/>
    <p:sldId id="294" r:id="rId8"/>
    <p:sldId id="362" r:id="rId9"/>
    <p:sldId id="315" r:id="rId10"/>
    <p:sldId id="363" r:id="rId11"/>
    <p:sldId id="364" r:id="rId12"/>
    <p:sldId id="365" r:id="rId13"/>
    <p:sldId id="358" r:id="rId14"/>
    <p:sldId id="361" r:id="rId15"/>
    <p:sldId id="360" r:id="rId16"/>
    <p:sldId id="353" r:id="rId17"/>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76" userDrawn="1">
          <p15:clr>
            <a:srgbClr val="A4A3A4"/>
          </p15:clr>
        </p15:guide>
        <p15:guide id="2" pos="382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69B4"/>
    <a:srgbClr val="F6FDFF"/>
    <a:srgbClr val="2E75BB"/>
    <a:srgbClr val="ED7D31"/>
    <a:srgbClr val="CDE2F1"/>
    <a:srgbClr val="FFC000"/>
    <a:srgbClr val="6A9BCB"/>
    <a:srgbClr val="A9C8E3"/>
    <a:srgbClr val="A9C9E3"/>
    <a:srgbClr val="B2D0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7500" autoAdjust="0"/>
    <p:restoredTop sz="85006" autoAdjust="0"/>
  </p:normalViewPr>
  <p:slideViewPr>
    <p:cSldViewPr showGuides="1">
      <p:cViewPr varScale="1">
        <p:scale>
          <a:sx n="51" d="100"/>
          <a:sy n="51" d="100"/>
        </p:scale>
        <p:origin x="200" y="1728"/>
      </p:cViewPr>
      <p:guideLst>
        <p:guide orient="horz" pos="2176"/>
        <p:guide pos="3824"/>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0"/>
    </p:cViewPr>
  </p:sorterViewPr>
  <p:notesViewPr>
    <p:cSldViewPr>
      <p:cViewPr varScale="1">
        <p:scale>
          <a:sx n="78" d="100"/>
          <a:sy n="78" d="100"/>
        </p:scale>
        <p:origin x="3192"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26C5B0BD-72DF-4D5B-AAB4-FC3B769B24EC}" type="datetimeFigureOut">
              <a:rPr lang="zh-CN" altLang="en-US"/>
              <a:t>2026/4/16</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lstStyle>
            <a:lvl1pPr algn="r" eaLnBrk="1" hangingPunct="1">
              <a:defRPr sz="1200">
                <a:latin typeface="等线" panose="02010600030101010101" pitchFamily="2" charset="-122"/>
              </a:defRPr>
            </a:lvl1pPr>
          </a:lstStyle>
          <a:p>
            <a:fld id="{6A34B6FE-EB21-40E0-852B-9A05BC649D5E}" type="slidenum">
              <a:rPr lang="zh-CN" altLang="en-US"/>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BFD9A6-9F83-4999-8E6A-8E8C3F5744DD}" type="datetimeFigureOut">
              <a:rPr lang="zh-CN" altLang="en-US" smtClean="0"/>
              <a:t>2026/4/16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78C66-A1FC-419C-B011-F5E9D315D4B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5"/>
          </p:nvPr>
        </p:nvSpPr>
        <p:spPr/>
        <p:txBody>
          <a:bodyPr/>
          <a:lstStyle/>
          <a:p>
            <a:fld id="{93413C37-BE2C-4CB8-940D-F8BE2EE6293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0" dirty="0"/>
          </a:p>
        </p:txBody>
      </p:sp>
      <p:sp>
        <p:nvSpPr>
          <p:cNvPr id="4" name="灯片编号占位符 3"/>
          <p:cNvSpPr>
            <a:spLocks noGrp="1"/>
          </p:cNvSpPr>
          <p:nvPr>
            <p:ph type="sldNum" sz="quarter" idx="5"/>
          </p:nvPr>
        </p:nvSpPr>
        <p:spPr/>
        <p:txBody>
          <a:bodyPr/>
          <a:lstStyle/>
          <a:p>
            <a:fld id="{20978C66-A1FC-419C-B011-F5E9D315D4B6}" type="slidenum">
              <a:rPr lang="zh-CN" altLang="en-US" smtClean="0"/>
              <a:t>7</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bg1"/>
                </a:solidFill>
                <a:latin typeface="微软雅黑" panose="020B0503020204020204" pitchFamily="34" charset="-122"/>
                <a:ea typeface="微软雅黑" panose="020B0503020204020204" pitchFamily="34" charset="-122"/>
              </a:rPr>
              <a:t>电化学阻抗谱能够通过</a:t>
            </a:r>
            <a:r>
              <a:rPr lang="zh-CN" altLang="en-US" sz="1200" b="1" dirty="0">
                <a:solidFill>
                  <a:srgbClr val="FFC000"/>
                </a:solidFill>
                <a:latin typeface="微软雅黑" panose="020B0503020204020204" pitchFamily="34" charset="-122"/>
                <a:ea typeface="微软雅黑" panose="020B0503020204020204" pitchFamily="34" charset="-122"/>
              </a:rPr>
              <a:t>对电池内部电化学反应的映射</a:t>
            </a:r>
            <a:r>
              <a:rPr lang="zh-CN" altLang="en-US" sz="1200" b="1" dirty="0">
                <a:solidFill>
                  <a:schemeClr val="bg1"/>
                </a:solidFill>
                <a:latin typeface="微软雅黑" panose="020B0503020204020204" pitchFamily="34" charset="-122"/>
                <a:ea typeface="微软雅黑" panose="020B0503020204020204" pitchFamily="34" charset="-122"/>
              </a:rPr>
              <a:t>实现对电池特征</a:t>
            </a:r>
            <a:r>
              <a:rPr lang="zh-CN" altLang="en-US" sz="1200" b="1" dirty="0">
                <a:solidFill>
                  <a:srgbClr val="FFC000"/>
                </a:solidFill>
                <a:latin typeface="微软雅黑" panose="020B0503020204020204" pitchFamily="34" charset="-122"/>
                <a:ea typeface="微软雅黑" panose="020B0503020204020204" pitchFamily="34" charset="-122"/>
              </a:rPr>
              <a:t>更精确</a:t>
            </a:r>
            <a:r>
              <a:rPr lang="zh-CN" altLang="en-US" sz="1200" b="1" dirty="0">
                <a:solidFill>
                  <a:schemeClr val="bg1"/>
                </a:solidFill>
                <a:latin typeface="微软雅黑" panose="020B0503020204020204" pitchFamily="34" charset="-122"/>
                <a:ea typeface="微软雅黑" panose="020B0503020204020204" pitchFamily="34" charset="-122"/>
              </a:rPr>
              <a:t>的监测</a:t>
            </a:r>
          </a:p>
          <a:p>
            <a:endParaRPr lang="zh-CN" altLang="en-US" dirty="0"/>
          </a:p>
        </p:txBody>
      </p:sp>
      <p:sp>
        <p:nvSpPr>
          <p:cNvPr id="4" name="灯片编号占位符 3"/>
          <p:cNvSpPr>
            <a:spLocks noGrp="1"/>
          </p:cNvSpPr>
          <p:nvPr>
            <p:ph type="sldNum" sz="quarter" idx="5"/>
          </p:nvPr>
        </p:nvSpPr>
        <p:spPr/>
        <p:txBody>
          <a:bodyPr/>
          <a:lstStyle/>
          <a:p>
            <a:fld id="{20978C66-A1FC-419C-B011-F5E9D315D4B6}" type="slidenum">
              <a:rPr lang="zh-CN" altLang="en-US" smtClean="0"/>
              <a:t>8</a:t>
            </a:fld>
            <a:endParaRPr lang="zh-CN" altLang="en-US"/>
          </a:p>
        </p:txBody>
      </p:sp>
    </p:spTree>
    <p:extLst>
      <p:ext uri="{BB962C8B-B14F-4D97-AF65-F5344CB8AC3E}">
        <p14:creationId xmlns:p14="http://schemas.microsoft.com/office/powerpoint/2010/main" val="33989127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b="0" dirty="0"/>
          </a:p>
        </p:txBody>
      </p:sp>
      <p:sp>
        <p:nvSpPr>
          <p:cNvPr id="4" name="灯片编号占位符 3"/>
          <p:cNvSpPr>
            <a:spLocks noGrp="1"/>
          </p:cNvSpPr>
          <p:nvPr>
            <p:ph type="sldNum" sz="quarter" idx="5"/>
          </p:nvPr>
        </p:nvSpPr>
        <p:spPr/>
        <p:txBody>
          <a:bodyPr/>
          <a:lstStyle/>
          <a:p>
            <a:fld id="{20978C66-A1FC-419C-B011-F5E9D315D4B6}" type="slidenum">
              <a:rPr lang="zh-CN" altLang="en-US" smtClean="0"/>
              <a:t>9</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b="0" dirty="0"/>
          </a:p>
        </p:txBody>
      </p:sp>
      <p:sp>
        <p:nvSpPr>
          <p:cNvPr id="4" name="灯片编号占位符 3"/>
          <p:cNvSpPr>
            <a:spLocks noGrp="1"/>
          </p:cNvSpPr>
          <p:nvPr>
            <p:ph type="sldNum" sz="quarter" idx="5"/>
          </p:nvPr>
        </p:nvSpPr>
        <p:spPr/>
        <p:txBody>
          <a:bodyPr/>
          <a:lstStyle/>
          <a:p>
            <a:fld id="{20978C66-A1FC-419C-B011-F5E9D315D4B6}" type="slidenum">
              <a:rPr lang="zh-CN" altLang="en-US" smtClean="0"/>
              <a:t>10</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b="0" dirty="0"/>
          </a:p>
        </p:txBody>
      </p:sp>
      <p:sp>
        <p:nvSpPr>
          <p:cNvPr id="4" name="灯片编号占位符 3"/>
          <p:cNvSpPr>
            <a:spLocks noGrp="1"/>
          </p:cNvSpPr>
          <p:nvPr>
            <p:ph type="sldNum" sz="quarter" idx="5"/>
          </p:nvPr>
        </p:nvSpPr>
        <p:spPr/>
        <p:txBody>
          <a:bodyPr/>
          <a:lstStyle/>
          <a:p>
            <a:fld id="{20978C66-A1FC-419C-B011-F5E9D315D4B6}" type="slidenum">
              <a:rPr lang="zh-CN" altLang="en-US" smtClean="0"/>
              <a:t>11</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0978C66-A1FC-419C-B011-F5E9D315D4B6}" type="slidenum">
              <a:rPr lang="zh-CN" altLang="en-US" smtClean="0"/>
              <a:t>12</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b="0" dirty="0"/>
          </a:p>
        </p:txBody>
      </p:sp>
      <p:sp>
        <p:nvSpPr>
          <p:cNvPr id="4" name="灯片编号占位符 3"/>
          <p:cNvSpPr>
            <a:spLocks noGrp="1"/>
          </p:cNvSpPr>
          <p:nvPr>
            <p:ph type="sldNum" sz="quarter" idx="5"/>
          </p:nvPr>
        </p:nvSpPr>
        <p:spPr/>
        <p:txBody>
          <a:bodyPr/>
          <a:lstStyle/>
          <a:p>
            <a:fld id="{20978C66-A1FC-419C-B011-F5E9D315D4B6}" type="slidenum">
              <a:rPr lang="zh-CN" altLang="en-US" smtClean="0"/>
              <a:t>14</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0" dirty="0"/>
          </a:p>
        </p:txBody>
      </p:sp>
      <p:sp>
        <p:nvSpPr>
          <p:cNvPr id="4" name="灯片编号占位符 3"/>
          <p:cNvSpPr>
            <a:spLocks noGrp="1"/>
          </p:cNvSpPr>
          <p:nvPr>
            <p:ph type="sldNum" sz="quarter" idx="5"/>
          </p:nvPr>
        </p:nvSpPr>
        <p:spPr/>
        <p:txBody>
          <a:bodyPr/>
          <a:lstStyle/>
          <a:p>
            <a:fld id="{20978C66-A1FC-419C-B011-F5E9D315D4B6}" type="slidenum">
              <a:rPr lang="zh-CN" altLang="en-US" smtClean="0"/>
              <a:t>15</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5"/>
          </p:nvPr>
        </p:nvSpPr>
        <p:spPr/>
        <p:txBody>
          <a:bodyPr/>
          <a:lstStyle/>
          <a:p>
            <a:fld id="{93413C37-BE2C-4CB8-940D-F8BE2EE62933}" type="slidenum">
              <a:rPr lang="zh-CN" altLang="en-US" smtClean="0"/>
              <a:t>16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Master" Target="../slideMasters/slideMaster1.xml"/><Relationship Id="rId5" Type="http://schemas.openxmlformats.org/officeDocument/2006/relationships/tags" Target="../tags/tag5.xml"/><Relationship Id="rId4"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endParaRPr lang="zh-CN" altLang="zh-CN"/>
          </a:p>
        </p:txBody>
      </p:sp>
      <p:sp>
        <p:nvSpPr>
          <p:cNvPr id="5" name="Footer Placeholder 4"/>
          <p:cNvSpPr>
            <a:spLocks noGrp="1"/>
          </p:cNvSpPr>
          <p:nvPr>
            <p:ph type="ftr" sz="quarter" idx="11"/>
          </p:nvPr>
        </p:nvSpPr>
        <p:spPr/>
        <p:txBody>
          <a:bodyPr/>
          <a:lstStyle>
            <a:lvl1pPr>
              <a:defRPr/>
            </a:lvl1pPr>
          </a:lstStyle>
          <a:p>
            <a:pPr>
              <a:defRPr/>
            </a:pPr>
            <a:endParaRPr lang="zh-CN" altLang="zh-CN"/>
          </a:p>
        </p:txBody>
      </p:sp>
      <p:sp>
        <p:nvSpPr>
          <p:cNvPr id="6" name="Slide Number Placeholder 5"/>
          <p:cNvSpPr>
            <a:spLocks noGrp="1"/>
          </p:cNvSpPr>
          <p:nvPr>
            <p:ph type="sldNum" sz="quarter" idx="12"/>
          </p:nvPr>
        </p:nvSpPr>
        <p:spPr/>
        <p:txBody>
          <a:bodyPr/>
          <a:lstStyle>
            <a:lvl1pPr>
              <a:defRPr/>
            </a:lvl1pPr>
          </a:lstStyle>
          <a:p>
            <a:fld id="{037F0A1E-EBEF-458A-8A7B-559305B0D41C}" type="slidenum">
              <a:rPr lang="zh-CN" altLang="zh-CN"/>
              <a:t>‹#›</a:t>
            </a:fld>
            <a:endParaRPr lang="zh-CN" altLang="zh-CN"/>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zh-CN" altLang="zh-CN"/>
          </a:p>
        </p:txBody>
      </p:sp>
      <p:sp>
        <p:nvSpPr>
          <p:cNvPr id="5" name="Footer Placeholder 4"/>
          <p:cNvSpPr>
            <a:spLocks noGrp="1"/>
          </p:cNvSpPr>
          <p:nvPr>
            <p:ph type="ftr" sz="quarter" idx="11"/>
          </p:nvPr>
        </p:nvSpPr>
        <p:spPr/>
        <p:txBody>
          <a:bodyPr/>
          <a:lstStyle>
            <a:lvl1pPr>
              <a:defRPr/>
            </a:lvl1pPr>
          </a:lstStyle>
          <a:p>
            <a:pPr>
              <a:defRPr/>
            </a:pPr>
            <a:endParaRPr lang="zh-CN" altLang="zh-CN"/>
          </a:p>
        </p:txBody>
      </p:sp>
      <p:sp>
        <p:nvSpPr>
          <p:cNvPr id="6" name="Slide Number Placeholder 5"/>
          <p:cNvSpPr>
            <a:spLocks noGrp="1"/>
          </p:cNvSpPr>
          <p:nvPr>
            <p:ph type="sldNum" sz="quarter" idx="12"/>
          </p:nvPr>
        </p:nvSpPr>
        <p:spPr/>
        <p:txBody>
          <a:bodyPr/>
          <a:lstStyle>
            <a:lvl1pPr>
              <a:defRPr/>
            </a:lvl1pPr>
          </a:lstStyle>
          <a:p>
            <a:fld id="{71C1F706-337C-476C-9317-9720C3BE107D}" type="slidenum">
              <a:rPr lang="zh-CN" altLang="zh-CN"/>
              <a:t>‹#›</a:t>
            </a:fld>
            <a:endParaRPr lang="zh-CN" altLang="zh-CN" dirty="0"/>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自定义版式">
    <p:bg>
      <p:bgPr>
        <a:solidFill>
          <a:schemeClr val="bg1">
            <a:alpha val="25000"/>
          </a:schemeClr>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838200" y="1825625"/>
            <a:ext cx="10515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zh-CN" altLang="zh-CN"/>
          </a:p>
        </p:txBody>
      </p:sp>
      <p:sp>
        <p:nvSpPr>
          <p:cNvPr id="5" name="Footer Placeholder 4"/>
          <p:cNvSpPr>
            <a:spLocks noGrp="1"/>
          </p:cNvSpPr>
          <p:nvPr>
            <p:ph type="ftr" sz="quarter" idx="11"/>
          </p:nvPr>
        </p:nvSpPr>
        <p:spPr/>
        <p:txBody>
          <a:bodyPr/>
          <a:lstStyle>
            <a:lvl1pPr>
              <a:defRPr/>
            </a:lvl1pPr>
          </a:lstStyle>
          <a:p>
            <a:pPr>
              <a:defRPr/>
            </a:pPr>
            <a:endParaRPr lang="zh-CN" altLang="zh-CN"/>
          </a:p>
        </p:txBody>
      </p:sp>
      <p:sp>
        <p:nvSpPr>
          <p:cNvPr id="6" name="Slide Number Placeholder 5"/>
          <p:cNvSpPr>
            <a:spLocks noGrp="1"/>
          </p:cNvSpPr>
          <p:nvPr>
            <p:ph type="sldNum" sz="quarter" idx="12"/>
          </p:nvPr>
        </p:nvSpPr>
        <p:spPr/>
        <p:txBody>
          <a:bodyPr/>
          <a:lstStyle>
            <a:lvl1pPr>
              <a:defRPr/>
            </a:lvl1pPr>
          </a:lstStyle>
          <a:p>
            <a:fld id="{71C1F706-337C-476C-9317-9720C3BE107D}" type="slidenum">
              <a:rPr lang="zh-CN" altLang="zh-CN"/>
              <a:t>‹#›</a:t>
            </a:fld>
            <a:endParaRPr lang="zh-CN" altLang="zh-CN"/>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603" name="竖排标题 1"/>
          <p:cNvSpPr>
            <a:spLocks noGrp="1"/>
          </p:cNvSpPr>
          <p:nvPr>
            <p:ph type="title" orient="vert" hasCustomPrompt="1"/>
            <p:custDataLst>
              <p:tags r:id="rId1"/>
            </p:custDataLst>
          </p:nvPr>
        </p:nvSpPr>
        <p:spPr>
          <a:xfrm>
            <a:off x="10234800" y="914400"/>
            <a:ext cx="1044000" cy="5029200"/>
          </a:xfrm>
          <a:prstGeom prst="rect">
            <a:avLst/>
          </a:prstGeo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1048604" name="竖排文字占位符 2"/>
          <p:cNvSpPr>
            <a:spLocks noGrp="1"/>
          </p:cNvSpPr>
          <p:nvPr>
            <p:ph type="body" orient="vert" idx="1"/>
            <p:custDataLst>
              <p:tags r:id="rId2"/>
            </p:custDataLst>
          </p:nvPr>
        </p:nvSpPr>
        <p:spPr>
          <a:xfrm>
            <a:off x="914400" y="914400"/>
            <a:ext cx="9169200" cy="5029200"/>
          </a:xfrm>
          <a:prstGeom prst="rect">
            <a:avLst/>
          </a:prstGeo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48605" name="日期占位符 3"/>
          <p:cNvSpPr>
            <a:spLocks noGrp="1"/>
          </p:cNvSpPr>
          <p:nvPr>
            <p:ph type="dt" sz="half" idx="10"/>
            <p:custDataLst>
              <p:tags r:id="rId3"/>
            </p:custDataLst>
          </p:nvPr>
        </p:nvSpPr>
        <p:spPr>
          <a:xfrm>
            <a:off x="612000" y="6314400"/>
            <a:ext cx="2700000" cy="316800"/>
          </a:xfrm>
          <a:prstGeom prst="rect">
            <a:avLst/>
          </a:prstGeom>
        </p:spPr>
        <p:txBody>
          <a:bodyPr/>
          <a:lstStyle/>
          <a:p>
            <a:fld id="{760FBDFE-C587-4B4C-A407-44438C67B59E}" type="datetimeFigureOut">
              <a:rPr lang="zh-CN" altLang="en-US" smtClean="0"/>
              <a:t>2026/4/16</a:t>
            </a:fld>
            <a:endParaRPr lang="zh-CN" altLang="en-US"/>
          </a:p>
        </p:txBody>
      </p:sp>
      <p:sp>
        <p:nvSpPr>
          <p:cNvPr id="1048606" name="页脚占位符 4"/>
          <p:cNvSpPr>
            <a:spLocks noGrp="1"/>
          </p:cNvSpPr>
          <p:nvPr>
            <p:ph type="ftr" sz="quarter" idx="11"/>
            <p:custDataLst>
              <p:tags r:id="rId4"/>
            </p:custDataLst>
          </p:nvPr>
        </p:nvSpPr>
        <p:spPr>
          <a:xfrm>
            <a:off x="4116000" y="6314400"/>
            <a:ext cx="3960000" cy="316800"/>
          </a:xfrm>
          <a:prstGeom prst="rect">
            <a:avLst/>
          </a:prstGeom>
        </p:spPr>
        <p:txBody>
          <a:bodyPr/>
          <a:lstStyle/>
          <a:p>
            <a:endParaRPr lang="zh-CN" altLang="en-US"/>
          </a:p>
        </p:txBody>
      </p:sp>
      <p:sp>
        <p:nvSpPr>
          <p:cNvPr id="1048607"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9000"/>
          </a:schemeClr>
        </a:solidFill>
        <a:effectLst/>
      </p:bgPr>
    </p:bg>
    <p:spTree>
      <p:nvGrpSpPr>
        <p:cNvPr id="1" name=""/>
        <p:cNvGrpSpPr/>
        <p:nvPr/>
      </p:nvGrpSpPr>
      <p:grpSpPr>
        <a:xfrm>
          <a:off x="0" y="0"/>
          <a:ext cx="0" cy="0"/>
          <a:chOff x="0" y="0"/>
          <a:chExt cx="0" cy="0"/>
        </a:xfrm>
      </p:grpSpPr>
      <p:pic>
        <p:nvPicPr>
          <p:cNvPr id="12" name="图片 11"/>
          <p:cNvPicPr>
            <a:picLocks noChangeAspect="1"/>
          </p:cNvPicPr>
          <p:nvPr userDrawn="1"/>
        </p:nvPicPr>
        <p:blipFill rotWithShape="1">
          <a:blip r:embed="rId7"/>
          <a:srcRect r="44579" b="48974"/>
          <a:stretch>
            <a:fillRect/>
          </a:stretch>
        </p:blipFill>
        <p:spPr>
          <a:xfrm rot="16200000">
            <a:off x="5090434" y="292343"/>
            <a:ext cx="7373332" cy="6788647"/>
          </a:xfrm>
          <a:prstGeom prst="rect">
            <a:avLst/>
          </a:prstGeom>
        </p:spPr>
      </p:pic>
      <p:pic>
        <p:nvPicPr>
          <p:cNvPr id="15" name="图片 14"/>
          <p:cNvPicPr>
            <a:picLocks noChangeAspect="1"/>
          </p:cNvPicPr>
          <p:nvPr userDrawn="1"/>
        </p:nvPicPr>
        <p:blipFill rotWithShape="1">
          <a:blip r:embed="rId7"/>
          <a:srcRect r="44579" b="48974"/>
          <a:stretch>
            <a:fillRect/>
          </a:stretch>
        </p:blipFill>
        <p:spPr>
          <a:xfrm rot="5400000">
            <a:off x="-312918" y="-211878"/>
            <a:ext cx="7373332" cy="6788647"/>
          </a:xfrm>
          <a:prstGeom prst="rect">
            <a:avLst/>
          </a:prstGeom>
        </p:spPr>
      </p:pic>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endParaRPr lang="zh-CN" altLang="zh-C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zh-CN" altLang="zh-CN"/>
          </a:p>
        </p:txBody>
      </p:sp>
      <p:sp>
        <p:nvSpPr>
          <p:cNvPr id="13" name="矩形 12"/>
          <p:cNvSpPr/>
          <p:nvPr userDrawn="1"/>
        </p:nvSpPr>
        <p:spPr>
          <a:xfrm>
            <a:off x="-24496" y="-27384"/>
            <a:ext cx="12241176" cy="6896607"/>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400" b="1">
                <a:solidFill>
                  <a:schemeClr val="tx1"/>
                </a:solidFill>
                <a:latin typeface="Arial" panose="020B0604020202020204" pitchFamily="34" charset="0"/>
                <a:ea typeface="微软雅黑" panose="020B0503020204020204" pitchFamily="34" charset="-122"/>
                <a:cs typeface="Arial" panose="020B0604020202020204" pitchFamily="34" charset="0"/>
              </a:defRPr>
            </a:lvl1pPr>
          </a:lstStyle>
          <a:p>
            <a:fld id="{40DD9E5C-1B64-4A2C-AD29-42F405CF0F9F}" type="slidenum">
              <a:rPr lang="zh-CN" altLang="zh-CN" smtClean="0"/>
              <a:t>‹#›</a:t>
            </a:fld>
            <a:endParaRPr lang="zh-CN"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8.xml"/><Relationship Id="rId7" Type="http://schemas.openxmlformats.org/officeDocument/2006/relationships/image" Target="../media/image10.jpe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slideLayout" Target="../slideLayouts/slideLayout1.xml"/><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tags" Target="../tags/tag21.xml"/><Relationship Id="rId18" Type="http://schemas.openxmlformats.org/officeDocument/2006/relationships/tags" Target="../tags/tag26.xml"/><Relationship Id="rId26" Type="http://schemas.openxmlformats.org/officeDocument/2006/relationships/tags" Target="../tags/tag34.xml"/><Relationship Id="rId3" Type="http://schemas.openxmlformats.org/officeDocument/2006/relationships/tags" Target="../tags/tag11.xml"/><Relationship Id="rId21" Type="http://schemas.openxmlformats.org/officeDocument/2006/relationships/tags" Target="../tags/tag29.xml"/><Relationship Id="rId7" Type="http://schemas.openxmlformats.org/officeDocument/2006/relationships/tags" Target="../tags/tag15.xml"/><Relationship Id="rId12" Type="http://schemas.openxmlformats.org/officeDocument/2006/relationships/tags" Target="../tags/tag20.xml"/><Relationship Id="rId17" Type="http://schemas.openxmlformats.org/officeDocument/2006/relationships/tags" Target="../tags/tag25.xml"/><Relationship Id="rId25" Type="http://schemas.openxmlformats.org/officeDocument/2006/relationships/tags" Target="../tags/tag33.xml"/><Relationship Id="rId2" Type="http://schemas.openxmlformats.org/officeDocument/2006/relationships/tags" Target="../tags/tag10.xml"/><Relationship Id="rId16" Type="http://schemas.openxmlformats.org/officeDocument/2006/relationships/tags" Target="../tags/tag24.xml"/><Relationship Id="rId20" Type="http://schemas.openxmlformats.org/officeDocument/2006/relationships/tags" Target="../tags/tag28.xml"/><Relationship Id="rId29" Type="http://schemas.openxmlformats.org/officeDocument/2006/relationships/image" Target="../media/image14.png"/><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tags" Target="../tags/tag19.xml"/><Relationship Id="rId24" Type="http://schemas.openxmlformats.org/officeDocument/2006/relationships/tags" Target="../tags/tag32.xml"/><Relationship Id="rId5" Type="http://schemas.openxmlformats.org/officeDocument/2006/relationships/tags" Target="../tags/tag13.xml"/><Relationship Id="rId15" Type="http://schemas.openxmlformats.org/officeDocument/2006/relationships/tags" Target="../tags/tag23.xml"/><Relationship Id="rId23" Type="http://schemas.openxmlformats.org/officeDocument/2006/relationships/tags" Target="../tags/tag31.xml"/><Relationship Id="rId28" Type="http://schemas.openxmlformats.org/officeDocument/2006/relationships/image" Target="../media/image13.png"/><Relationship Id="rId10" Type="http://schemas.openxmlformats.org/officeDocument/2006/relationships/tags" Target="../tags/tag18.xml"/><Relationship Id="rId19" Type="http://schemas.openxmlformats.org/officeDocument/2006/relationships/tags" Target="../tags/tag27.xml"/><Relationship Id="rId31" Type="http://schemas.openxmlformats.org/officeDocument/2006/relationships/image" Target="../media/image10.jpeg"/><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tags" Target="../tags/tag22.xml"/><Relationship Id="rId22" Type="http://schemas.openxmlformats.org/officeDocument/2006/relationships/tags" Target="../tags/tag30.xml"/><Relationship Id="rId27" Type="http://schemas.openxmlformats.org/officeDocument/2006/relationships/slideLayout" Target="../slideLayouts/slideLayout5.xml"/><Relationship Id="rId30"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jpe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image" Target="../media/image25.jpeg"/><Relationship Id="rId5" Type="http://schemas.openxmlformats.org/officeDocument/2006/relationships/image" Target="../media/image19.jpe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8.png"/><Relationship Id="rId7" Type="http://schemas.openxmlformats.org/officeDocument/2006/relationships/image" Target="../media/image31.jpe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image" Target="../media/image30.png"/><Relationship Id="rId10" Type="http://schemas.openxmlformats.org/officeDocument/2006/relationships/image" Target="../media/image32.png"/><Relationship Id="rId4" Type="http://schemas.openxmlformats.org/officeDocument/2006/relationships/image" Target="../media/image29.png"/><Relationship Id="rId9" Type="http://schemas.openxmlformats.org/officeDocument/2006/relationships/image" Target="../media/image33.png"/></Relationships>
</file>

<file path=ppt/slides/_rels/slide8.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tags" Target="../tags/tag37.xml"/><Relationship Id="rId7" Type="http://schemas.openxmlformats.org/officeDocument/2006/relationships/image" Target="../media/image34.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16.png"/><Relationship Id="rId11" Type="http://schemas.openxmlformats.org/officeDocument/2006/relationships/image" Target="../media/image36.png"/><Relationship Id="rId5" Type="http://schemas.openxmlformats.org/officeDocument/2006/relationships/notesSlide" Target="../notesSlides/notesSlide3.xml"/><Relationship Id="rId10" Type="http://schemas.openxmlformats.org/officeDocument/2006/relationships/image" Target="../media/image28.png"/><Relationship Id="rId4" Type="http://schemas.openxmlformats.org/officeDocument/2006/relationships/slideLayout" Target="../slideLayouts/slideLayout1.xml"/><Relationship Id="rId9"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tags" Target="../tags/tag40.xml"/><Relationship Id="rId7" Type="http://schemas.openxmlformats.org/officeDocument/2006/relationships/image" Target="../media/image37.jpe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41.xml"/></Relationships>
</file>

<file path=ppt/slides/_rels/slide1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1.jpeg"/><Relationship Id="rId4" Type="http://schemas.openxmlformats.org/officeDocument/2006/relationships/image" Target="../media/image40.jpe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3.emf"/><Relationship Id="rId5" Type="http://schemas.openxmlformats.org/officeDocument/2006/relationships/oleObject" Target="../embeddings/oleObject2.bin"/><Relationship Id="rId4" Type="http://schemas.openxmlformats.org/officeDocument/2006/relationships/image" Target="../media/image42.emf"/></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tags" Target="../tags/tag44.xml"/><Relationship Id="rId21" Type="http://schemas.openxmlformats.org/officeDocument/2006/relationships/image" Target="../media/image55.png"/><Relationship Id="rId7" Type="http://schemas.openxmlformats.org/officeDocument/2006/relationships/tags" Target="../tags/tag48.xml"/><Relationship Id="rId12" Type="http://schemas.openxmlformats.org/officeDocument/2006/relationships/image" Target="../media/image46.png"/><Relationship Id="rId17" Type="http://schemas.openxmlformats.org/officeDocument/2006/relationships/image" Target="../media/image51.png"/><Relationship Id="rId2" Type="http://schemas.openxmlformats.org/officeDocument/2006/relationships/tags" Target="../tags/tag43.xml"/><Relationship Id="rId16" Type="http://schemas.openxmlformats.org/officeDocument/2006/relationships/image" Target="../media/image50.png"/><Relationship Id="rId20" Type="http://schemas.openxmlformats.org/officeDocument/2006/relationships/image" Target="../media/image54.png"/><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image" Target="../media/image45.png"/><Relationship Id="rId5" Type="http://schemas.openxmlformats.org/officeDocument/2006/relationships/tags" Target="../tags/tag46.xml"/><Relationship Id="rId15" Type="http://schemas.openxmlformats.org/officeDocument/2006/relationships/image" Target="../media/image49.png"/><Relationship Id="rId23" Type="http://schemas.openxmlformats.org/officeDocument/2006/relationships/image" Target="../media/image57.png"/><Relationship Id="rId10" Type="http://schemas.openxmlformats.org/officeDocument/2006/relationships/image" Target="../media/image3.png"/><Relationship Id="rId19" Type="http://schemas.openxmlformats.org/officeDocument/2006/relationships/image" Target="../media/image53.png"/><Relationship Id="rId4" Type="http://schemas.openxmlformats.org/officeDocument/2006/relationships/tags" Target="../tags/tag45.xml"/><Relationship Id="rId9" Type="http://schemas.openxmlformats.org/officeDocument/2006/relationships/notesSlide" Target="../notesSlides/notesSlide7.xml"/><Relationship Id="rId14" Type="http://schemas.openxmlformats.org/officeDocument/2006/relationships/image" Target="../media/image48.png"/><Relationship Id="rId22" Type="http://schemas.openxmlformats.org/officeDocument/2006/relationships/image" Target="../media/image56.png"/></Relationships>
</file>

<file path=ppt/slides/_rels/slide13.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2.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emf"/></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平行四边形 17"/>
          <p:cNvSpPr/>
          <p:nvPr/>
        </p:nvSpPr>
        <p:spPr>
          <a:xfrm>
            <a:off x="-384720" y="5216640"/>
            <a:ext cx="4465624" cy="156578"/>
          </a:xfrm>
          <a:prstGeom prst="parallelogram">
            <a:avLst>
              <a:gd name="adj" fmla="val 6142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7957" y="1911477"/>
            <a:ext cx="6465965" cy="3315412"/>
          </a:xfrm>
          <a:prstGeom prst="rect">
            <a:avLst/>
          </a:prstGeom>
        </p:spPr>
      </p:pic>
      <p:sp>
        <p:nvSpPr>
          <p:cNvPr id="2" name="直角三角形 1"/>
          <p:cNvSpPr/>
          <p:nvPr/>
        </p:nvSpPr>
        <p:spPr>
          <a:xfrm flipH="1">
            <a:off x="4038719" y="1866898"/>
            <a:ext cx="2129289" cy="3362302"/>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p:cNvSpPr/>
          <p:nvPr/>
        </p:nvSpPr>
        <p:spPr>
          <a:xfrm>
            <a:off x="9395331" y="0"/>
            <a:ext cx="5520696" cy="6858000"/>
          </a:xfrm>
          <a:prstGeom prst="parallelogram">
            <a:avLst>
              <a:gd name="adj" fmla="val 76100"/>
            </a:avLst>
          </a:prstGeom>
          <a:gradFill>
            <a:gsLst>
              <a:gs pos="0">
                <a:srgbClr val="0070C0"/>
              </a:gs>
              <a:gs pos="100000">
                <a:srgbClr val="002060"/>
              </a:gs>
            </a:gsLst>
            <a:lin ang="2700000" scaled="1"/>
          </a:gradFill>
          <a:ln>
            <a:noFill/>
          </a:ln>
          <a:effectLst>
            <a:outerShdw blurRad="762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14" name="平行四边形 13"/>
          <p:cNvSpPr/>
          <p:nvPr/>
        </p:nvSpPr>
        <p:spPr>
          <a:xfrm>
            <a:off x="-4160345" y="1627322"/>
            <a:ext cx="6973806" cy="5230678"/>
          </a:xfrm>
          <a:prstGeom prst="parallelogram">
            <a:avLst>
              <a:gd name="adj" fmla="val 60655"/>
            </a:avLst>
          </a:prstGeom>
          <a:solidFill>
            <a:srgbClr val="0070C0"/>
          </a:solidFill>
          <a:ln>
            <a:noFill/>
          </a:ln>
          <a:effectLst>
            <a:outerShdw blurRad="508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16" name="三角形 15"/>
          <p:cNvSpPr/>
          <p:nvPr/>
        </p:nvSpPr>
        <p:spPr>
          <a:xfrm>
            <a:off x="2003698" y="1631111"/>
            <a:ext cx="1627559" cy="1337504"/>
          </a:xfrm>
          <a:prstGeom prst="triangle">
            <a:avLst/>
          </a:prstGeom>
          <a:gradFill flip="none" rotWithShape="1">
            <a:gsLst>
              <a:gs pos="0">
                <a:srgbClr val="0070C0"/>
              </a:gs>
              <a:gs pos="100000">
                <a:srgbClr val="002060"/>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30" name="三角形 29"/>
          <p:cNvSpPr/>
          <p:nvPr/>
        </p:nvSpPr>
        <p:spPr>
          <a:xfrm rot="10800000">
            <a:off x="2987725" y="1911477"/>
            <a:ext cx="1266785" cy="1041025"/>
          </a:xfrm>
          <a:prstGeom prst="triangle">
            <a:avLst/>
          </a:prstGeom>
          <a:solidFill>
            <a:srgbClr val="0064C8"/>
          </a:solidFill>
          <a:ln>
            <a:noFill/>
          </a:ln>
          <a:effectLst>
            <a:outerShdw blurRad="762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cxnSp>
        <p:nvCxnSpPr>
          <p:cNvPr id="25" name="直线连接符 24"/>
          <p:cNvCxnSpPr/>
          <p:nvPr/>
        </p:nvCxnSpPr>
        <p:spPr>
          <a:xfrm flipH="1">
            <a:off x="11098400" y="5047329"/>
            <a:ext cx="1093600" cy="1810671"/>
          </a:xfrm>
          <a:prstGeom prst="line">
            <a:avLst/>
          </a:prstGeom>
          <a:ln w="25400">
            <a:solidFill>
              <a:srgbClr val="0064C8"/>
            </a:solidFill>
          </a:ln>
        </p:spPr>
        <p:style>
          <a:lnRef idx="1">
            <a:schemeClr val="accent1"/>
          </a:lnRef>
          <a:fillRef idx="0">
            <a:schemeClr val="accent1"/>
          </a:fillRef>
          <a:effectRef idx="0">
            <a:schemeClr val="accent1"/>
          </a:effectRef>
          <a:fontRef idx="minor">
            <a:schemeClr val="tx1"/>
          </a:fontRef>
        </p:style>
      </p:cxnSp>
      <p:cxnSp>
        <p:nvCxnSpPr>
          <p:cNvPr id="54" name="直线连接符 53"/>
          <p:cNvCxnSpPr/>
          <p:nvPr/>
        </p:nvCxnSpPr>
        <p:spPr>
          <a:xfrm flipH="1">
            <a:off x="5680255" y="1484784"/>
            <a:ext cx="927761" cy="1483831"/>
          </a:xfrm>
          <a:prstGeom prst="line">
            <a:avLst/>
          </a:prstGeom>
          <a:ln w="25400">
            <a:solidFill>
              <a:srgbClr val="0064C8"/>
            </a:solidFill>
          </a:ln>
        </p:spPr>
        <p:style>
          <a:lnRef idx="1">
            <a:schemeClr val="accent1"/>
          </a:lnRef>
          <a:fillRef idx="0">
            <a:schemeClr val="accent1"/>
          </a:fillRef>
          <a:effectRef idx="0">
            <a:schemeClr val="accent1"/>
          </a:effectRef>
          <a:fontRef idx="minor">
            <a:schemeClr val="tx1"/>
          </a:fontRef>
        </p:style>
      </p:cxnSp>
      <p:cxnSp>
        <p:nvCxnSpPr>
          <p:cNvPr id="55" name="直线连接符 54"/>
          <p:cNvCxnSpPr/>
          <p:nvPr/>
        </p:nvCxnSpPr>
        <p:spPr>
          <a:xfrm flipH="1">
            <a:off x="-228600" y="5572016"/>
            <a:ext cx="904030" cy="1501632"/>
          </a:xfrm>
          <a:prstGeom prst="line">
            <a:avLst/>
          </a:prstGeom>
          <a:ln w="25400">
            <a:solidFill>
              <a:srgbClr val="0064C8"/>
            </a:solidFill>
          </a:ln>
        </p:spPr>
        <p:style>
          <a:lnRef idx="1">
            <a:schemeClr val="accent1"/>
          </a:lnRef>
          <a:fillRef idx="0">
            <a:schemeClr val="accent1"/>
          </a:fillRef>
          <a:effectRef idx="0">
            <a:schemeClr val="accent1"/>
          </a:effectRef>
          <a:fontRef idx="minor">
            <a:schemeClr val="tx1"/>
          </a:fontRef>
        </p:style>
      </p:cxnSp>
      <p:sp>
        <p:nvSpPr>
          <p:cNvPr id="57" name="平行四边形 56"/>
          <p:cNvSpPr/>
          <p:nvPr/>
        </p:nvSpPr>
        <p:spPr>
          <a:xfrm>
            <a:off x="-5637890" y="2431990"/>
            <a:ext cx="6973806" cy="5230678"/>
          </a:xfrm>
          <a:prstGeom prst="parallelogram">
            <a:avLst>
              <a:gd name="adj" fmla="val 60655"/>
            </a:avLst>
          </a:prstGeom>
          <a:gradFill flip="none" rotWithShape="1">
            <a:gsLst>
              <a:gs pos="0">
                <a:srgbClr val="0070C0"/>
              </a:gs>
              <a:gs pos="100000">
                <a:srgbClr val="002060"/>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22" name="矩形 21"/>
          <p:cNvSpPr/>
          <p:nvPr/>
        </p:nvSpPr>
        <p:spPr>
          <a:xfrm>
            <a:off x="5447665" y="2348865"/>
            <a:ext cx="6377305" cy="1691640"/>
          </a:xfrm>
          <a:prstGeom prst="rect">
            <a:avLst/>
          </a:prstGeom>
          <a:noFill/>
        </p:spPr>
        <p:txBody>
          <a:bodyPr wrap="square">
            <a:spAutoFit/>
          </a:bodyPr>
          <a:lstStyle/>
          <a:p>
            <a:pPr lvl="0" algn="ctr">
              <a:lnSpc>
                <a:spcPct val="130000"/>
              </a:lnSpc>
              <a:defRPr/>
            </a:pPr>
            <a:r>
              <a:rPr kumimoji="1" lang="zh-CN" altLang="en-US" sz="4000" b="1" dirty="0">
                <a:solidFill>
                  <a:srgbClr val="00467F"/>
                </a:solidFill>
                <a:latin typeface="微软雅黑" panose="020B0503020204020204" pitchFamily="34" charset="-122"/>
                <a:ea typeface="微软雅黑" panose="020B0503020204020204" pitchFamily="34" charset="-122"/>
                <a:cs typeface="Calibri" panose="020F0502020204030204" pitchFamily="34" charset="0"/>
              </a:rPr>
              <a:t>基于交流阻抗技术的储能</a:t>
            </a:r>
          </a:p>
          <a:p>
            <a:pPr lvl="0" algn="ctr">
              <a:lnSpc>
                <a:spcPct val="130000"/>
              </a:lnSpc>
              <a:defRPr/>
            </a:pPr>
            <a:r>
              <a:rPr kumimoji="1" lang="zh-CN" altLang="en-US" sz="4000" b="1" dirty="0">
                <a:solidFill>
                  <a:srgbClr val="00467F"/>
                </a:solidFill>
                <a:latin typeface="微软雅黑" panose="020B0503020204020204" pitchFamily="34" charset="-122"/>
                <a:ea typeface="微软雅黑" panose="020B0503020204020204" pitchFamily="34" charset="-122"/>
                <a:cs typeface="Calibri" panose="020F0502020204030204" pitchFamily="34" charset="0"/>
              </a:rPr>
              <a:t>电池状态快速检测系统</a:t>
            </a:r>
          </a:p>
        </p:txBody>
      </p:sp>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1168" y="1530250"/>
            <a:ext cx="2514152" cy="673296"/>
          </a:xfrm>
          <a:prstGeom prst="rect">
            <a:avLst/>
          </a:prstGeom>
        </p:spPr>
      </p:pic>
      <p:sp>
        <p:nvSpPr>
          <p:cNvPr id="5" name="文本框 4"/>
          <p:cNvSpPr txBox="1">
            <a:spLocks noChangeArrowheads="1"/>
          </p:cNvSpPr>
          <p:nvPr/>
        </p:nvSpPr>
        <p:spPr bwMode="auto">
          <a:xfrm>
            <a:off x="6767396" y="4922511"/>
            <a:ext cx="3420497" cy="808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r">
              <a:lnSpc>
                <a:spcPts val="2800"/>
              </a:lnSpc>
              <a:spcBef>
                <a:spcPct val="0"/>
              </a:spcBef>
              <a:buFontTx/>
              <a:buNone/>
            </a:pPr>
            <a:r>
              <a:rPr lang="zh-CN" altLang="en-US" sz="2400" b="1" dirty="0">
                <a:solidFill>
                  <a:srgbClr val="0058A3"/>
                </a:solidFill>
                <a:latin typeface="微软雅黑" panose="020B0503020204020204" pitchFamily="34" charset="-122"/>
                <a:ea typeface="微软雅黑" panose="020B0503020204020204" pitchFamily="34" charset="-122"/>
              </a:rPr>
              <a:t>答辩人：莫智超</a:t>
            </a:r>
          </a:p>
          <a:p>
            <a:pPr algn="r">
              <a:lnSpc>
                <a:spcPts val="2800"/>
              </a:lnSpc>
              <a:spcBef>
                <a:spcPct val="0"/>
              </a:spcBef>
              <a:buFontTx/>
              <a:buNone/>
            </a:pPr>
            <a:r>
              <a:rPr lang="en-US" altLang="zh-CN" sz="2400" b="1" dirty="0">
                <a:solidFill>
                  <a:srgbClr val="0058A3"/>
                </a:solidFill>
                <a:latin typeface="微软雅黑" panose="020B0503020204020204" pitchFamily="34" charset="-122"/>
                <a:ea typeface="微软雅黑" panose="020B0503020204020204" pitchFamily="34" charset="-122"/>
              </a:rPr>
              <a:t>2025.10.29</a:t>
            </a:r>
            <a:endParaRPr lang="en-US" altLang="zh-CN" b="1" dirty="0">
              <a:solidFill>
                <a:srgbClr val="0058A3"/>
              </a:solidFill>
              <a:latin typeface="微软雅黑" panose="020B0503020204020204" pitchFamily="34" charset="-122"/>
              <a:ea typeface="微软雅黑" panose="020B0503020204020204" pitchFamily="34" charset="-122"/>
            </a:endParaRPr>
          </a:p>
        </p:txBody>
      </p:sp>
      <p:sp>
        <p:nvSpPr>
          <p:cNvPr id="6" name="平行四边形 5"/>
          <p:cNvSpPr/>
          <p:nvPr/>
        </p:nvSpPr>
        <p:spPr>
          <a:xfrm>
            <a:off x="3863752" y="2060848"/>
            <a:ext cx="2305311" cy="3312368"/>
          </a:xfrm>
          <a:prstGeom prst="parallelogram">
            <a:avLst>
              <a:gd name="adj" fmla="val 9258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6978A7BE-078F-F294-4487-0CF81DC4AB5D}"/>
              </a:ext>
            </a:extLst>
          </p:cNvPr>
          <p:cNvSpPr txBox="1"/>
          <p:nvPr/>
        </p:nvSpPr>
        <p:spPr>
          <a:xfrm rot="16200000">
            <a:off x="-52268" y="2366883"/>
            <a:ext cx="4339650" cy="2124235"/>
          </a:xfrm>
          <a:prstGeom prst="rect">
            <a:avLst/>
          </a:prstGeom>
          <a:noFill/>
        </p:spPr>
        <p:txBody>
          <a:bodyPr vert="eaVert" wrap="square" rtlCol="0">
            <a:spAutoFit/>
          </a:bodyPr>
          <a:lstStyle/>
          <a:p>
            <a:pPr algn="l"/>
            <a:r>
              <a:rPr kumimoji="1" lang="zh-CN" altLang="en-US" dirty="0"/>
              <a:t>目录</a:t>
            </a:r>
            <a:endParaRPr kumimoji="1" lang="en-US" altLang="zh-CN" dirty="0"/>
          </a:p>
          <a:p>
            <a:pPr algn="l"/>
            <a:r>
              <a:rPr kumimoji="1" lang="en-US" altLang="zh-CN" dirty="0"/>
              <a:t>1.</a:t>
            </a:r>
            <a:r>
              <a:rPr kumimoji="1" lang="zh-CN" altLang="en-US" dirty="0"/>
              <a:t>项目背景和意义</a:t>
            </a:r>
            <a:endParaRPr kumimoji="1" lang="en-US" altLang="zh-CN" dirty="0"/>
          </a:p>
          <a:p>
            <a:pPr algn="l"/>
            <a:r>
              <a:rPr kumimoji="1" lang="en-US" altLang="zh-CN" dirty="0"/>
              <a:t>2.</a:t>
            </a:r>
            <a:r>
              <a:rPr kumimoji="1" lang="zh-CN" altLang="en-US" dirty="0"/>
              <a:t>项目总体概述</a:t>
            </a:r>
            <a:endParaRPr kumimoji="1" lang="en-US" altLang="zh-CN" dirty="0"/>
          </a:p>
          <a:p>
            <a:pPr algn="l"/>
            <a:r>
              <a:rPr kumimoji="1" lang="en-US" altLang="zh-CN" dirty="0"/>
              <a:t>3.</a:t>
            </a:r>
            <a:r>
              <a:rPr kumimoji="1" lang="zh-CN" altLang="en-US" dirty="0"/>
              <a:t>项目原理</a:t>
            </a:r>
            <a:endParaRPr kumimoji="1" lang="en-US" altLang="zh-CN" dirty="0"/>
          </a:p>
          <a:p>
            <a:pPr algn="l"/>
            <a:r>
              <a:rPr kumimoji="1" lang="en-US" altLang="zh-CN" dirty="0"/>
              <a:t>4.</a:t>
            </a:r>
            <a:r>
              <a:rPr kumimoji="1" lang="zh-CN" altLang="en-US" dirty="0"/>
              <a:t>项目实施方案</a:t>
            </a:r>
            <a:endParaRPr kumimoji="1" lang="en-US" altLang="zh-CN" dirty="0"/>
          </a:p>
          <a:p>
            <a:pPr algn="l"/>
            <a:r>
              <a:rPr kumimoji="1" lang="zh-CN" altLang="en-US" dirty="0"/>
              <a:t>   </a:t>
            </a:r>
            <a:r>
              <a:rPr kumimoji="1" lang="en-US" altLang="zh-CN" dirty="0"/>
              <a:t>--</a:t>
            </a:r>
            <a:r>
              <a:rPr kumimoji="1" lang="zh-CN" altLang="en-US" dirty="0"/>
              <a:t>实验平台搭建</a:t>
            </a:r>
            <a:endParaRPr kumimoji="1" lang="en-US" altLang="zh-CN" dirty="0"/>
          </a:p>
          <a:p>
            <a:pPr algn="l"/>
            <a:r>
              <a:rPr kumimoji="1" lang="zh-CN" altLang="en-US" dirty="0"/>
              <a:t>   </a:t>
            </a:r>
            <a:r>
              <a:rPr kumimoji="1" lang="en-US" altLang="zh-CN" dirty="0"/>
              <a:t>--</a:t>
            </a:r>
            <a:r>
              <a:rPr kumimoji="1" lang="zh-CN" altLang="en-US" dirty="0"/>
              <a:t>老化实验方案</a:t>
            </a:r>
            <a:endParaRPr kumimoji="1" lang="en-US" altLang="zh-CN" dirty="0"/>
          </a:p>
          <a:p>
            <a:pPr algn="l"/>
            <a:r>
              <a:rPr kumimoji="1" lang="zh-CN" altLang="en-US" dirty="0"/>
              <a:t>   </a:t>
            </a:r>
            <a:r>
              <a:rPr kumimoji="1" lang="en-US" altLang="zh-CN" dirty="0"/>
              <a:t>--</a:t>
            </a:r>
            <a:r>
              <a:rPr kumimoji="1" lang="zh-CN" altLang="en-US" dirty="0"/>
              <a:t>阻抗谱结果分析</a:t>
            </a:r>
            <a:endParaRPr kumimoji="1" lang="en-US" altLang="zh-CN" dirty="0"/>
          </a:p>
          <a:p>
            <a:pPr algn="l"/>
            <a:r>
              <a:rPr kumimoji="1" lang="zh-CN" altLang="en-US" dirty="0">
                <a:solidFill>
                  <a:srgbClr val="FF0000"/>
                </a:solidFill>
              </a:rPr>
              <a:t>   </a:t>
            </a:r>
            <a:r>
              <a:rPr kumimoji="1" lang="en-US" altLang="zh-CN" dirty="0">
                <a:solidFill>
                  <a:srgbClr val="FF0000"/>
                </a:solidFill>
              </a:rPr>
              <a:t>--</a:t>
            </a:r>
            <a:r>
              <a:rPr kumimoji="1" lang="zh-CN" altLang="en-US" dirty="0">
                <a:solidFill>
                  <a:srgbClr val="FF0000"/>
                </a:solidFill>
              </a:rPr>
              <a:t>特征参数提取</a:t>
            </a:r>
            <a:endParaRPr kumimoji="1" lang="en-US" altLang="zh-CN" dirty="0">
              <a:solidFill>
                <a:srgbClr val="FF0000"/>
              </a:solidFill>
            </a:endParaRPr>
          </a:p>
          <a:p>
            <a:pPr algn="l"/>
            <a:r>
              <a:rPr kumimoji="1" lang="zh-CN" altLang="en-US" dirty="0">
                <a:solidFill>
                  <a:srgbClr val="FF0000"/>
                </a:solidFill>
              </a:rPr>
              <a:t>   </a:t>
            </a:r>
            <a:r>
              <a:rPr kumimoji="1" lang="en-US" altLang="zh-CN" dirty="0">
                <a:solidFill>
                  <a:srgbClr val="FF0000"/>
                </a:solidFill>
              </a:rPr>
              <a:t>--SOH</a:t>
            </a:r>
            <a:r>
              <a:rPr kumimoji="1" lang="zh-CN" altLang="en-US" dirty="0">
                <a:solidFill>
                  <a:srgbClr val="FF0000"/>
                </a:solidFill>
              </a:rPr>
              <a:t>评估模型搭建</a:t>
            </a:r>
            <a:endParaRPr kumimoji="1" lang="en-US" altLang="zh-CN" dirty="0">
              <a:solidFill>
                <a:srgbClr val="FF0000"/>
              </a:solidFill>
            </a:endParaRPr>
          </a:p>
          <a:p>
            <a:pPr algn="l"/>
            <a:r>
              <a:rPr kumimoji="1" lang="zh-CN" altLang="en-US" dirty="0">
                <a:solidFill>
                  <a:srgbClr val="FF0000"/>
                </a:solidFill>
              </a:rPr>
              <a:t>   </a:t>
            </a:r>
            <a:r>
              <a:rPr kumimoji="1" lang="en-US" altLang="zh-CN" dirty="0">
                <a:solidFill>
                  <a:srgbClr val="FF0000"/>
                </a:solidFill>
              </a:rPr>
              <a:t>--EIS</a:t>
            </a:r>
            <a:r>
              <a:rPr kumimoji="1" lang="zh-CN" altLang="en-US" dirty="0">
                <a:solidFill>
                  <a:srgbClr val="FF0000"/>
                </a:solidFill>
              </a:rPr>
              <a:t>快速检测装置硬件开发</a:t>
            </a:r>
            <a:endParaRPr kumimoji="1" lang="en-US" altLang="zh-CN" dirty="0">
              <a:solidFill>
                <a:srgbClr val="FF0000"/>
              </a:solidFill>
            </a:endParaRPr>
          </a:p>
          <a:p>
            <a:pPr algn="l"/>
            <a:r>
              <a:rPr kumimoji="1" lang="zh-CN" altLang="en-US" dirty="0">
                <a:solidFill>
                  <a:srgbClr val="FF0000"/>
                </a:solidFill>
              </a:rPr>
              <a:t>   </a:t>
            </a:r>
            <a:r>
              <a:rPr kumimoji="1" lang="en-US" altLang="zh-CN" dirty="0">
                <a:solidFill>
                  <a:srgbClr val="FF0000"/>
                </a:solidFill>
              </a:rPr>
              <a:t>--</a:t>
            </a:r>
            <a:r>
              <a:rPr kumimoji="1" lang="zh-CN" altLang="en-US" dirty="0">
                <a:solidFill>
                  <a:srgbClr val="FF0000"/>
                </a:solidFill>
              </a:rPr>
              <a:t>项目成果与创新点</a:t>
            </a:r>
          </a:p>
        </p:txBody>
      </p:sp>
    </p:spTree>
    <p:extLst>
      <p:ext uri="{BB962C8B-B14F-4D97-AF65-F5344CB8AC3E}">
        <p14:creationId xmlns:p14="http://schemas.microsoft.com/office/powerpoint/2010/main" val="385000688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1"/>
          <p:cNvGrpSpPr/>
          <p:nvPr/>
        </p:nvGrpSpPr>
        <p:grpSpPr bwMode="auto">
          <a:xfrm>
            <a:off x="-189" y="49001"/>
            <a:ext cx="4819457" cy="657539"/>
            <a:chOff x="287705" y="46516"/>
            <a:chExt cx="3070393" cy="658536"/>
          </a:xfrm>
        </p:grpSpPr>
        <p:sp>
          <p:nvSpPr>
            <p:cNvPr id="1048630" name="矩形 65"/>
            <p:cNvSpPr>
              <a:spLocks noChangeArrowheads="1"/>
            </p:cNvSpPr>
            <p:nvPr/>
          </p:nvSpPr>
          <p:spPr bwMode="auto">
            <a:xfrm>
              <a:off x="287705" y="46516"/>
              <a:ext cx="3025004" cy="584450"/>
            </a:xfrm>
            <a:prstGeom prst="rect">
              <a:avLst/>
            </a:prstGeom>
            <a:no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685800" eaLnBrk="1" fontAlgn="auto" hangingPunct="1">
                <a:spcBef>
                  <a:spcPct val="0"/>
                </a:spcBef>
                <a:spcAft>
                  <a:spcPts val="0"/>
                </a:spcAft>
                <a:buFont typeface="Arial" panose="020B0604020202020204" pitchFamily="34" charset="0"/>
                <a:buNone/>
              </a:pPr>
              <a:r>
                <a:rPr lang="en-US" altLang="zh-CN" b="1" spc="600" dirty="0">
                  <a:solidFill>
                    <a:schemeClr val="bg1"/>
                  </a:solidFill>
                  <a:latin typeface="微软雅黑" panose="020B0503020204020204" pitchFamily="34" charset="-122"/>
                  <a:ea typeface="微软雅黑" panose="020B0503020204020204" pitchFamily="34" charset="-122"/>
                </a:rPr>
                <a:t>01</a:t>
              </a:r>
              <a:r>
                <a:rPr lang="zh-CN" altLang="en-US" b="1" spc="600" dirty="0">
                  <a:solidFill>
                    <a:schemeClr val="bg1"/>
                  </a:solidFill>
                  <a:latin typeface="微软雅黑" panose="020B0503020204020204" pitchFamily="34" charset="-122"/>
                  <a:ea typeface="微软雅黑" panose="020B0503020204020204" pitchFamily="34" charset="-122"/>
                </a:rPr>
                <a:t>项目背景 </a:t>
              </a:r>
              <a:r>
                <a:rPr lang="zh-CN" altLang="en-US" sz="2000" b="1" spc="600" dirty="0">
                  <a:solidFill>
                    <a:schemeClr val="bg1"/>
                  </a:solidFill>
                  <a:latin typeface="微软雅黑" panose="020B0503020204020204" pitchFamily="34" charset="-122"/>
                  <a:ea typeface="微软雅黑" panose="020B0503020204020204" pitchFamily="34" charset="-122"/>
                </a:rPr>
                <a:t>国家政策</a:t>
              </a:r>
            </a:p>
          </p:txBody>
        </p:sp>
        <p:sp>
          <p:nvSpPr>
            <p:cNvPr id="1048631" name="矩形 104"/>
            <p:cNvSpPr/>
            <p:nvPr/>
          </p:nvSpPr>
          <p:spPr>
            <a:xfrm>
              <a:off x="333094" y="659264"/>
              <a:ext cx="3025004" cy="45788"/>
            </a:xfrm>
            <a:prstGeom prst="rect">
              <a:avLst/>
            </a:prstGeom>
            <a:gradFill flip="none" rotWithShape="1">
              <a:gsLst>
                <a:gs pos="4000">
                  <a:schemeClr val="bg1"/>
                </a:gs>
                <a:gs pos="72000">
                  <a:schemeClr val="bg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dirty="0">
                <a:solidFill>
                  <a:srgbClr val="1B69B4"/>
                </a:solidFill>
              </a:endParaRPr>
            </a:p>
          </p:txBody>
        </p:sp>
      </p:grpSp>
      <p:grpSp>
        <p:nvGrpSpPr>
          <p:cNvPr id="49" name="组合 3"/>
          <p:cNvGrpSpPr/>
          <p:nvPr/>
        </p:nvGrpSpPr>
        <p:grpSpPr>
          <a:xfrm>
            <a:off x="1030376" y="878558"/>
            <a:ext cx="3790459" cy="2343627"/>
            <a:chOff x="1305622" y="1846379"/>
            <a:chExt cx="3790459" cy="2343627"/>
          </a:xfrm>
        </p:grpSpPr>
        <p:grpSp>
          <p:nvGrpSpPr>
            <p:cNvPr id="50" name="组合 4"/>
            <p:cNvGrpSpPr/>
            <p:nvPr/>
          </p:nvGrpSpPr>
          <p:grpSpPr>
            <a:xfrm>
              <a:off x="1305622" y="1846379"/>
              <a:ext cx="3790459" cy="1916856"/>
              <a:chOff x="581722" y="1890688"/>
              <a:chExt cx="3790459" cy="1916856"/>
            </a:xfrm>
          </p:grpSpPr>
          <p:grpSp>
            <p:nvGrpSpPr>
              <p:cNvPr id="51" name="组合 5"/>
              <p:cNvGrpSpPr/>
              <p:nvPr/>
            </p:nvGrpSpPr>
            <p:grpSpPr>
              <a:xfrm>
                <a:off x="1118065" y="1890688"/>
                <a:ext cx="3254116" cy="1916856"/>
                <a:chOff x="-4358705" y="2703291"/>
                <a:chExt cx="3254116" cy="1916856"/>
              </a:xfrm>
            </p:grpSpPr>
            <p:sp>
              <p:nvSpPr>
                <p:cNvPr id="1048632" name="矩形 6"/>
                <p:cNvSpPr/>
                <p:nvPr/>
              </p:nvSpPr>
              <p:spPr>
                <a:xfrm>
                  <a:off x="-4358705" y="2703291"/>
                  <a:ext cx="3254116" cy="1916856"/>
                </a:xfrm>
                <a:prstGeom prst="rect">
                  <a:avLst/>
                </a:prstGeom>
                <a:solidFill>
                  <a:srgbClr val="E8F5FE"/>
                </a:solidFill>
                <a:ln>
                  <a:noFill/>
                </a:ln>
                <a:effectLst>
                  <a:outerShdw blurRad="177800" dist="762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1" hangingPunct="1"/>
                  <a:endParaRPr lang="zh-CN" altLang="en-US" sz="1600"/>
                </a:p>
              </p:txBody>
            </p:sp>
            <p:pic>
              <p:nvPicPr>
                <p:cNvPr id="2097163" name="图片 7"/>
                <p:cNvPicPr>
                  <a:picLocks noChangeAspect="1"/>
                </p:cNvPicPr>
                <p:nvPr/>
              </p:nvPicPr>
              <p:blipFill>
                <a:blip r:embed="rId2"/>
                <a:stretch>
                  <a:fillRect/>
                </a:stretch>
              </p:blipFill>
              <p:spPr>
                <a:xfrm>
                  <a:off x="-4269805" y="2783301"/>
                  <a:ext cx="3099435" cy="1757045"/>
                </a:xfrm>
                <a:prstGeom prst="rect">
                  <a:avLst/>
                </a:prstGeom>
                <a:effectLst>
                  <a:outerShdw blurRad="50800" dist="38100" dir="2700000" algn="tl" rotWithShape="0">
                    <a:prstClr val="black">
                      <a:alpha val="40000"/>
                    </a:prstClr>
                  </a:outerShdw>
                </a:effectLst>
              </p:spPr>
            </p:pic>
          </p:grpSp>
          <p:grpSp>
            <p:nvGrpSpPr>
              <p:cNvPr id="52" name="组合 8"/>
              <p:cNvGrpSpPr/>
              <p:nvPr/>
            </p:nvGrpSpPr>
            <p:grpSpPr>
              <a:xfrm>
                <a:off x="581722" y="2600977"/>
                <a:ext cx="512107" cy="512107"/>
                <a:chOff x="7680176" y="4123213"/>
                <a:chExt cx="2808312" cy="2808312"/>
              </a:xfrm>
            </p:grpSpPr>
            <p:sp>
              <p:nvSpPr>
                <p:cNvPr id="1048633" name="椭圆 9"/>
                <p:cNvSpPr/>
                <p:nvPr/>
              </p:nvSpPr>
              <p:spPr>
                <a:xfrm>
                  <a:off x="7680176" y="4123213"/>
                  <a:ext cx="2808312" cy="2808312"/>
                </a:xfrm>
                <a:prstGeom prst="ellipse">
                  <a:avLst/>
                </a:prstGeom>
                <a:solidFill>
                  <a:srgbClr val="FFFFFF"/>
                </a:solidFill>
                <a:ln>
                  <a:noFill/>
                </a:ln>
                <a:effectLst>
                  <a:outerShdw blurRad="177800" dist="63500" dir="132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34" name="椭圆 10"/>
                <p:cNvSpPr/>
                <p:nvPr/>
              </p:nvSpPr>
              <p:spPr>
                <a:xfrm>
                  <a:off x="7680176" y="4123213"/>
                  <a:ext cx="2808312" cy="2808312"/>
                </a:xfrm>
                <a:prstGeom prst="ellipse">
                  <a:avLst/>
                </a:prstGeom>
                <a:solidFill>
                  <a:srgbClr val="E9F5FE"/>
                </a:solidFill>
                <a:ln>
                  <a:noFill/>
                </a:ln>
                <a:effectLst>
                  <a:outerShdw blurRad="304800" dist="165100" dir="18900000" algn="bl" rotWithShape="0">
                    <a:schemeClr val="bg1">
                      <a:lumMod val="9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4987C3"/>
                      </a:solidFill>
                      <a:latin typeface="黑体" panose="02010609060101010101" charset="-122"/>
                      <a:ea typeface="黑体" panose="02010609060101010101" charset="-122"/>
                    </a:rPr>
                    <a:t>1</a:t>
                  </a:r>
                  <a:endParaRPr lang="zh-CN" altLang="en-US" sz="2400" b="1" dirty="0">
                    <a:solidFill>
                      <a:srgbClr val="4987C3"/>
                    </a:solidFill>
                    <a:latin typeface="黑体" panose="02010609060101010101" charset="-122"/>
                    <a:ea typeface="黑体" panose="02010609060101010101" charset="-122"/>
                  </a:endParaRPr>
                </a:p>
              </p:txBody>
            </p:sp>
          </p:grpSp>
        </p:grpSp>
        <p:sp>
          <p:nvSpPr>
            <p:cNvPr id="1048635" name="矩形 11"/>
            <p:cNvSpPr>
              <a:spLocks noChangeArrowheads="1"/>
            </p:cNvSpPr>
            <p:nvPr/>
          </p:nvSpPr>
          <p:spPr bwMode="auto">
            <a:xfrm>
              <a:off x="1850080" y="3793766"/>
              <a:ext cx="3027680" cy="396240"/>
            </a:xfrm>
            <a:prstGeom prst="rect">
              <a:avLst/>
            </a:prstGeom>
            <a:noFill/>
            <a:ln>
              <a:noFill/>
            </a:ln>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zh-CN" sz="2000" b="1" dirty="0">
                  <a:gradFill>
                    <a:gsLst>
                      <a:gs pos="0">
                        <a:schemeClr val="accent1">
                          <a:lumMod val="25000"/>
                          <a:lumOff val="75000"/>
                        </a:schemeClr>
                      </a:gs>
                      <a:gs pos="50000">
                        <a:schemeClr val="accent1"/>
                      </a:gs>
                      <a:gs pos="100000">
                        <a:schemeClr val="accent1">
                          <a:lumMod val="85000"/>
                        </a:schemeClr>
                      </a:gs>
                    </a:gsLst>
                    <a:lin ang="5400000" scaled="1"/>
                  </a:gradFill>
                  <a:latin typeface="微软雅黑" panose="020B0503020204020204" pitchFamily="34" charset="-122"/>
                  <a:ea typeface="微软雅黑" panose="020B0503020204020204" pitchFamily="34" charset="-122"/>
                </a:rPr>
                <a:t>2015.5</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中国制造</a:t>
              </a:r>
              <a:r>
                <a:rPr lang="en-US" altLang="zh-CN" sz="2000" b="1" dirty="0">
                  <a:latin typeface="微软雅黑" panose="020B0503020204020204" pitchFamily="34" charset="-122"/>
                  <a:ea typeface="微软雅黑" panose="020B0503020204020204" pitchFamily="34" charset="-122"/>
                </a:rPr>
                <a:t>2025》</a:t>
              </a:r>
              <a:endParaRPr lang="zh-CN" altLang="en-US" b="1" dirty="0">
                <a:solidFill>
                  <a:srgbClr val="0B2988"/>
                </a:solidFill>
                <a:latin typeface="微软雅黑" panose="020B0503020204020204" pitchFamily="34" charset="-122"/>
                <a:ea typeface="微软雅黑" panose="020B0503020204020204" pitchFamily="34" charset="-122"/>
              </a:endParaRPr>
            </a:p>
          </p:txBody>
        </p:sp>
      </p:grpSp>
      <p:grpSp>
        <p:nvGrpSpPr>
          <p:cNvPr id="57" name="组合 23"/>
          <p:cNvGrpSpPr/>
          <p:nvPr/>
        </p:nvGrpSpPr>
        <p:grpSpPr>
          <a:xfrm>
            <a:off x="5876125" y="878558"/>
            <a:ext cx="5398370" cy="2339985"/>
            <a:chOff x="6397689" y="1861624"/>
            <a:chExt cx="5398370" cy="2329060"/>
          </a:xfrm>
        </p:grpSpPr>
        <p:grpSp>
          <p:nvGrpSpPr>
            <p:cNvPr id="58" name="组合 24"/>
            <p:cNvGrpSpPr/>
            <p:nvPr/>
          </p:nvGrpSpPr>
          <p:grpSpPr>
            <a:xfrm>
              <a:off x="6957709" y="1861624"/>
              <a:ext cx="3766224" cy="1916856"/>
              <a:chOff x="6957709" y="1890688"/>
              <a:chExt cx="3766224" cy="1916856"/>
            </a:xfrm>
          </p:grpSpPr>
          <p:grpSp>
            <p:nvGrpSpPr>
              <p:cNvPr id="59" name="组合 25"/>
              <p:cNvGrpSpPr/>
              <p:nvPr/>
            </p:nvGrpSpPr>
            <p:grpSpPr>
              <a:xfrm>
                <a:off x="7469817" y="1890688"/>
                <a:ext cx="3254116" cy="1916856"/>
                <a:chOff x="6498297" y="1612169"/>
                <a:chExt cx="3254116" cy="1916856"/>
              </a:xfrm>
            </p:grpSpPr>
            <p:sp>
              <p:nvSpPr>
                <p:cNvPr id="1048641" name="矩形 26"/>
                <p:cNvSpPr/>
                <p:nvPr/>
              </p:nvSpPr>
              <p:spPr>
                <a:xfrm>
                  <a:off x="6498297" y="1612169"/>
                  <a:ext cx="3254116" cy="1916856"/>
                </a:xfrm>
                <a:prstGeom prst="rect">
                  <a:avLst/>
                </a:prstGeom>
                <a:solidFill>
                  <a:srgbClr val="E8F5FE"/>
                </a:solidFill>
                <a:ln>
                  <a:noFill/>
                </a:ln>
                <a:effectLst>
                  <a:outerShdw blurRad="177800" dist="762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1" hangingPunct="1"/>
                  <a:endParaRPr lang="zh-CN" altLang="en-US" sz="1600"/>
                </a:p>
              </p:txBody>
            </p:sp>
            <p:pic>
              <p:nvPicPr>
                <p:cNvPr id="2097164" name="Picture 2"/>
                <p:cNvPicPr>
                  <a:picLocks noChangeAspect="1" noChangeArrowheads="1"/>
                </p:cNvPicPr>
                <p:nvPr/>
              </p:nvPicPr>
              <p:blipFill>
                <a:blip r:embed="rId3" cstate="print"/>
                <a:srcRect/>
                <a:stretch>
                  <a:fillRect/>
                </a:stretch>
              </p:blipFill>
              <p:spPr bwMode="auto">
                <a:xfrm>
                  <a:off x="6573862" y="1715191"/>
                  <a:ext cx="3103245" cy="1710287"/>
                </a:xfrm>
                <a:prstGeom prst="rect">
                  <a:avLst/>
                </a:prstGeom>
                <a:noFill/>
                <a:effectLst>
                  <a:outerShdw blurRad="50800" dist="38100" dir="2700000" algn="tl" rotWithShape="0">
                    <a:prstClr val="black">
                      <a:alpha val="40000"/>
                    </a:prstClr>
                  </a:outerShdw>
                </a:effectLst>
              </p:spPr>
            </p:pic>
          </p:grpSp>
          <p:sp>
            <p:nvSpPr>
              <p:cNvPr id="1048642" name="椭圆 28"/>
              <p:cNvSpPr/>
              <p:nvPr/>
            </p:nvSpPr>
            <p:spPr>
              <a:xfrm>
                <a:off x="6957709" y="2590108"/>
                <a:ext cx="512107" cy="512107"/>
              </a:xfrm>
              <a:prstGeom prst="ellipse">
                <a:avLst/>
              </a:prstGeom>
              <a:solidFill>
                <a:srgbClr val="E9F5F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4987C3"/>
                    </a:solidFill>
                    <a:latin typeface="黑体" panose="02010609060101010101" charset="-122"/>
                    <a:ea typeface="黑体" panose="02010609060101010101" charset="-122"/>
                  </a:rPr>
                  <a:t>3</a:t>
                </a:r>
                <a:endParaRPr lang="zh-CN" altLang="en-US" sz="2400" b="1" dirty="0">
                  <a:solidFill>
                    <a:srgbClr val="4987C3"/>
                  </a:solidFill>
                  <a:latin typeface="黑体" panose="02010609060101010101" charset="-122"/>
                  <a:ea typeface="黑体" panose="02010609060101010101" charset="-122"/>
                </a:endParaRPr>
              </a:p>
            </p:txBody>
          </p:sp>
        </p:grpSp>
        <p:sp>
          <p:nvSpPr>
            <p:cNvPr id="1048643" name="文本框 8"/>
            <p:cNvSpPr txBox="1">
              <a:spLocks noChangeArrowheads="1"/>
            </p:cNvSpPr>
            <p:nvPr/>
          </p:nvSpPr>
          <p:spPr bwMode="auto">
            <a:xfrm>
              <a:off x="6397689" y="3793766"/>
              <a:ext cx="5398370" cy="396918"/>
            </a:xfrm>
            <a:prstGeom prst="rect">
              <a:avLst/>
            </a:prstGeom>
            <a:noFill/>
            <a:ln>
              <a:noFill/>
            </a:ln>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zh-CN" sz="2000" b="1" dirty="0">
                  <a:gradFill>
                    <a:gsLst>
                      <a:gs pos="0">
                        <a:schemeClr val="accent1">
                          <a:lumMod val="25000"/>
                          <a:lumOff val="75000"/>
                        </a:schemeClr>
                      </a:gs>
                      <a:gs pos="50000">
                        <a:schemeClr val="accent1"/>
                      </a:gs>
                      <a:gs pos="100000">
                        <a:schemeClr val="accent1">
                          <a:lumMod val="85000"/>
                        </a:schemeClr>
                      </a:gs>
                    </a:gsLst>
                    <a:lin ang="5400000" scaled="1"/>
                  </a:gradFill>
                  <a:latin typeface="微软雅黑" panose="020B0503020204020204" pitchFamily="34" charset="-122"/>
                  <a:ea typeface="微软雅黑" panose="020B0503020204020204" pitchFamily="34" charset="-122"/>
                </a:rPr>
                <a:t>2022.03</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 “十四五”新型储能发展实施方案</a:t>
              </a:r>
              <a:r>
                <a:rPr lang="en-US" altLang="zh-CN"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grpSp>
      <p:sp>
        <p:nvSpPr>
          <p:cNvPr id="1048644" name="文本框 37"/>
          <p:cNvSpPr txBox="1"/>
          <p:nvPr/>
        </p:nvSpPr>
        <p:spPr>
          <a:xfrm>
            <a:off x="0" y="3280737"/>
            <a:ext cx="12192000" cy="583565"/>
          </a:xfrm>
          <a:prstGeom prst="rect">
            <a:avLst/>
          </a:prstGeom>
          <a:gradFill>
            <a:gsLst>
              <a:gs pos="11000">
                <a:schemeClr val="accent1">
                  <a:lumMod val="75000"/>
                </a:schemeClr>
              </a:gs>
              <a:gs pos="100000">
                <a:srgbClr val="00C0FA"/>
              </a:gs>
            </a:gsLst>
            <a:lin ang="2700000" scaled="1"/>
          </a:gradFill>
          <a:ln>
            <a:noFill/>
          </a:ln>
        </p:spPr>
        <p:txBody>
          <a:bodyPr wrap="square" rtlCol="0">
            <a:spAutoFit/>
          </a:bodyPr>
          <a:lstStyle/>
          <a:p>
            <a:pPr algn="ctr"/>
            <a:r>
              <a:rPr lang="zh-CN" altLang="en-US" sz="3200" b="1" dirty="0">
                <a:solidFill>
                  <a:srgbClr val="FEA402"/>
                </a:solidFill>
                <a:latin typeface="微软雅黑" panose="020B0503020204020204" pitchFamily="34" charset="-122"/>
                <a:ea typeface="微软雅黑" panose="020B0503020204020204" pitchFamily="34" charset="-122"/>
              </a:rPr>
              <a:t>新能源</a:t>
            </a:r>
            <a:r>
              <a:rPr lang="zh-CN" altLang="en-US" sz="3200" b="1" dirty="0">
                <a:solidFill>
                  <a:schemeClr val="bg1"/>
                </a:solidFill>
                <a:latin typeface="微软雅黑" panose="020B0503020204020204" pitchFamily="34" charset="-122"/>
                <a:ea typeface="微软雅黑" panose="020B0503020204020204" pitchFamily="34" charset="-122"/>
              </a:rPr>
              <a:t>发展提速，</a:t>
            </a:r>
            <a:r>
              <a:rPr lang="zh-CN" altLang="en-US" sz="3200" b="1" dirty="0">
                <a:solidFill>
                  <a:srgbClr val="FEA402"/>
                </a:solidFill>
                <a:latin typeface="微软雅黑" panose="020B0503020204020204" pitchFamily="34" charset="-122"/>
                <a:ea typeface="微软雅黑" panose="020B0503020204020204" pitchFamily="34" charset="-122"/>
              </a:rPr>
              <a:t>电池储能行业</a:t>
            </a:r>
            <a:r>
              <a:rPr lang="zh-CN" altLang="en-US" sz="3200" b="1" dirty="0">
                <a:solidFill>
                  <a:schemeClr val="bg1"/>
                </a:solidFill>
                <a:latin typeface="微软雅黑" panose="020B0503020204020204" pitchFamily="34" charset="-122"/>
                <a:ea typeface="微软雅黑" panose="020B0503020204020204" pitchFamily="34" charset="-122"/>
              </a:rPr>
              <a:t>扩张迎来新周期</a:t>
            </a:r>
          </a:p>
        </p:txBody>
      </p:sp>
      <p:sp>
        <p:nvSpPr>
          <p:cNvPr id="1048645" name="文本框 1"/>
          <p:cNvSpPr txBox="1"/>
          <p:nvPr/>
        </p:nvSpPr>
        <p:spPr>
          <a:xfrm>
            <a:off x="11852910" y="6513195"/>
            <a:ext cx="339090" cy="275590"/>
          </a:xfrm>
          <a:prstGeom prst="rect">
            <a:avLst/>
          </a:prstGeom>
          <a:noFill/>
        </p:spPr>
        <p:txBody>
          <a:bodyPr wrap="square" rtlCol="0">
            <a:spAutoFit/>
          </a:bodyPr>
          <a:lstStyle/>
          <a:p>
            <a:r>
              <a:rPr lang="en-US" altLang="zh-CN" sz="1200" b="1">
                <a:solidFill>
                  <a:schemeClr val="bg1"/>
                </a:solidFill>
              </a:rPr>
              <a:t>1</a:t>
            </a:r>
          </a:p>
        </p:txBody>
      </p:sp>
      <p:grpSp>
        <p:nvGrpSpPr>
          <p:cNvPr id="2" name="组合 1"/>
          <p:cNvGrpSpPr/>
          <p:nvPr/>
        </p:nvGrpSpPr>
        <p:grpSpPr>
          <a:xfrm>
            <a:off x="6003290" y="4008120"/>
            <a:ext cx="5656580" cy="2312670"/>
            <a:chOff x="9454" y="6312"/>
            <a:chExt cx="8908" cy="3642"/>
          </a:xfrm>
        </p:grpSpPr>
        <p:grpSp>
          <p:nvGrpSpPr>
            <p:cNvPr id="60" name="组合 30"/>
            <p:cNvGrpSpPr/>
            <p:nvPr/>
          </p:nvGrpSpPr>
          <p:grpSpPr>
            <a:xfrm>
              <a:off x="9454" y="6312"/>
              <a:ext cx="8908" cy="3642"/>
              <a:chOff x="6520056" y="4197772"/>
              <a:chExt cx="5656580" cy="2312848"/>
            </a:xfrm>
          </p:grpSpPr>
          <p:grpSp>
            <p:nvGrpSpPr>
              <p:cNvPr id="61" name="组合 31"/>
              <p:cNvGrpSpPr/>
              <p:nvPr/>
            </p:nvGrpSpPr>
            <p:grpSpPr>
              <a:xfrm>
                <a:off x="6957709" y="4197772"/>
                <a:ext cx="3766223" cy="1916855"/>
                <a:chOff x="6957709" y="3996387"/>
                <a:chExt cx="3766223" cy="1916855"/>
              </a:xfrm>
            </p:grpSpPr>
            <p:sp>
              <p:nvSpPr>
                <p:cNvPr id="1048646" name="矩形 33"/>
                <p:cNvSpPr/>
                <p:nvPr/>
              </p:nvSpPr>
              <p:spPr>
                <a:xfrm>
                  <a:off x="7469816" y="3996387"/>
                  <a:ext cx="3254116" cy="1916855"/>
                </a:xfrm>
                <a:prstGeom prst="rect">
                  <a:avLst/>
                </a:prstGeom>
                <a:solidFill>
                  <a:srgbClr val="E8F5FE"/>
                </a:solidFill>
                <a:ln>
                  <a:noFill/>
                </a:ln>
                <a:effectLst>
                  <a:outerShdw blurRad="177800" dist="762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1" hangingPunct="1"/>
                  <a:endParaRPr lang="zh-CN" altLang="en-US" sz="1600"/>
                </a:p>
              </p:txBody>
            </p:sp>
            <p:sp>
              <p:nvSpPr>
                <p:cNvPr id="1048647" name="椭圆 35"/>
                <p:cNvSpPr/>
                <p:nvPr/>
              </p:nvSpPr>
              <p:spPr>
                <a:xfrm>
                  <a:off x="6957709" y="4698760"/>
                  <a:ext cx="512107" cy="512107"/>
                </a:xfrm>
                <a:prstGeom prst="ellipse">
                  <a:avLst/>
                </a:prstGeom>
                <a:solidFill>
                  <a:srgbClr val="E9F5F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4987C3"/>
                      </a:solidFill>
                      <a:latin typeface="黑体" panose="02010609060101010101" charset="-122"/>
                      <a:ea typeface="黑体" panose="02010609060101010101" charset="-122"/>
                    </a:rPr>
                    <a:t>4</a:t>
                  </a:r>
                  <a:endParaRPr lang="zh-CN" altLang="en-US" sz="2400" b="1" dirty="0">
                    <a:solidFill>
                      <a:srgbClr val="4987C3"/>
                    </a:solidFill>
                    <a:latin typeface="黑体" panose="02010609060101010101" charset="-122"/>
                    <a:ea typeface="黑体" panose="02010609060101010101" charset="-122"/>
                  </a:endParaRPr>
                </a:p>
              </p:txBody>
            </p:sp>
          </p:grpSp>
          <p:sp>
            <p:nvSpPr>
              <p:cNvPr id="1048648" name="矩形 36"/>
              <p:cNvSpPr>
                <a:spLocks noChangeArrowheads="1"/>
              </p:cNvSpPr>
              <p:nvPr/>
            </p:nvSpPr>
            <p:spPr bwMode="auto">
              <a:xfrm>
                <a:off x="6520056" y="6114356"/>
                <a:ext cx="5656580" cy="396264"/>
              </a:xfrm>
              <a:prstGeom prst="rect">
                <a:avLst/>
              </a:prstGeom>
              <a:noFill/>
              <a:ln>
                <a:noFill/>
              </a:ln>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zh-CN" sz="2000" b="1" dirty="0">
                    <a:gradFill>
                      <a:gsLst>
                        <a:gs pos="0">
                          <a:schemeClr val="accent1">
                            <a:lumMod val="25000"/>
                            <a:lumOff val="75000"/>
                          </a:schemeClr>
                        </a:gs>
                        <a:gs pos="50000">
                          <a:schemeClr val="accent1"/>
                        </a:gs>
                        <a:gs pos="100000">
                          <a:schemeClr val="accent1">
                            <a:lumMod val="85000"/>
                          </a:schemeClr>
                        </a:gs>
                      </a:gsLst>
                      <a:lin ang="5400000" scaled="1"/>
                    </a:gradFill>
                    <a:latin typeface="微软雅黑" panose="020B0503020204020204" pitchFamily="34" charset="-122"/>
                    <a:ea typeface="微软雅黑" panose="020B0503020204020204" pitchFamily="34" charset="-122"/>
                  </a:rPr>
                  <a:t>2025.02</a:t>
                </a:r>
                <a:r>
                  <a:rPr lang="zh-CN" altLang="en-US" sz="2000" b="1" dirty="0">
                    <a:latin typeface="微软雅黑" panose="020B0503020204020204" pitchFamily="34" charset="-122"/>
                    <a:ea typeface="微软雅黑" panose="020B0503020204020204" pitchFamily="34" charset="-122"/>
                  </a:rPr>
                  <a:t>《新型储能制造业高质量发展行动方案》</a:t>
                </a:r>
                <a:endParaRPr lang="zh-CN" altLang="en-US" sz="2000" b="1" dirty="0">
                  <a:solidFill>
                    <a:srgbClr val="0B2988"/>
                  </a:solidFill>
                  <a:latin typeface="微软雅黑" panose="020B0503020204020204" pitchFamily="34" charset="-122"/>
                  <a:ea typeface="微软雅黑" panose="020B0503020204020204" pitchFamily="34" charset="-122"/>
                </a:endParaRPr>
              </a:p>
            </p:txBody>
          </p:sp>
        </p:grpSp>
        <p:pic>
          <p:nvPicPr>
            <p:cNvPr id="2097165" name="图片 2"/>
            <p:cNvPicPr>
              <a:picLocks noChangeAspect="1"/>
            </p:cNvPicPr>
            <p:nvPr/>
          </p:nvPicPr>
          <p:blipFill>
            <a:blip r:embed="rId4"/>
            <a:stretch>
              <a:fillRect/>
            </a:stretch>
          </p:blipFill>
          <p:spPr>
            <a:xfrm>
              <a:off x="11078" y="6447"/>
              <a:ext cx="4893" cy="2770"/>
            </a:xfrm>
            <a:prstGeom prst="rect">
              <a:avLst/>
            </a:prstGeom>
            <a:effectLst>
              <a:outerShdw blurRad="50800" dist="38100" dir="2700000" algn="tl" rotWithShape="0">
                <a:prstClr val="black">
                  <a:alpha val="40000"/>
                </a:prstClr>
              </a:outerShdw>
            </a:effectLst>
          </p:spPr>
        </p:pic>
      </p:grpSp>
      <p:grpSp>
        <p:nvGrpSpPr>
          <p:cNvPr id="3" name="组合 2"/>
          <p:cNvGrpSpPr/>
          <p:nvPr/>
        </p:nvGrpSpPr>
        <p:grpSpPr>
          <a:xfrm>
            <a:off x="52070" y="4008120"/>
            <a:ext cx="6044565" cy="2308860"/>
            <a:chOff x="82" y="6312"/>
            <a:chExt cx="9519" cy="3636"/>
          </a:xfrm>
        </p:grpSpPr>
        <p:grpSp>
          <p:nvGrpSpPr>
            <p:cNvPr id="53" name="组合 12"/>
            <p:cNvGrpSpPr/>
            <p:nvPr/>
          </p:nvGrpSpPr>
          <p:grpSpPr>
            <a:xfrm>
              <a:off x="82" y="6312"/>
              <a:ext cx="9519" cy="3636"/>
              <a:chOff x="721131" y="4197771"/>
              <a:chExt cx="6044565" cy="2308860"/>
            </a:xfrm>
          </p:grpSpPr>
          <p:grpSp>
            <p:nvGrpSpPr>
              <p:cNvPr id="54" name="组合 13"/>
              <p:cNvGrpSpPr/>
              <p:nvPr/>
            </p:nvGrpSpPr>
            <p:grpSpPr>
              <a:xfrm>
                <a:off x="1699321" y="4197771"/>
                <a:ext cx="3790460" cy="1916856"/>
                <a:chOff x="581721" y="4095143"/>
                <a:chExt cx="3790460" cy="1916856"/>
              </a:xfrm>
            </p:grpSpPr>
            <p:grpSp>
              <p:nvGrpSpPr>
                <p:cNvPr id="55" name="组合 14"/>
                <p:cNvGrpSpPr/>
                <p:nvPr/>
              </p:nvGrpSpPr>
              <p:grpSpPr>
                <a:xfrm>
                  <a:off x="581721" y="4797518"/>
                  <a:ext cx="512107" cy="512107"/>
                  <a:chOff x="7680176" y="4123213"/>
                  <a:chExt cx="2808312" cy="2808312"/>
                </a:xfrm>
              </p:grpSpPr>
              <p:sp>
                <p:nvSpPr>
                  <p:cNvPr id="1048636" name="椭圆 15"/>
                  <p:cNvSpPr/>
                  <p:nvPr/>
                </p:nvSpPr>
                <p:spPr>
                  <a:xfrm>
                    <a:off x="7680176" y="4123213"/>
                    <a:ext cx="2808312" cy="2808312"/>
                  </a:xfrm>
                  <a:prstGeom prst="ellipse">
                    <a:avLst/>
                  </a:prstGeom>
                  <a:solidFill>
                    <a:srgbClr val="FFFFFF"/>
                  </a:solidFill>
                  <a:ln>
                    <a:noFill/>
                  </a:ln>
                  <a:effectLst>
                    <a:outerShdw blurRad="177800" dist="63500" dir="132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37" name="椭圆 16"/>
                  <p:cNvSpPr/>
                  <p:nvPr/>
                </p:nvSpPr>
                <p:spPr>
                  <a:xfrm>
                    <a:off x="7680176" y="4123213"/>
                    <a:ext cx="2808312" cy="2808312"/>
                  </a:xfrm>
                  <a:prstGeom prst="ellipse">
                    <a:avLst/>
                  </a:prstGeom>
                  <a:solidFill>
                    <a:srgbClr val="E9F5FE"/>
                  </a:solidFill>
                  <a:ln>
                    <a:noFill/>
                  </a:ln>
                  <a:effectLst>
                    <a:outerShdw blurRad="304800" dist="165100" dir="18900000" algn="bl" rotWithShape="0">
                      <a:schemeClr val="bg1">
                        <a:lumMod val="9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4987C3"/>
                        </a:solidFill>
                        <a:latin typeface="黑体" panose="02010609060101010101" charset="-122"/>
                        <a:ea typeface="黑体" panose="02010609060101010101" charset="-122"/>
                      </a:rPr>
                      <a:t>2</a:t>
                    </a:r>
                    <a:endParaRPr lang="zh-CN" altLang="en-US" sz="2400" b="1" dirty="0">
                      <a:solidFill>
                        <a:srgbClr val="4987C3"/>
                      </a:solidFill>
                      <a:latin typeface="黑体" panose="02010609060101010101" charset="-122"/>
                      <a:ea typeface="黑体" panose="02010609060101010101" charset="-122"/>
                    </a:endParaRPr>
                  </a:p>
                </p:txBody>
              </p:sp>
            </p:grpSp>
            <p:grpSp>
              <p:nvGrpSpPr>
                <p:cNvPr id="56" name="组合 18"/>
                <p:cNvGrpSpPr/>
                <p:nvPr/>
              </p:nvGrpSpPr>
              <p:grpSpPr>
                <a:xfrm>
                  <a:off x="1118065" y="4095143"/>
                  <a:ext cx="3254116" cy="1916856"/>
                  <a:chOff x="520894" y="4229883"/>
                  <a:chExt cx="3047889" cy="1716291"/>
                </a:xfrm>
              </p:grpSpPr>
              <p:sp>
                <p:nvSpPr>
                  <p:cNvPr id="1048638" name="矩形 19"/>
                  <p:cNvSpPr/>
                  <p:nvPr/>
                </p:nvSpPr>
                <p:spPr>
                  <a:xfrm>
                    <a:off x="520894" y="4229883"/>
                    <a:ext cx="3047889" cy="1716291"/>
                  </a:xfrm>
                  <a:prstGeom prst="rect">
                    <a:avLst/>
                  </a:prstGeom>
                  <a:solidFill>
                    <a:srgbClr val="E8F5FE"/>
                  </a:solidFill>
                  <a:ln>
                    <a:noFill/>
                  </a:ln>
                  <a:effectLst>
                    <a:outerShdw blurRad="203200" dist="76200" dir="18900000" algn="bl"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1" hangingPunct="1"/>
                    <a:endParaRPr lang="zh-CN" altLang="en-US" sz="1600"/>
                  </a:p>
                </p:txBody>
              </p:sp>
              <p:sp>
                <p:nvSpPr>
                  <p:cNvPr id="1048639" name="矩形 20"/>
                  <p:cNvSpPr/>
                  <p:nvPr/>
                </p:nvSpPr>
                <p:spPr>
                  <a:xfrm>
                    <a:off x="520894" y="4229883"/>
                    <a:ext cx="3047889" cy="1716291"/>
                  </a:xfrm>
                  <a:prstGeom prst="rect">
                    <a:avLst/>
                  </a:prstGeom>
                  <a:solidFill>
                    <a:srgbClr val="E8F5FE"/>
                  </a:solidFill>
                  <a:ln>
                    <a:noFill/>
                  </a:ln>
                  <a:effectLst>
                    <a:outerShdw blurRad="177800" dist="762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1" hangingPunct="1"/>
                    <a:endParaRPr lang="zh-CN" altLang="en-US" sz="1600"/>
                  </a:p>
                </p:txBody>
              </p:sp>
            </p:grpSp>
          </p:grpSp>
          <p:sp>
            <p:nvSpPr>
              <p:cNvPr id="1048640" name="文本框 8"/>
              <p:cNvSpPr txBox="1">
                <a:spLocks noChangeArrowheads="1"/>
              </p:cNvSpPr>
              <p:nvPr/>
            </p:nvSpPr>
            <p:spPr bwMode="auto">
              <a:xfrm>
                <a:off x="721131" y="6107851"/>
                <a:ext cx="6044565" cy="398780"/>
              </a:xfrm>
              <a:prstGeom prst="rect">
                <a:avLst/>
              </a:prstGeom>
              <a:noFill/>
              <a:ln>
                <a:noFill/>
              </a:ln>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zh-CN" sz="2000" b="1" dirty="0">
                    <a:gradFill>
                      <a:gsLst>
                        <a:gs pos="0">
                          <a:schemeClr val="accent1">
                            <a:lumMod val="25000"/>
                            <a:lumOff val="75000"/>
                          </a:schemeClr>
                        </a:gs>
                        <a:gs pos="50000">
                          <a:schemeClr val="accent1"/>
                        </a:gs>
                        <a:gs pos="100000">
                          <a:schemeClr val="accent1">
                            <a:lumMod val="85000"/>
                          </a:schemeClr>
                        </a:gs>
                      </a:gsLst>
                      <a:lin ang="5400000" scaled="1"/>
                    </a:gradFill>
                    <a:latin typeface="微软雅黑" panose="020B0503020204020204" pitchFamily="34" charset="-122"/>
                    <a:ea typeface="微软雅黑" panose="020B0503020204020204" pitchFamily="34" charset="-122"/>
                  </a:rPr>
                  <a:t>2021.07</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关于加快推动新型储能发展的指导意见</a:t>
                </a:r>
                <a:r>
                  <a:rPr lang="en-US" altLang="zh-CN"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grpSp>
        <p:pic>
          <p:nvPicPr>
            <p:cNvPr id="2097166" name="图片 32"/>
            <p:cNvPicPr>
              <a:picLocks noChangeAspect="1"/>
            </p:cNvPicPr>
            <p:nvPr/>
          </p:nvPicPr>
          <p:blipFill>
            <a:blip r:embed="rId5"/>
            <a:stretch>
              <a:fillRect/>
            </a:stretch>
          </p:blipFill>
          <p:spPr>
            <a:xfrm>
              <a:off x="2585" y="6447"/>
              <a:ext cx="4867" cy="2769"/>
            </a:xfrm>
            <a:prstGeom prst="rect">
              <a:avLst/>
            </a:prstGeom>
            <a:effectLst>
              <a:outerShdw blurRad="50800" dist="38100" dir="2700000" algn="tl" rotWithShape="0">
                <a:prstClr val="black">
                  <a:alpha val="40000"/>
                </a:prstClr>
              </a:outerShdw>
            </a:effectLst>
          </p:spPr>
        </p:pic>
      </p:grpSp>
      <p:grpSp>
        <p:nvGrpSpPr>
          <p:cNvPr id="8196" name="组合 1"/>
          <p:cNvGrpSpPr/>
          <p:nvPr/>
        </p:nvGrpSpPr>
        <p:grpSpPr bwMode="auto">
          <a:xfrm>
            <a:off x="268288" y="103188"/>
            <a:ext cx="4747591" cy="601662"/>
            <a:chOff x="267858" y="102478"/>
            <a:chExt cx="3025443" cy="602574"/>
          </a:xfrm>
        </p:grpSpPr>
        <p:sp>
          <p:nvSpPr>
            <p:cNvPr id="5" name="矩形 65"/>
            <p:cNvSpPr>
              <a:spLocks noChangeArrowheads="1"/>
            </p:cNvSpPr>
            <p:nvPr/>
          </p:nvSpPr>
          <p:spPr bwMode="auto">
            <a:xfrm>
              <a:off x="267858" y="102478"/>
              <a:ext cx="3025443" cy="584450"/>
            </a:xfrm>
            <a:prstGeom prst="rect">
              <a:avLst/>
            </a:prstGeom>
            <a:no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685800" eaLnBrk="1" fontAlgn="auto" hangingPunct="1">
                <a:spcBef>
                  <a:spcPct val="0"/>
                </a:spcBef>
                <a:spcAft>
                  <a:spcPts val="0"/>
                </a:spcAft>
                <a:buFont typeface="Arial" panose="020B0604020202020204" pitchFamily="34" charset="0"/>
                <a:buNone/>
                <a:defRPr/>
              </a:pPr>
              <a:r>
                <a:rPr lang="en-US" altLang="zh-CN" b="1" spc="300" dirty="0">
                  <a:ln w="6350">
                    <a:noFill/>
                  </a:ln>
                  <a:solidFill>
                    <a:srgbClr val="1B69B4"/>
                  </a:solidFill>
                  <a:latin typeface="微软雅黑" panose="020B0503020204020204" pitchFamily="34" charset="-122"/>
                  <a:ea typeface="微软雅黑" panose="020B0503020204020204" pitchFamily="34" charset="-122"/>
                </a:rPr>
                <a:t>01</a:t>
              </a:r>
              <a:r>
                <a:rPr lang="zh-CN" altLang="en-US" b="1" spc="300" dirty="0">
                  <a:ln w="6350">
                    <a:noFill/>
                  </a:ln>
                  <a:solidFill>
                    <a:srgbClr val="1B69B4"/>
                  </a:solidFill>
                  <a:latin typeface="微软雅黑" panose="020B0503020204020204" pitchFamily="34" charset="-122"/>
                  <a:ea typeface="微软雅黑" panose="020B0503020204020204" pitchFamily="34" charset="-122"/>
                </a:rPr>
                <a:t>项目背景 </a:t>
              </a:r>
              <a:r>
                <a:rPr lang="zh-CN" altLang="en-US" sz="2000" b="1" spc="300" dirty="0">
                  <a:ln w="6350">
                    <a:noFill/>
                  </a:ln>
                  <a:solidFill>
                    <a:srgbClr val="1B69B4"/>
                  </a:solidFill>
                  <a:latin typeface="微软雅黑" panose="020B0503020204020204" pitchFamily="34" charset="-122"/>
                  <a:ea typeface="微软雅黑" panose="020B0503020204020204" pitchFamily="34" charset="-122"/>
                </a:rPr>
                <a:t>国家政策</a:t>
              </a:r>
            </a:p>
          </p:txBody>
        </p:sp>
        <p:sp>
          <p:nvSpPr>
            <p:cNvPr id="4" name="矩形 3"/>
            <p:cNvSpPr/>
            <p:nvPr/>
          </p:nvSpPr>
          <p:spPr>
            <a:xfrm>
              <a:off x="333094" y="659333"/>
              <a:ext cx="2653687" cy="45719"/>
            </a:xfrm>
            <a:prstGeom prst="rect">
              <a:avLst/>
            </a:prstGeom>
            <a:gradFill flip="none" rotWithShape="1">
              <a:gsLst>
                <a:gs pos="100000">
                  <a:schemeClr val="bg1">
                    <a:alpha val="0"/>
                  </a:schemeClr>
                </a:gs>
                <a:gs pos="4000">
                  <a:srgbClr val="1B69B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1B69B4"/>
                </a:solidFill>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ppt_x"/>
                                          </p:val>
                                        </p:tav>
                                        <p:tav tm="100000">
                                          <p:val>
                                            <p:strVal val="#ppt_x"/>
                                          </p:val>
                                        </p:tav>
                                      </p:tavLst>
                                    </p:anim>
                                    <p:anim calcmode="lin" valueType="num">
                                      <p:cBhvr additive="base">
                                        <p:cTn id="8" dur="500" fill="hold"/>
                                        <p:tgtEl>
                                          <p:spTgt spid="4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57"/>
                                        </p:tgtEl>
                                        <p:attrNameLst>
                                          <p:attrName>style.visibility</p:attrName>
                                        </p:attrNameLst>
                                      </p:cBhvr>
                                      <p:to>
                                        <p:strVal val="visible"/>
                                      </p:to>
                                    </p:set>
                                    <p:anim calcmode="lin" valueType="num">
                                      <p:cBhvr additive="base">
                                        <p:cTn id="17" dur="500" fill="hold"/>
                                        <p:tgtEl>
                                          <p:spTgt spid="57"/>
                                        </p:tgtEl>
                                        <p:attrNameLst>
                                          <p:attrName>ppt_x</p:attrName>
                                        </p:attrNameLst>
                                      </p:cBhvr>
                                      <p:tavLst>
                                        <p:tav tm="0">
                                          <p:val>
                                            <p:strVal val="#ppt_x"/>
                                          </p:val>
                                        </p:tav>
                                        <p:tav tm="100000">
                                          <p:val>
                                            <p:strVal val="#ppt_x"/>
                                          </p:val>
                                        </p:tav>
                                      </p:tavLst>
                                    </p:anim>
                                    <p:anim calcmode="lin" valueType="num">
                                      <p:cBhvr additive="base">
                                        <p:cTn id="18" dur="500" fill="hold"/>
                                        <p:tgtEl>
                                          <p:spTgt spid="57"/>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ppt_x"/>
                                          </p:val>
                                        </p:tav>
                                        <p:tav tm="100000">
                                          <p:val>
                                            <p:strVal val="#ppt_x"/>
                                          </p:val>
                                        </p:tav>
                                      </p:tavLst>
                                    </p:anim>
                                    <p:anim calcmode="lin" valueType="num">
                                      <p:cBhvr additive="base">
                                        <p:cTn id="23" dur="500" fill="hold"/>
                                        <p:tgtEl>
                                          <p:spTgt spid="2"/>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1048644"/>
                                        </p:tgtEl>
                                        <p:attrNameLst>
                                          <p:attrName>style.visibility</p:attrName>
                                        </p:attrNameLst>
                                      </p:cBhvr>
                                      <p:to>
                                        <p:strVal val="visible"/>
                                      </p:to>
                                    </p:set>
                                    <p:anim calcmode="lin" valueType="num">
                                      <p:cBhvr additive="base">
                                        <p:cTn id="27" dur="500" fill="hold"/>
                                        <p:tgtEl>
                                          <p:spTgt spid="1048644"/>
                                        </p:tgtEl>
                                        <p:attrNameLst>
                                          <p:attrName>ppt_x</p:attrName>
                                        </p:attrNameLst>
                                      </p:cBhvr>
                                      <p:tavLst>
                                        <p:tav tm="0">
                                          <p:val>
                                            <p:strVal val="#ppt_x"/>
                                          </p:val>
                                        </p:tav>
                                        <p:tav tm="100000">
                                          <p:val>
                                            <p:strVal val="#ppt_x"/>
                                          </p:val>
                                        </p:tav>
                                      </p:tavLst>
                                    </p:anim>
                                    <p:anim calcmode="lin" valueType="num">
                                      <p:cBhvr additive="base">
                                        <p:cTn id="28" dur="500" fill="hold"/>
                                        <p:tgtEl>
                                          <p:spTgt spid="10486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44" grpId="0" bldLvl="0" animBg="1"/>
      <p:bldP spid="1048644"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1"/>
          <p:cNvGrpSpPr/>
          <p:nvPr/>
        </p:nvGrpSpPr>
        <p:grpSpPr bwMode="auto">
          <a:xfrm>
            <a:off x="-189" y="49001"/>
            <a:ext cx="4819457" cy="657539"/>
            <a:chOff x="287705" y="46516"/>
            <a:chExt cx="3070393" cy="658536"/>
          </a:xfrm>
        </p:grpSpPr>
        <p:sp>
          <p:nvSpPr>
            <p:cNvPr id="1048630" name="矩形 65"/>
            <p:cNvSpPr>
              <a:spLocks noChangeArrowheads="1"/>
            </p:cNvSpPr>
            <p:nvPr/>
          </p:nvSpPr>
          <p:spPr bwMode="auto">
            <a:xfrm>
              <a:off x="287705" y="46516"/>
              <a:ext cx="3025004" cy="584450"/>
            </a:xfrm>
            <a:prstGeom prst="rect">
              <a:avLst/>
            </a:prstGeom>
            <a:no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685800" eaLnBrk="1" fontAlgn="auto" hangingPunct="1">
                <a:spcBef>
                  <a:spcPct val="0"/>
                </a:spcBef>
                <a:spcAft>
                  <a:spcPts val="0"/>
                </a:spcAft>
                <a:buFont typeface="Arial" panose="020B0604020202020204" pitchFamily="34" charset="0"/>
                <a:buNone/>
              </a:pPr>
              <a:r>
                <a:rPr lang="en-US" altLang="zh-CN" b="1" spc="600" dirty="0">
                  <a:solidFill>
                    <a:schemeClr val="bg1"/>
                  </a:solidFill>
                  <a:latin typeface="微软雅黑" panose="020B0503020204020204" pitchFamily="34" charset="-122"/>
                  <a:ea typeface="微软雅黑" panose="020B0503020204020204" pitchFamily="34" charset="-122"/>
                </a:rPr>
                <a:t>01</a:t>
              </a:r>
              <a:r>
                <a:rPr lang="zh-CN" altLang="en-US" b="1" spc="600" dirty="0">
                  <a:solidFill>
                    <a:schemeClr val="bg1"/>
                  </a:solidFill>
                  <a:latin typeface="微软雅黑" panose="020B0503020204020204" pitchFamily="34" charset="-122"/>
                  <a:ea typeface="微软雅黑" panose="020B0503020204020204" pitchFamily="34" charset="-122"/>
                </a:rPr>
                <a:t>项目背景 </a:t>
              </a:r>
              <a:r>
                <a:rPr lang="zh-CN" altLang="en-US" sz="2000" b="1" spc="600" dirty="0">
                  <a:solidFill>
                    <a:schemeClr val="bg1"/>
                  </a:solidFill>
                  <a:latin typeface="微软雅黑" panose="020B0503020204020204" pitchFamily="34" charset="-122"/>
                  <a:ea typeface="微软雅黑" panose="020B0503020204020204" pitchFamily="34" charset="-122"/>
                </a:rPr>
                <a:t>国家政策</a:t>
              </a:r>
            </a:p>
          </p:txBody>
        </p:sp>
        <p:sp>
          <p:nvSpPr>
            <p:cNvPr id="1048631" name="矩形 104"/>
            <p:cNvSpPr/>
            <p:nvPr/>
          </p:nvSpPr>
          <p:spPr>
            <a:xfrm>
              <a:off x="333094" y="659264"/>
              <a:ext cx="3025004" cy="45788"/>
            </a:xfrm>
            <a:prstGeom prst="rect">
              <a:avLst/>
            </a:prstGeom>
            <a:gradFill flip="none" rotWithShape="1">
              <a:gsLst>
                <a:gs pos="4000">
                  <a:schemeClr val="bg1"/>
                </a:gs>
                <a:gs pos="72000">
                  <a:schemeClr val="bg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dirty="0">
                <a:solidFill>
                  <a:srgbClr val="1B69B4"/>
                </a:solidFill>
              </a:endParaRPr>
            </a:p>
          </p:txBody>
        </p:sp>
      </p:grpSp>
      <p:grpSp>
        <p:nvGrpSpPr>
          <p:cNvPr id="8196" name="组合 1"/>
          <p:cNvGrpSpPr/>
          <p:nvPr/>
        </p:nvGrpSpPr>
        <p:grpSpPr bwMode="auto">
          <a:xfrm>
            <a:off x="268288" y="103188"/>
            <a:ext cx="4747591" cy="601662"/>
            <a:chOff x="267858" y="102478"/>
            <a:chExt cx="3025443" cy="602574"/>
          </a:xfrm>
        </p:grpSpPr>
        <p:sp>
          <p:nvSpPr>
            <p:cNvPr id="2" name="矩形 65"/>
            <p:cNvSpPr>
              <a:spLocks noChangeArrowheads="1"/>
            </p:cNvSpPr>
            <p:nvPr/>
          </p:nvSpPr>
          <p:spPr bwMode="auto">
            <a:xfrm>
              <a:off x="267858" y="102478"/>
              <a:ext cx="3025443" cy="584450"/>
            </a:xfrm>
            <a:prstGeom prst="rect">
              <a:avLst/>
            </a:prstGeom>
            <a:no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685800" eaLnBrk="1" fontAlgn="auto" hangingPunct="1">
                <a:spcBef>
                  <a:spcPct val="0"/>
                </a:spcBef>
                <a:spcAft>
                  <a:spcPts val="0"/>
                </a:spcAft>
                <a:buFont typeface="Arial" panose="020B0604020202020204" pitchFamily="34" charset="0"/>
                <a:buNone/>
                <a:defRPr/>
              </a:pPr>
              <a:r>
                <a:rPr lang="en-US" altLang="zh-CN" b="1" spc="300" dirty="0">
                  <a:ln w="6350">
                    <a:noFill/>
                  </a:ln>
                  <a:solidFill>
                    <a:srgbClr val="1B69B4"/>
                  </a:solidFill>
                  <a:latin typeface="微软雅黑" panose="020B0503020204020204" pitchFamily="34" charset="-122"/>
                  <a:ea typeface="微软雅黑" panose="020B0503020204020204" pitchFamily="34" charset="-122"/>
                </a:rPr>
                <a:t>02</a:t>
              </a:r>
              <a:r>
                <a:rPr lang="zh-CN" altLang="en-US" b="1" spc="300" dirty="0">
                  <a:ln w="6350">
                    <a:noFill/>
                  </a:ln>
                  <a:solidFill>
                    <a:srgbClr val="1B69B4"/>
                  </a:solidFill>
                  <a:latin typeface="微软雅黑" panose="020B0503020204020204" pitchFamily="34" charset="-122"/>
                  <a:ea typeface="微软雅黑" panose="020B0503020204020204" pitchFamily="34" charset="-122"/>
                </a:rPr>
                <a:t>项目背景 </a:t>
              </a:r>
              <a:r>
                <a:rPr lang="zh-CN" altLang="en-US" sz="2000" b="1" spc="300" dirty="0">
                  <a:ln w="6350">
                    <a:noFill/>
                  </a:ln>
                  <a:solidFill>
                    <a:srgbClr val="1B69B4"/>
                  </a:solidFill>
                  <a:latin typeface="微软雅黑" panose="020B0503020204020204" pitchFamily="34" charset="-122"/>
                  <a:ea typeface="微软雅黑" panose="020B0503020204020204" pitchFamily="34" charset="-122"/>
                </a:rPr>
                <a:t>现实痛点</a:t>
              </a:r>
            </a:p>
          </p:txBody>
        </p:sp>
        <p:sp>
          <p:nvSpPr>
            <p:cNvPr id="4" name="矩形 3"/>
            <p:cNvSpPr/>
            <p:nvPr/>
          </p:nvSpPr>
          <p:spPr>
            <a:xfrm>
              <a:off x="333094" y="659333"/>
              <a:ext cx="2653687" cy="45719"/>
            </a:xfrm>
            <a:prstGeom prst="rect">
              <a:avLst/>
            </a:prstGeom>
            <a:gradFill flip="none" rotWithShape="1">
              <a:gsLst>
                <a:gs pos="100000">
                  <a:schemeClr val="bg1">
                    <a:alpha val="0"/>
                  </a:schemeClr>
                </a:gs>
                <a:gs pos="4000">
                  <a:srgbClr val="1B69B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1B69B4"/>
                </a:solidFill>
              </a:endParaRPr>
            </a:p>
          </p:txBody>
        </p:sp>
      </p:grpSp>
      <p:pic>
        <p:nvPicPr>
          <p:cNvPr id="2097154" name="图片 2"/>
          <p:cNvPicPr/>
          <p:nvPr/>
        </p:nvPicPr>
        <p:blipFill>
          <a:blip r:embed="rId5"/>
          <a:srcRect l="10039" r="7187" b="7804"/>
          <a:stretch>
            <a:fillRect/>
          </a:stretch>
        </p:blipFill>
        <p:spPr>
          <a:xfrm>
            <a:off x="2947670" y="4066540"/>
            <a:ext cx="2514600" cy="2371090"/>
          </a:xfrm>
          <a:prstGeom prst="rect">
            <a:avLst/>
          </a:prstGeom>
          <a:effectLst>
            <a:outerShdw blurRad="50800" dist="38100" dir="2700000" algn="tl" rotWithShape="0">
              <a:prstClr val="black">
                <a:alpha val="40000"/>
              </a:prstClr>
            </a:outerShdw>
          </a:effectLst>
        </p:spPr>
      </p:pic>
      <p:sp>
        <p:nvSpPr>
          <p:cNvPr id="1048585" name="矩形 15"/>
          <p:cNvSpPr/>
          <p:nvPr>
            <p:custDataLst>
              <p:tags r:id="rId1"/>
            </p:custDataLst>
          </p:nvPr>
        </p:nvSpPr>
        <p:spPr>
          <a:xfrm>
            <a:off x="2952750" y="4077335"/>
            <a:ext cx="2493010" cy="493395"/>
          </a:xfrm>
          <a:prstGeom prst="rect">
            <a:avLst/>
          </a:prstGeom>
          <a:gradFill flip="none" rotWithShape="1">
            <a:gsLst>
              <a:gs pos="0">
                <a:schemeClr val="accent1">
                  <a:lumMod val="5000"/>
                  <a:lumOff val="95000"/>
                  <a:alpha val="0"/>
                </a:schemeClr>
              </a:gs>
              <a:gs pos="50000">
                <a:srgbClr val="7BB4DE">
                  <a:alpha val="100000"/>
                </a:srgbClr>
              </a:gs>
              <a:gs pos="100000">
                <a:srgbClr val="0070C0"/>
              </a:gs>
            </a:gsLst>
            <a:path path="circle">
              <a:fillToRect t="100000" r="100000"/>
            </a:path>
            <a:tileRect l="-100000" b="-100000"/>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97155" name="图片 1"/>
          <p:cNvPicPr/>
          <p:nvPr/>
        </p:nvPicPr>
        <p:blipFill>
          <a:blip r:embed="rId6"/>
          <a:srcRect l="28234" r="10068"/>
          <a:stretch>
            <a:fillRect/>
          </a:stretch>
        </p:blipFill>
        <p:spPr>
          <a:xfrm>
            <a:off x="695325" y="4041140"/>
            <a:ext cx="2212340" cy="2388235"/>
          </a:xfrm>
          <a:prstGeom prst="rect">
            <a:avLst/>
          </a:prstGeom>
          <a:effectLst>
            <a:outerShdw blurRad="50800" dist="38100" dir="2700000" algn="tl" rotWithShape="0">
              <a:prstClr val="black">
                <a:alpha val="40000"/>
              </a:prstClr>
            </a:outerShdw>
          </a:effectLst>
        </p:spPr>
      </p:pic>
      <p:sp>
        <p:nvSpPr>
          <p:cNvPr id="1048586" name="矩形 32"/>
          <p:cNvSpPr/>
          <p:nvPr>
            <p:custDataLst>
              <p:tags r:id="rId2"/>
            </p:custDataLst>
          </p:nvPr>
        </p:nvSpPr>
        <p:spPr>
          <a:xfrm>
            <a:off x="623570" y="4041140"/>
            <a:ext cx="2284095" cy="493395"/>
          </a:xfrm>
          <a:prstGeom prst="rect">
            <a:avLst/>
          </a:prstGeom>
          <a:gradFill flip="none" rotWithShape="1">
            <a:gsLst>
              <a:gs pos="0">
                <a:schemeClr val="accent1">
                  <a:lumMod val="5000"/>
                  <a:lumOff val="95000"/>
                  <a:alpha val="0"/>
                </a:schemeClr>
              </a:gs>
              <a:gs pos="50000">
                <a:srgbClr val="7BB4DE">
                  <a:alpha val="100000"/>
                </a:srgbClr>
              </a:gs>
              <a:gs pos="100000">
                <a:srgbClr val="0070C0"/>
              </a:gs>
            </a:gsLst>
            <a:path path="circle">
              <a:fillToRect t="100000" r="100000"/>
            </a:path>
            <a:tileRect l="-100000" b="-100000"/>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48587" name="箭头: 右 30"/>
          <p:cNvSpPr/>
          <p:nvPr/>
        </p:nvSpPr>
        <p:spPr>
          <a:xfrm>
            <a:off x="5583555" y="899160"/>
            <a:ext cx="1258570" cy="5108575"/>
          </a:xfrm>
          <a:custGeom>
            <a:avLst/>
            <a:gdLst>
              <a:gd name="connsiteX0" fmla="*/ 0 w 535224"/>
              <a:gd name="connsiteY0" fmla="*/ 73011 h 292042"/>
              <a:gd name="connsiteX1" fmla="*/ 363754 w 535224"/>
              <a:gd name="connsiteY1" fmla="*/ 73011 h 292042"/>
              <a:gd name="connsiteX2" fmla="*/ 363754 w 535224"/>
              <a:gd name="connsiteY2" fmla="*/ 0 h 292042"/>
              <a:gd name="connsiteX3" fmla="*/ 535224 w 535224"/>
              <a:gd name="connsiteY3" fmla="*/ 146021 h 292042"/>
              <a:gd name="connsiteX4" fmla="*/ 363754 w 535224"/>
              <a:gd name="connsiteY4" fmla="*/ 292042 h 292042"/>
              <a:gd name="connsiteX5" fmla="*/ 363754 w 535224"/>
              <a:gd name="connsiteY5" fmla="*/ 219032 h 292042"/>
              <a:gd name="connsiteX6" fmla="*/ 0 w 535224"/>
              <a:gd name="connsiteY6" fmla="*/ 219032 h 292042"/>
              <a:gd name="connsiteX7" fmla="*/ 0 w 535224"/>
              <a:gd name="connsiteY7" fmla="*/ 73011 h 292042"/>
              <a:gd name="connsiteX0-1" fmla="*/ 0 w 549511"/>
              <a:gd name="connsiteY0-2" fmla="*/ 0 h 923881"/>
              <a:gd name="connsiteX1-3" fmla="*/ 378041 w 549511"/>
              <a:gd name="connsiteY1-4" fmla="*/ 704850 h 923881"/>
              <a:gd name="connsiteX2-5" fmla="*/ 378041 w 549511"/>
              <a:gd name="connsiteY2-6" fmla="*/ 631839 h 923881"/>
              <a:gd name="connsiteX3-7" fmla="*/ 549511 w 549511"/>
              <a:gd name="connsiteY3-8" fmla="*/ 777860 h 923881"/>
              <a:gd name="connsiteX4-9" fmla="*/ 378041 w 549511"/>
              <a:gd name="connsiteY4-10" fmla="*/ 923881 h 923881"/>
              <a:gd name="connsiteX5-11" fmla="*/ 378041 w 549511"/>
              <a:gd name="connsiteY5-12" fmla="*/ 850871 h 923881"/>
              <a:gd name="connsiteX6-13" fmla="*/ 14287 w 549511"/>
              <a:gd name="connsiteY6-14" fmla="*/ 850871 h 923881"/>
              <a:gd name="connsiteX7-15" fmla="*/ 0 w 549511"/>
              <a:gd name="connsiteY7-16" fmla="*/ 0 h 923881"/>
              <a:gd name="connsiteX0-17" fmla="*/ 0 w 549511"/>
              <a:gd name="connsiteY0-18" fmla="*/ 0 h 1541433"/>
              <a:gd name="connsiteX1-19" fmla="*/ 378041 w 549511"/>
              <a:gd name="connsiteY1-20" fmla="*/ 704850 h 1541433"/>
              <a:gd name="connsiteX2-21" fmla="*/ 378041 w 549511"/>
              <a:gd name="connsiteY2-22" fmla="*/ 631839 h 1541433"/>
              <a:gd name="connsiteX3-23" fmla="*/ 549511 w 549511"/>
              <a:gd name="connsiteY3-24" fmla="*/ 777860 h 1541433"/>
              <a:gd name="connsiteX4-25" fmla="*/ 378041 w 549511"/>
              <a:gd name="connsiteY4-26" fmla="*/ 923881 h 1541433"/>
              <a:gd name="connsiteX5-27" fmla="*/ 378041 w 549511"/>
              <a:gd name="connsiteY5-28" fmla="*/ 850871 h 1541433"/>
              <a:gd name="connsiteX6-29" fmla="*/ 19050 w 549511"/>
              <a:gd name="connsiteY6-30" fmla="*/ 1541433 h 1541433"/>
              <a:gd name="connsiteX7-31" fmla="*/ 0 w 549511"/>
              <a:gd name="connsiteY7-32" fmla="*/ 0 h 1541433"/>
              <a:gd name="connsiteX0-33" fmla="*/ 0 w 549511"/>
              <a:gd name="connsiteY0-34" fmla="*/ 0 h 1541433"/>
              <a:gd name="connsiteX1-35" fmla="*/ 244159 w 549511"/>
              <a:gd name="connsiteY1-36" fmla="*/ 636994 h 1541433"/>
              <a:gd name="connsiteX2-37" fmla="*/ 378041 w 549511"/>
              <a:gd name="connsiteY2-38" fmla="*/ 704850 h 1541433"/>
              <a:gd name="connsiteX3-39" fmla="*/ 378041 w 549511"/>
              <a:gd name="connsiteY3-40" fmla="*/ 631839 h 1541433"/>
              <a:gd name="connsiteX4-41" fmla="*/ 549511 w 549511"/>
              <a:gd name="connsiteY4-42" fmla="*/ 777860 h 1541433"/>
              <a:gd name="connsiteX5-43" fmla="*/ 378041 w 549511"/>
              <a:gd name="connsiteY5-44" fmla="*/ 923881 h 1541433"/>
              <a:gd name="connsiteX6-45" fmla="*/ 378041 w 549511"/>
              <a:gd name="connsiteY6-46" fmla="*/ 850871 h 1541433"/>
              <a:gd name="connsiteX7-47" fmla="*/ 19050 w 549511"/>
              <a:gd name="connsiteY7-48" fmla="*/ 1541433 h 1541433"/>
              <a:gd name="connsiteX8" fmla="*/ 0 w 549511"/>
              <a:gd name="connsiteY8" fmla="*/ 0 h 1541433"/>
              <a:gd name="connsiteX0-49" fmla="*/ 0 w 549511"/>
              <a:gd name="connsiteY0-50" fmla="*/ 0 h 1541433"/>
              <a:gd name="connsiteX1-51" fmla="*/ 267971 w 549511"/>
              <a:gd name="connsiteY1-52" fmla="*/ 625088 h 1541433"/>
              <a:gd name="connsiteX2-53" fmla="*/ 378041 w 549511"/>
              <a:gd name="connsiteY2-54" fmla="*/ 704850 h 1541433"/>
              <a:gd name="connsiteX3-55" fmla="*/ 378041 w 549511"/>
              <a:gd name="connsiteY3-56" fmla="*/ 631839 h 1541433"/>
              <a:gd name="connsiteX4-57" fmla="*/ 549511 w 549511"/>
              <a:gd name="connsiteY4-58" fmla="*/ 777860 h 1541433"/>
              <a:gd name="connsiteX5-59" fmla="*/ 378041 w 549511"/>
              <a:gd name="connsiteY5-60" fmla="*/ 923881 h 1541433"/>
              <a:gd name="connsiteX6-61" fmla="*/ 378041 w 549511"/>
              <a:gd name="connsiteY6-62" fmla="*/ 850871 h 1541433"/>
              <a:gd name="connsiteX7-63" fmla="*/ 19050 w 549511"/>
              <a:gd name="connsiteY7-64" fmla="*/ 1541433 h 1541433"/>
              <a:gd name="connsiteX8-65" fmla="*/ 0 w 549511"/>
              <a:gd name="connsiteY8-66" fmla="*/ 0 h 1541433"/>
              <a:gd name="connsiteX0-67" fmla="*/ 0 w 549511"/>
              <a:gd name="connsiteY0-68" fmla="*/ 0 h 1541433"/>
              <a:gd name="connsiteX1-69" fmla="*/ 267971 w 549511"/>
              <a:gd name="connsiteY1-70" fmla="*/ 625088 h 1541433"/>
              <a:gd name="connsiteX2-71" fmla="*/ 378041 w 549511"/>
              <a:gd name="connsiteY2-72" fmla="*/ 704850 h 1541433"/>
              <a:gd name="connsiteX3-73" fmla="*/ 378041 w 549511"/>
              <a:gd name="connsiteY3-74" fmla="*/ 631839 h 1541433"/>
              <a:gd name="connsiteX4-75" fmla="*/ 549511 w 549511"/>
              <a:gd name="connsiteY4-76" fmla="*/ 777860 h 1541433"/>
              <a:gd name="connsiteX5-77" fmla="*/ 378041 w 549511"/>
              <a:gd name="connsiteY5-78" fmla="*/ 923881 h 1541433"/>
              <a:gd name="connsiteX6-79" fmla="*/ 378041 w 549511"/>
              <a:gd name="connsiteY6-80" fmla="*/ 850871 h 1541433"/>
              <a:gd name="connsiteX7-81" fmla="*/ 19050 w 549511"/>
              <a:gd name="connsiteY7-82" fmla="*/ 1541433 h 1541433"/>
              <a:gd name="connsiteX8-83" fmla="*/ 0 w 549511"/>
              <a:gd name="connsiteY8-84" fmla="*/ 0 h 1541433"/>
              <a:gd name="connsiteX0-85" fmla="*/ 0 w 549511"/>
              <a:gd name="connsiteY0-86" fmla="*/ 0 h 1541433"/>
              <a:gd name="connsiteX1-87" fmla="*/ 267971 w 549511"/>
              <a:gd name="connsiteY1-88" fmla="*/ 625088 h 1541433"/>
              <a:gd name="connsiteX2-89" fmla="*/ 378041 w 549511"/>
              <a:gd name="connsiteY2-90" fmla="*/ 704850 h 1541433"/>
              <a:gd name="connsiteX3-91" fmla="*/ 378041 w 549511"/>
              <a:gd name="connsiteY3-92" fmla="*/ 631839 h 1541433"/>
              <a:gd name="connsiteX4-93" fmla="*/ 549511 w 549511"/>
              <a:gd name="connsiteY4-94" fmla="*/ 777860 h 1541433"/>
              <a:gd name="connsiteX5-95" fmla="*/ 378041 w 549511"/>
              <a:gd name="connsiteY5-96" fmla="*/ 923881 h 1541433"/>
              <a:gd name="connsiteX6-97" fmla="*/ 378041 w 549511"/>
              <a:gd name="connsiteY6-98" fmla="*/ 850871 h 1541433"/>
              <a:gd name="connsiteX7-99" fmla="*/ 253684 w 549511"/>
              <a:gd name="connsiteY7-100" fmla="*/ 920363 h 1541433"/>
              <a:gd name="connsiteX8-101" fmla="*/ 19050 w 549511"/>
              <a:gd name="connsiteY8-102" fmla="*/ 1541433 h 1541433"/>
              <a:gd name="connsiteX9" fmla="*/ 0 w 549511"/>
              <a:gd name="connsiteY9" fmla="*/ 0 h 1541433"/>
              <a:gd name="connsiteX0-103" fmla="*/ 0 w 549511"/>
              <a:gd name="connsiteY0-104" fmla="*/ 0 h 1541433"/>
              <a:gd name="connsiteX1-105" fmla="*/ 267971 w 549511"/>
              <a:gd name="connsiteY1-106" fmla="*/ 625088 h 1541433"/>
              <a:gd name="connsiteX2-107" fmla="*/ 378041 w 549511"/>
              <a:gd name="connsiteY2-108" fmla="*/ 704850 h 1541433"/>
              <a:gd name="connsiteX3-109" fmla="*/ 378041 w 549511"/>
              <a:gd name="connsiteY3-110" fmla="*/ 631839 h 1541433"/>
              <a:gd name="connsiteX4-111" fmla="*/ 549511 w 549511"/>
              <a:gd name="connsiteY4-112" fmla="*/ 777860 h 1541433"/>
              <a:gd name="connsiteX5-113" fmla="*/ 378041 w 549511"/>
              <a:gd name="connsiteY5-114" fmla="*/ 923881 h 1541433"/>
              <a:gd name="connsiteX6-115" fmla="*/ 378041 w 549511"/>
              <a:gd name="connsiteY6-116" fmla="*/ 850871 h 1541433"/>
              <a:gd name="connsiteX7-117" fmla="*/ 253684 w 549511"/>
              <a:gd name="connsiteY7-118" fmla="*/ 920363 h 1541433"/>
              <a:gd name="connsiteX8-119" fmla="*/ 19050 w 549511"/>
              <a:gd name="connsiteY8-120" fmla="*/ 1541433 h 1541433"/>
              <a:gd name="connsiteX9-121" fmla="*/ 0 w 549511"/>
              <a:gd name="connsiteY9-122" fmla="*/ 0 h 1541433"/>
              <a:gd name="connsiteX0-123" fmla="*/ 0 w 549511"/>
              <a:gd name="connsiteY0-124" fmla="*/ 0 h 1541433"/>
              <a:gd name="connsiteX1-125" fmla="*/ 267971 w 549511"/>
              <a:gd name="connsiteY1-126" fmla="*/ 625088 h 1541433"/>
              <a:gd name="connsiteX2-127" fmla="*/ 378041 w 549511"/>
              <a:gd name="connsiteY2-128" fmla="*/ 704850 h 1541433"/>
              <a:gd name="connsiteX3-129" fmla="*/ 378041 w 549511"/>
              <a:gd name="connsiteY3-130" fmla="*/ 631839 h 1541433"/>
              <a:gd name="connsiteX4-131" fmla="*/ 549511 w 549511"/>
              <a:gd name="connsiteY4-132" fmla="*/ 777860 h 1541433"/>
              <a:gd name="connsiteX5-133" fmla="*/ 378041 w 549511"/>
              <a:gd name="connsiteY5-134" fmla="*/ 923881 h 1541433"/>
              <a:gd name="connsiteX6-135" fmla="*/ 378041 w 549511"/>
              <a:gd name="connsiteY6-136" fmla="*/ 850871 h 1541433"/>
              <a:gd name="connsiteX7-137" fmla="*/ 253684 w 549511"/>
              <a:gd name="connsiteY7-138" fmla="*/ 920363 h 1541433"/>
              <a:gd name="connsiteX8-139" fmla="*/ 19050 w 549511"/>
              <a:gd name="connsiteY8-140" fmla="*/ 1541433 h 1541433"/>
              <a:gd name="connsiteX9-141" fmla="*/ 0 w 549511"/>
              <a:gd name="connsiteY9-142" fmla="*/ 0 h 1541433"/>
              <a:gd name="connsiteX0-143" fmla="*/ 0 w 549511"/>
              <a:gd name="connsiteY0-144" fmla="*/ 0 h 1541433"/>
              <a:gd name="connsiteX1-145" fmla="*/ 267971 w 549511"/>
              <a:gd name="connsiteY1-146" fmla="*/ 625088 h 1541433"/>
              <a:gd name="connsiteX2-147" fmla="*/ 378041 w 549511"/>
              <a:gd name="connsiteY2-148" fmla="*/ 704850 h 1541433"/>
              <a:gd name="connsiteX3-149" fmla="*/ 378041 w 549511"/>
              <a:gd name="connsiteY3-150" fmla="*/ 631839 h 1541433"/>
              <a:gd name="connsiteX4-151" fmla="*/ 549511 w 549511"/>
              <a:gd name="connsiteY4-152" fmla="*/ 777860 h 1541433"/>
              <a:gd name="connsiteX5-153" fmla="*/ 378041 w 549511"/>
              <a:gd name="connsiteY5-154" fmla="*/ 923881 h 1541433"/>
              <a:gd name="connsiteX6-155" fmla="*/ 378041 w 549511"/>
              <a:gd name="connsiteY6-156" fmla="*/ 850871 h 1541433"/>
              <a:gd name="connsiteX7-157" fmla="*/ 253684 w 549511"/>
              <a:gd name="connsiteY7-158" fmla="*/ 920363 h 1541433"/>
              <a:gd name="connsiteX8-159" fmla="*/ 19050 w 549511"/>
              <a:gd name="connsiteY8-160" fmla="*/ 1541433 h 1541433"/>
              <a:gd name="connsiteX9-161" fmla="*/ 0 w 549511"/>
              <a:gd name="connsiteY9-162" fmla="*/ 0 h 1541433"/>
              <a:gd name="connsiteX0-163" fmla="*/ 0 w 549511"/>
              <a:gd name="connsiteY0-164" fmla="*/ 0 h 1541433"/>
              <a:gd name="connsiteX1-165" fmla="*/ 267971 w 549511"/>
              <a:gd name="connsiteY1-166" fmla="*/ 625088 h 1541433"/>
              <a:gd name="connsiteX2-167" fmla="*/ 378041 w 549511"/>
              <a:gd name="connsiteY2-168" fmla="*/ 704850 h 1541433"/>
              <a:gd name="connsiteX3-169" fmla="*/ 378041 w 549511"/>
              <a:gd name="connsiteY3-170" fmla="*/ 631839 h 1541433"/>
              <a:gd name="connsiteX4-171" fmla="*/ 549511 w 549511"/>
              <a:gd name="connsiteY4-172" fmla="*/ 777860 h 1541433"/>
              <a:gd name="connsiteX5-173" fmla="*/ 378041 w 549511"/>
              <a:gd name="connsiteY5-174" fmla="*/ 923881 h 1541433"/>
              <a:gd name="connsiteX6-175" fmla="*/ 378041 w 549511"/>
              <a:gd name="connsiteY6-176" fmla="*/ 850871 h 1541433"/>
              <a:gd name="connsiteX7-177" fmla="*/ 253684 w 549511"/>
              <a:gd name="connsiteY7-178" fmla="*/ 920363 h 1541433"/>
              <a:gd name="connsiteX8-179" fmla="*/ 19050 w 549511"/>
              <a:gd name="connsiteY8-180" fmla="*/ 1541433 h 1541433"/>
              <a:gd name="connsiteX9-181" fmla="*/ 0 w 549511"/>
              <a:gd name="connsiteY9-182" fmla="*/ 0 h 1541433"/>
              <a:gd name="connsiteX0-183" fmla="*/ 0 w 549511"/>
              <a:gd name="connsiteY0-184" fmla="*/ 0 h 1541433"/>
              <a:gd name="connsiteX1-185" fmla="*/ 267971 w 549511"/>
              <a:gd name="connsiteY1-186" fmla="*/ 625088 h 1541433"/>
              <a:gd name="connsiteX2-187" fmla="*/ 378041 w 549511"/>
              <a:gd name="connsiteY2-188" fmla="*/ 704850 h 1541433"/>
              <a:gd name="connsiteX3-189" fmla="*/ 378041 w 549511"/>
              <a:gd name="connsiteY3-190" fmla="*/ 631839 h 1541433"/>
              <a:gd name="connsiteX4-191" fmla="*/ 549511 w 549511"/>
              <a:gd name="connsiteY4-192" fmla="*/ 777860 h 1541433"/>
              <a:gd name="connsiteX5-193" fmla="*/ 378041 w 549511"/>
              <a:gd name="connsiteY5-194" fmla="*/ 923881 h 1541433"/>
              <a:gd name="connsiteX6-195" fmla="*/ 378041 w 549511"/>
              <a:gd name="connsiteY6-196" fmla="*/ 850871 h 1541433"/>
              <a:gd name="connsiteX7-197" fmla="*/ 241778 w 549511"/>
              <a:gd name="connsiteY7-198" fmla="*/ 958463 h 1541433"/>
              <a:gd name="connsiteX8-199" fmla="*/ 19050 w 549511"/>
              <a:gd name="connsiteY8-200" fmla="*/ 1541433 h 1541433"/>
              <a:gd name="connsiteX9-201" fmla="*/ 0 w 549511"/>
              <a:gd name="connsiteY9-202" fmla="*/ 0 h 1541433"/>
              <a:gd name="connsiteX0-203" fmla="*/ 0 w 549511"/>
              <a:gd name="connsiteY0-204" fmla="*/ 0 h 1541433"/>
              <a:gd name="connsiteX1-205" fmla="*/ 267971 w 549511"/>
              <a:gd name="connsiteY1-206" fmla="*/ 625088 h 1541433"/>
              <a:gd name="connsiteX2-207" fmla="*/ 378041 w 549511"/>
              <a:gd name="connsiteY2-208" fmla="*/ 704850 h 1541433"/>
              <a:gd name="connsiteX3-209" fmla="*/ 378041 w 549511"/>
              <a:gd name="connsiteY3-210" fmla="*/ 631839 h 1541433"/>
              <a:gd name="connsiteX4-211" fmla="*/ 549511 w 549511"/>
              <a:gd name="connsiteY4-212" fmla="*/ 777860 h 1541433"/>
              <a:gd name="connsiteX5-213" fmla="*/ 378041 w 549511"/>
              <a:gd name="connsiteY5-214" fmla="*/ 923881 h 1541433"/>
              <a:gd name="connsiteX6-215" fmla="*/ 378041 w 549511"/>
              <a:gd name="connsiteY6-216" fmla="*/ 850871 h 1541433"/>
              <a:gd name="connsiteX7-217" fmla="*/ 241778 w 549511"/>
              <a:gd name="connsiteY7-218" fmla="*/ 958463 h 1541433"/>
              <a:gd name="connsiteX8-219" fmla="*/ 19050 w 549511"/>
              <a:gd name="connsiteY8-220" fmla="*/ 1541433 h 1541433"/>
              <a:gd name="connsiteX9-221" fmla="*/ 0 w 549511"/>
              <a:gd name="connsiteY9-222" fmla="*/ 0 h 1541433"/>
              <a:gd name="connsiteX0-223" fmla="*/ 0 w 549511"/>
              <a:gd name="connsiteY0-224" fmla="*/ 0 h 1541433"/>
              <a:gd name="connsiteX1-225" fmla="*/ 267971 w 549511"/>
              <a:gd name="connsiteY1-226" fmla="*/ 625088 h 1541433"/>
              <a:gd name="connsiteX2-227" fmla="*/ 378041 w 549511"/>
              <a:gd name="connsiteY2-228" fmla="*/ 704850 h 1541433"/>
              <a:gd name="connsiteX3-229" fmla="*/ 378041 w 549511"/>
              <a:gd name="connsiteY3-230" fmla="*/ 631839 h 1541433"/>
              <a:gd name="connsiteX4-231" fmla="*/ 549511 w 549511"/>
              <a:gd name="connsiteY4-232" fmla="*/ 777860 h 1541433"/>
              <a:gd name="connsiteX5-233" fmla="*/ 378041 w 549511"/>
              <a:gd name="connsiteY5-234" fmla="*/ 923881 h 1541433"/>
              <a:gd name="connsiteX6-235" fmla="*/ 378041 w 549511"/>
              <a:gd name="connsiteY6-236" fmla="*/ 850871 h 1541433"/>
              <a:gd name="connsiteX7-237" fmla="*/ 287021 w 549511"/>
              <a:gd name="connsiteY7-238" fmla="*/ 917981 h 1541433"/>
              <a:gd name="connsiteX8-239" fmla="*/ 19050 w 549511"/>
              <a:gd name="connsiteY8-240" fmla="*/ 1541433 h 1541433"/>
              <a:gd name="connsiteX9-241" fmla="*/ 0 w 549511"/>
              <a:gd name="connsiteY9-242" fmla="*/ 0 h 1541433"/>
              <a:gd name="connsiteX0-243" fmla="*/ 0 w 549511"/>
              <a:gd name="connsiteY0-244" fmla="*/ 0 h 1541433"/>
              <a:gd name="connsiteX1-245" fmla="*/ 267971 w 549511"/>
              <a:gd name="connsiteY1-246" fmla="*/ 625088 h 1541433"/>
              <a:gd name="connsiteX2-247" fmla="*/ 378041 w 549511"/>
              <a:gd name="connsiteY2-248" fmla="*/ 704850 h 1541433"/>
              <a:gd name="connsiteX3-249" fmla="*/ 378041 w 549511"/>
              <a:gd name="connsiteY3-250" fmla="*/ 631839 h 1541433"/>
              <a:gd name="connsiteX4-251" fmla="*/ 549511 w 549511"/>
              <a:gd name="connsiteY4-252" fmla="*/ 777860 h 1541433"/>
              <a:gd name="connsiteX5-253" fmla="*/ 378041 w 549511"/>
              <a:gd name="connsiteY5-254" fmla="*/ 923881 h 1541433"/>
              <a:gd name="connsiteX6-255" fmla="*/ 378041 w 549511"/>
              <a:gd name="connsiteY6-256" fmla="*/ 850871 h 1541433"/>
              <a:gd name="connsiteX7-257" fmla="*/ 287021 w 549511"/>
              <a:gd name="connsiteY7-258" fmla="*/ 917981 h 1541433"/>
              <a:gd name="connsiteX8-259" fmla="*/ 19050 w 549511"/>
              <a:gd name="connsiteY8-260" fmla="*/ 1541433 h 1541433"/>
              <a:gd name="connsiteX9-261" fmla="*/ 0 w 549511"/>
              <a:gd name="connsiteY9-262" fmla="*/ 0 h 1541433"/>
              <a:gd name="connsiteX0-263" fmla="*/ 0 w 549511"/>
              <a:gd name="connsiteY0-264" fmla="*/ 0 h 1541433"/>
              <a:gd name="connsiteX1-265" fmla="*/ 267971 w 549511"/>
              <a:gd name="connsiteY1-266" fmla="*/ 625088 h 1541433"/>
              <a:gd name="connsiteX2-267" fmla="*/ 378041 w 549511"/>
              <a:gd name="connsiteY2-268" fmla="*/ 704850 h 1541433"/>
              <a:gd name="connsiteX3-269" fmla="*/ 378041 w 549511"/>
              <a:gd name="connsiteY3-270" fmla="*/ 631839 h 1541433"/>
              <a:gd name="connsiteX4-271" fmla="*/ 549511 w 549511"/>
              <a:gd name="connsiteY4-272" fmla="*/ 777860 h 1541433"/>
              <a:gd name="connsiteX5-273" fmla="*/ 378041 w 549511"/>
              <a:gd name="connsiteY5-274" fmla="*/ 923881 h 1541433"/>
              <a:gd name="connsiteX6-275" fmla="*/ 378041 w 549511"/>
              <a:gd name="connsiteY6-276" fmla="*/ 850871 h 1541433"/>
              <a:gd name="connsiteX7-277" fmla="*/ 287021 w 549511"/>
              <a:gd name="connsiteY7-278" fmla="*/ 917981 h 1541433"/>
              <a:gd name="connsiteX8-279" fmla="*/ 19050 w 549511"/>
              <a:gd name="connsiteY8-280" fmla="*/ 1541433 h 1541433"/>
              <a:gd name="connsiteX9-281" fmla="*/ 0 w 549511"/>
              <a:gd name="connsiteY9-282" fmla="*/ 0 h 1541433"/>
              <a:gd name="connsiteX0-283" fmla="*/ 0 w 549511"/>
              <a:gd name="connsiteY0-284" fmla="*/ 0 h 1541433"/>
              <a:gd name="connsiteX1-285" fmla="*/ 303689 w 549511"/>
              <a:gd name="connsiteY1-286" fmla="*/ 658426 h 1541433"/>
              <a:gd name="connsiteX2-287" fmla="*/ 378041 w 549511"/>
              <a:gd name="connsiteY2-288" fmla="*/ 704850 h 1541433"/>
              <a:gd name="connsiteX3-289" fmla="*/ 378041 w 549511"/>
              <a:gd name="connsiteY3-290" fmla="*/ 631839 h 1541433"/>
              <a:gd name="connsiteX4-291" fmla="*/ 549511 w 549511"/>
              <a:gd name="connsiteY4-292" fmla="*/ 777860 h 1541433"/>
              <a:gd name="connsiteX5-293" fmla="*/ 378041 w 549511"/>
              <a:gd name="connsiteY5-294" fmla="*/ 923881 h 1541433"/>
              <a:gd name="connsiteX6-295" fmla="*/ 378041 w 549511"/>
              <a:gd name="connsiteY6-296" fmla="*/ 850871 h 1541433"/>
              <a:gd name="connsiteX7-297" fmla="*/ 287021 w 549511"/>
              <a:gd name="connsiteY7-298" fmla="*/ 917981 h 1541433"/>
              <a:gd name="connsiteX8-299" fmla="*/ 19050 w 549511"/>
              <a:gd name="connsiteY8-300" fmla="*/ 1541433 h 1541433"/>
              <a:gd name="connsiteX9-301" fmla="*/ 0 w 549511"/>
              <a:gd name="connsiteY9-302" fmla="*/ 0 h 1541433"/>
              <a:gd name="connsiteX0-303" fmla="*/ 0 w 549511"/>
              <a:gd name="connsiteY0-304" fmla="*/ 0 h 1541433"/>
              <a:gd name="connsiteX1-305" fmla="*/ 303689 w 549511"/>
              <a:gd name="connsiteY1-306" fmla="*/ 658426 h 1541433"/>
              <a:gd name="connsiteX2-307" fmla="*/ 378041 w 549511"/>
              <a:gd name="connsiteY2-308" fmla="*/ 704850 h 1541433"/>
              <a:gd name="connsiteX3-309" fmla="*/ 378041 w 549511"/>
              <a:gd name="connsiteY3-310" fmla="*/ 631839 h 1541433"/>
              <a:gd name="connsiteX4-311" fmla="*/ 549511 w 549511"/>
              <a:gd name="connsiteY4-312" fmla="*/ 777860 h 1541433"/>
              <a:gd name="connsiteX5-313" fmla="*/ 378041 w 549511"/>
              <a:gd name="connsiteY5-314" fmla="*/ 923881 h 1541433"/>
              <a:gd name="connsiteX6-315" fmla="*/ 378041 w 549511"/>
              <a:gd name="connsiteY6-316" fmla="*/ 850871 h 1541433"/>
              <a:gd name="connsiteX7-317" fmla="*/ 287021 w 549511"/>
              <a:gd name="connsiteY7-318" fmla="*/ 917981 h 1541433"/>
              <a:gd name="connsiteX8-319" fmla="*/ 19050 w 549511"/>
              <a:gd name="connsiteY8-320" fmla="*/ 1541433 h 1541433"/>
              <a:gd name="connsiteX9-321" fmla="*/ 0 w 549511"/>
              <a:gd name="connsiteY9-322" fmla="*/ 0 h 1541433"/>
              <a:gd name="connsiteX0-323" fmla="*/ 0 w 549511"/>
              <a:gd name="connsiteY0-324" fmla="*/ 0 h 1541433"/>
              <a:gd name="connsiteX1-325" fmla="*/ 303689 w 549511"/>
              <a:gd name="connsiteY1-326" fmla="*/ 658426 h 1541433"/>
              <a:gd name="connsiteX2-327" fmla="*/ 378041 w 549511"/>
              <a:gd name="connsiteY2-328" fmla="*/ 704850 h 1541433"/>
              <a:gd name="connsiteX3-329" fmla="*/ 378041 w 549511"/>
              <a:gd name="connsiteY3-330" fmla="*/ 631839 h 1541433"/>
              <a:gd name="connsiteX4-331" fmla="*/ 549511 w 549511"/>
              <a:gd name="connsiteY4-332" fmla="*/ 777860 h 1541433"/>
              <a:gd name="connsiteX5-333" fmla="*/ 378041 w 549511"/>
              <a:gd name="connsiteY5-334" fmla="*/ 923881 h 1541433"/>
              <a:gd name="connsiteX6-335" fmla="*/ 378041 w 549511"/>
              <a:gd name="connsiteY6-336" fmla="*/ 850871 h 1541433"/>
              <a:gd name="connsiteX7-337" fmla="*/ 246542 w 549511"/>
              <a:gd name="connsiteY7-338" fmla="*/ 972243 h 1541433"/>
              <a:gd name="connsiteX8-339" fmla="*/ 19050 w 549511"/>
              <a:gd name="connsiteY8-340" fmla="*/ 1541433 h 1541433"/>
              <a:gd name="connsiteX9-341" fmla="*/ 0 w 549511"/>
              <a:gd name="connsiteY9-342" fmla="*/ 0 h 1541433"/>
              <a:gd name="connsiteX0-343" fmla="*/ 0 w 549511"/>
              <a:gd name="connsiteY0-344" fmla="*/ 0 h 1541433"/>
              <a:gd name="connsiteX1-345" fmla="*/ 303689 w 549511"/>
              <a:gd name="connsiteY1-346" fmla="*/ 658426 h 1541433"/>
              <a:gd name="connsiteX2-347" fmla="*/ 378041 w 549511"/>
              <a:gd name="connsiteY2-348" fmla="*/ 704850 h 1541433"/>
              <a:gd name="connsiteX3-349" fmla="*/ 378041 w 549511"/>
              <a:gd name="connsiteY3-350" fmla="*/ 631839 h 1541433"/>
              <a:gd name="connsiteX4-351" fmla="*/ 549511 w 549511"/>
              <a:gd name="connsiteY4-352" fmla="*/ 777860 h 1541433"/>
              <a:gd name="connsiteX5-353" fmla="*/ 378041 w 549511"/>
              <a:gd name="connsiteY5-354" fmla="*/ 923881 h 1541433"/>
              <a:gd name="connsiteX6-355" fmla="*/ 378041 w 549511"/>
              <a:gd name="connsiteY6-356" fmla="*/ 850871 h 1541433"/>
              <a:gd name="connsiteX7-357" fmla="*/ 246542 w 549511"/>
              <a:gd name="connsiteY7-358" fmla="*/ 972243 h 1541433"/>
              <a:gd name="connsiteX8-359" fmla="*/ 19050 w 549511"/>
              <a:gd name="connsiteY8-360" fmla="*/ 1541433 h 1541433"/>
              <a:gd name="connsiteX9-361" fmla="*/ 0 w 549511"/>
              <a:gd name="connsiteY9-362" fmla="*/ 0 h 1541433"/>
              <a:gd name="connsiteX0-363" fmla="*/ 0 w 549511"/>
              <a:gd name="connsiteY0-364" fmla="*/ 0 h 1541433"/>
              <a:gd name="connsiteX1-365" fmla="*/ 303689 w 549511"/>
              <a:gd name="connsiteY1-366" fmla="*/ 658426 h 1541433"/>
              <a:gd name="connsiteX2-367" fmla="*/ 378041 w 549511"/>
              <a:gd name="connsiteY2-368" fmla="*/ 704850 h 1541433"/>
              <a:gd name="connsiteX3-369" fmla="*/ 378041 w 549511"/>
              <a:gd name="connsiteY3-370" fmla="*/ 631839 h 1541433"/>
              <a:gd name="connsiteX4-371" fmla="*/ 549511 w 549511"/>
              <a:gd name="connsiteY4-372" fmla="*/ 777860 h 1541433"/>
              <a:gd name="connsiteX5-373" fmla="*/ 378041 w 549511"/>
              <a:gd name="connsiteY5-374" fmla="*/ 923881 h 1541433"/>
              <a:gd name="connsiteX6-375" fmla="*/ 378041 w 549511"/>
              <a:gd name="connsiteY6-376" fmla="*/ 850871 h 1541433"/>
              <a:gd name="connsiteX7-377" fmla="*/ 246542 w 549511"/>
              <a:gd name="connsiteY7-378" fmla="*/ 972243 h 1541433"/>
              <a:gd name="connsiteX8-379" fmla="*/ 19050 w 549511"/>
              <a:gd name="connsiteY8-380" fmla="*/ 1541433 h 1541433"/>
              <a:gd name="connsiteX9-381" fmla="*/ 0 w 549511"/>
              <a:gd name="connsiteY9-382" fmla="*/ 0 h 1541433"/>
              <a:gd name="connsiteX0-383" fmla="*/ 0 w 549511"/>
              <a:gd name="connsiteY0-384" fmla="*/ 0 h 1541433"/>
              <a:gd name="connsiteX1-385" fmla="*/ 303689 w 549511"/>
              <a:gd name="connsiteY1-386" fmla="*/ 658426 h 1541433"/>
              <a:gd name="connsiteX2-387" fmla="*/ 378041 w 549511"/>
              <a:gd name="connsiteY2-388" fmla="*/ 704850 h 1541433"/>
              <a:gd name="connsiteX3-389" fmla="*/ 378041 w 549511"/>
              <a:gd name="connsiteY3-390" fmla="*/ 631839 h 1541433"/>
              <a:gd name="connsiteX4-391" fmla="*/ 549511 w 549511"/>
              <a:gd name="connsiteY4-392" fmla="*/ 777860 h 1541433"/>
              <a:gd name="connsiteX5-393" fmla="*/ 378041 w 549511"/>
              <a:gd name="connsiteY5-394" fmla="*/ 923881 h 1541433"/>
              <a:gd name="connsiteX6-395" fmla="*/ 378041 w 549511"/>
              <a:gd name="connsiteY6-396" fmla="*/ 850871 h 1541433"/>
              <a:gd name="connsiteX7-397" fmla="*/ 246542 w 549511"/>
              <a:gd name="connsiteY7-398" fmla="*/ 972243 h 1541433"/>
              <a:gd name="connsiteX8-399" fmla="*/ 19050 w 549511"/>
              <a:gd name="connsiteY8-400" fmla="*/ 1541433 h 1541433"/>
              <a:gd name="connsiteX9-401" fmla="*/ 0 w 549511"/>
              <a:gd name="connsiteY9-402" fmla="*/ 0 h 1541433"/>
              <a:gd name="connsiteX0-403" fmla="*/ 0 w 549511"/>
              <a:gd name="connsiteY0-404" fmla="*/ 0 h 1541433"/>
              <a:gd name="connsiteX1-405" fmla="*/ 303689 w 549511"/>
              <a:gd name="connsiteY1-406" fmla="*/ 658426 h 1541433"/>
              <a:gd name="connsiteX2-407" fmla="*/ 378041 w 549511"/>
              <a:gd name="connsiteY2-408" fmla="*/ 704850 h 1541433"/>
              <a:gd name="connsiteX3-409" fmla="*/ 378041 w 549511"/>
              <a:gd name="connsiteY3-410" fmla="*/ 631839 h 1541433"/>
              <a:gd name="connsiteX4-411" fmla="*/ 549511 w 549511"/>
              <a:gd name="connsiteY4-412" fmla="*/ 777860 h 1541433"/>
              <a:gd name="connsiteX5-413" fmla="*/ 378041 w 549511"/>
              <a:gd name="connsiteY5-414" fmla="*/ 923881 h 1541433"/>
              <a:gd name="connsiteX6-415" fmla="*/ 378041 w 549511"/>
              <a:gd name="connsiteY6-416" fmla="*/ 850871 h 1541433"/>
              <a:gd name="connsiteX7-417" fmla="*/ 249719 w 549511"/>
              <a:gd name="connsiteY7-418" fmla="*/ 982109 h 1541433"/>
              <a:gd name="connsiteX8-419" fmla="*/ 19050 w 549511"/>
              <a:gd name="connsiteY8-420" fmla="*/ 1541433 h 1541433"/>
              <a:gd name="connsiteX9-421" fmla="*/ 0 w 549511"/>
              <a:gd name="connsiteY9-422" fmla="*/ 0 h 1541433"/>
              <a:gd name="connsiteX0-423" fmla="*/ 0 w 549511"/>
              <a:gd name="connsiteY0-424" fmla="*/ 0 h 1541433"/>
              <a:gd name="connsiteX1-425" fmla="*/ 303689 w 549511"/>
              <a:gd name="connsiteY1-426" fmla="*/ 658426 h 1541433"/>
              <a:gd name="connsiteX2-427" fmla="*/ 378041 w 549511"/>
              <a:gd name="connsiteY2-428" fmla="*/ 704850 h 1541433"/>
              <a:gd name="connsiteX3-429" fmla="*/ 378041 w 549511"/>
              <a:gd name="connsiteY3-430" fmla="*/ 631839 h 1541433"/>
              <a:gd name="connsiteX4-431" fmla="*/ 549511 w 549511"/>
              <a:gd name="connsiteY4-432" fmla="*/ 777860 h 1541433"/>
              <a:gd name="connsiteX5-433" fmla="*/ 378041 w 549511"/>
              <a:gd name="connsiteY5-434" fmla="*/ 923881 h 1541433"/>
              <a:gd name="connsiteX6-435" fmla="*/ 378041 w 549511"/>
              <a:gd name="connsiteY6-436" fmla="*/ 850871 h 1541433"/>
              <a:gd name="connsiteX7-437" fmla="*/ 249719 w 549511"/>
              <a:gd name="connsiteY7-438" fmla="*/ 982109 h 1541433"/>
              <a:gd name="connsiteX8-439" fmla="*/ 19050 w 549511"/>
              <a:gd name="connsiteY8-440" fmla="*/ 1541433 h 1541433"/>
              <a:gd name="connsiteX9-441" fmla="*/ 0 w 549511"/>
              <a:gd name="connsiteY9-442" fmla="*/ 0 h 1541433"/>
              <a:gd name="connsiteX0-443" fmla="*/ 0 w 549511"/>
              <a:gd name="connsiteY0-444" fmla="*/ 0 h 1541433"/>
              <a:gd name="connsiteX1-445" fmla="*/ 303689 w 549511"/>
              <a:gd name="connsiteY1-446" fmla="*/ 658426 h 1541433"/>
              <a:gd name="connsiteX2-447" fmla="*/ 378041 w 549511"/>
              <a:gd name="connsiteY2-448" fmla="*/ 704850 h 1541433"/>
              <a:gd name="connsiteX3-449" fmla="*/ 378041 w 549511"/>
              <a:gd name="connsiteY3-450" fmla="*/ 631839 h 1541433"/>
              <a:gd name="connsiteX4-451" fmla="*/ 549511 w 549511"/>
              <a:gd name="connsiteY4-452" fmla="*/ 777860 h 1541433"/>
              <a:gd name="connsiteX5-453" fmla="*/ 378041 w 549511"/>
              <a:gd name="connsiteY5-454" fmla="*/ 923881 h 1541433"/>
              <a:gd name="connsiteX6-455" fmla="*/ 378041 w 549511"/>
              <a:gd name="connsiteY6-456" fmla="*/ 850871 h 1541433"/>
              <a:gd name="connsiteX7-457" fmla="*/ 249719 w 549511"/>
              <a:gd name="connsiteY7-458" fmla="*/ 982109 h 1541433"/>
              <a:gd name="connsiteX8-459" fmla="*/ 19050 w 549511"/>
              <a:gd name="connsiteY8-460" fmla="*/ 1541433 h 1541433"/>
              <a:gd name="connsiteX9-461" fmla="*/ 0 w 549511"/>
              <a:gd name="connsiteY9-462" fmla="*/ 0 h 1541433"/>
              <a:gd name="connsiteX0-463" fmla="*/ 0 w 549511"/>
              <a:gd name="connsiteY0-464" fmla="*/ 0 h 1541433"/>
              <a:gd name="connsiteX1-465" fmla="*/ 303689 w 549511"/>
              <a:gd name="connsiteY1-466" fmla="*/ 658426 h 1541433"/>
              <a:gd name="connsiteX2-467" fmla="*/ 378041 w 549511"/>
              <a:gd name="connsiteY2-468" fmla="*/ 704850 h 1541433"/>
              <a:gd name="connsiteX3-469" fmla="*/ 378041 w 549511"/>
              <a:gd name="connsiteY3-470" fmla="*/ 631839 h 1541433"/>
              <a:gd name="connsiteX4-471" fmla="*/ 549511 w 549511"/>
              <a:gd name="connsiteY4-472" fmla="*/ 777860 h 1541433"/>
              <a:gd name="connsiteX5-473" fmla="*/ 378041 w 549511"/>
              <a:gd name="connsiteY5-474" fmla="*/ 923881 h 1541433"/>
              <a:gd name="connsiteX6-475" fmla="*/ 378041 w 549511"/>
              <a:gd name="connsiteY6-476" fmla="*/ 850871 h 1541433"/>
              <a:gd name="connsiteX7-477" fmla="*/ 249719 w 549511"/>
              <a:gd name="connsiteY7-478" fmla="*/ 982109 h 1541433"/>
              <a:gd name="connsiteX8-479" fmla="*/ 19050 w 549511"/>
              <a:gd name="connsiteY8-480" fmla="*/ 1541433 h 1541433"/>
              <a:gd name="connsiteX9-481" fmla="*/ 0 w 549511"/>
              <a:gd name="connsiteY9-482" fmla="*/ 0 h 1541433"/>
              <a:gd name="connsiteX0-483" fmla="*/ 0 w 549511"/>
              <a:gd name="connsiteY0-484" fmla="*/ 0 h 1541433"/>
              <a:gd name="connsiteX1-485" fmla="*/ 262416 w 549511"/>
              <a:gd name="connsiteY1-486" fmla="*/ 614577 h 1541433"/>
              <a:gd name="connsiteX2-487" fmla="*/ 378041 w 549511"/>
              <a:gd name="connsiteY2-488" fmla="*/ 704850 h 1541433"/>
              <a:gd name="connsiteX3-489" fmla="*/ 378041 w 549511"/>
              <a:gd name="connsiteY3-490" fmla="*/ 631839 h 1541433"/>
              <a:gd name="connsiteX4-491" fmla="*/ 549511 w 549511"/>
              <a:gd name="connsiteY4-492" fmla="*/ 777860 h 1541433"/>
              <a:gd name="connsiteX5-493" fmla="*/ 378041 w 549511"/>
              <a:gd name="connsiteY5-494" fmla="*/ 923881 h 1541433"/>
              <a:gd name="connsiteX6-495" fmla="*/ 378041 w 549511"/>
              <a:gd name="connsiteY6-496" fmla="*/ 850871 h 1541433"/>
              <a:gd name="connsiteX7-497" fmla="*/ 249719 w 549511"/>
              <a:gd name="connsiteY7-498" fmla="*/ 982109 h 1541433"/>
              <a:gd name="connsiteX8-499" fmla="*/ 19050 w 549511"/>
              <a:gd name="connsiteY8-500" fmla="*/ 1541433 h 1541433"/>
              <a:gd name="connsiteX9-501" fmla="*/ 0 w 549511"/>
              <a:gd name="connsiteY9-502" fmla="*/ 0 h 1541433"/>
              <a:gd name="connsiteX0-503" fmla="*/ 0 w 549511"/>
              <a:gd name="connsiteY0-504" fmla="*/ 0 h 1541433"/>
              <a:gd name="connsiteX1-505" fmla="*/ 262416 w 549511"/>
              <a:gd name="connsiteY1-506" fmla="*/ 614577 h 1541433"/>
              <a:gd name="connsiteX2-507" fmla="*/ 378041 w 549511"/>
              <a:gd name="connsiteY2-508" fmla="*/ 704850 h 1541433"/>
              <a:gd name="connsiteX3-509" fmla="*/ 378041 w 549511"/>
              <a:gd name="connsiteY3-510" fmla="*/ 631839 h 1541433"/>
              <a:gd name="connsiteX4-511" fmla="*/ 549511 w 549511"/>
              <a:gd name="connsiteY4-512" fmla="*/ 777860 h 1541433"/>
              <a:gd name="connsiteX5-513" fmla="*/ 378041 w 549511"/>
              <a:gd name="connsiteY5-514" fmla="*/ 923881 h 1541433"/>
              <a:gd name="connsiteX6-515" fmla="*/ 437574 w 549511"/>
              <a:gd name="connsiteY6-516" fmla="*/ 846760 h 1541433"/>
              <a:gd name="connsiteX7-517" fmla="*/ 249719 w 549511"/>
              <a:gd name="connsiteY7-518" fmla="*/ 982109 h 1541433"/>
              <a:gd name="connsiteX8-519" fmla="*/ 19050 w 549511"/>
              <a:gd name="connsiteY8-520" fmla="*/ 1541433 h 1541433"/>
              <a:gd name="connsiteX9-521" fmla="*/ 0 w 549511"/>
              <a:gd name="connsiteY9-522" fmla="*/ 0 h 1541433"/>
              <a:gd name="connsiteX0-523" fmla="*/ 0 w 549511"/>
              <a:gd name="connsiteY0-524" fmla="*/ 0 h 1541433"/>
              <a:gd name="connsiteX1-525" fmla="*/ 262416 w 549511"/>
              <a:gd name="connsiteY1-526" fmla="*/ 614577 h 1541433"/>
              <a:gd name="connsiteX2-527" fmla="*/ 437574 w 549511"/>
              <a:gd name="connsiteY2-528" fmla="*/ 713894 h 1541433"/>
              <a:gd name="connsiteX3-529" fmla="*/ 378041 w 549511"/>
              <a:gd name="connsiteY3-530" fmla="*/ 631839 h 1541433"/>
              <a:gd name="connsiteX4-531" fmla="*/ 549511 w 549511"/>
              <a:gd name="connsiteY4-532" fmla="*/ 777860 h 1541433"/>
              <a:gd name="connsiteX5-533" fmla="*/ 378041 w 549511"/>
              <a:gd name="connsiteY5-534" fmla="*/ 923881 h 1541433"/>
              <a:gd name="connsiteX6-535" fmla="*/ 437574 w 549511"/>
              <a:gd name="connsiteY6-536" fmla="*/ 846760 h 1541433"/>
              <a:gd name="connsiteX7-537" fmla="*/ 249719 w 549511"/>
              <a:gd name="connsiteY7-538" fmla="*/ 982109 h 1541433"/>
              <a:gd name="connsiteX8-539" fmla="*/ 19050 w 549511"/>
              <a:gd name="connsiteY8-540" fmla="*/ 1541433 h 1541433"/>
              <a:gd name="connsiteX9-541" fmla="*/ 0 w 549511"/>
              <a:gd name="connsiteY9-542" fmla="*/ 0 h 154143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65" y="connsiteY8-66"/>
              </a:cxn>
              <a:cxn ang="0">
                <a:pos x="connsiteX9-121" y="connsiteY9-122"/>
              </a:cxn>
            </a:cxnLst>
            <a:rect l="l" t="t" r="r" b="b"/>
            <a:pathLst>
              <a:path w="549511" h="1541433">
                <a:moveTo>
                  <a:pt x="0" y="0"/>
                </a:moveTo>
                <a:cubicBezTo>
                  <a:pt x="108374" y="201219"/>
                  <a:pt x="165948" y="544327"/>
                  <a:pt x="262416" y="614577"/>
                </a:cubicBezTo>
                <a:cubicBezTo>
                  <a:pt x="394356" y="714983"/>
                  <a:pt x="400884" y="687307"/>
                  <a:pt x="437574" y="713894"/>
                </a:cubicBezTo>
                <a:lnTo>
                  <a:pt x="378041" y="631839"/>
                </a:lnTo>
                <a:lnTo>
                  <a:pt x="549511" y="777860"/>
                </a:lnTo>
                <a:lnTo>
                  <a:pt x="378041" y="923881"/>
                </a:lnTo>
                <a:lnTo>
                  <a:pt x="437574" y="846760"/>
                </a:lnTo>
                <a:cubicBezTo>
                  <a:pt x="415172" y="892149"/>
                  <a:pt x="297535" y="887263"/>
                  <a:pt x="249719" y="982109"/>
                </a:cubicBezTo>
                <a:lnTo>
                  <a:pt x="19050" y="1541433"/>
                </a:lnTo>
                <a:lnTo>
                  <a:pt x="0" y="0"/>
                </a:lnTo>
                <a:close/>
              </a:path>
            </a:pathLst>
          </a:custGeom>
          <a:gradFill flip="none" rotWithShape="1">
            <a:gsLst>
              <a:gs pos="0">
                <a:schemeClr val="bg1"/>
              </a:gs>
              <a:gs pos="90000">
                <a:srgbClr val="6A9BCB"/>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590" name="文本框 10"/>
          <p:cNvSpPr txBox="1"/>
          <p:nvPr/>
        </p:nvSpPr>
        <p:spPr>
          <a:xfrm>
            <a:off x="7124700" y="899160"/>
            <a:ext cx="4300855" cy="460375"/>
          </a:xfrm>
          <a:prstGeom prst="rect">
            <a:avLst/>
          </a:prstGeom>
        </p:spPr>
        <p:style>
          <a:lnRef idx="0">
            <a:srgbClr val="FFFFFF"/>
          </a:lnRef>
          <a:fillRef idx="2">
            <a:schemeClr val="accent2"/>
          </a:fillRef>
          <a:effectRef idx="1">
            <a:schemeClr val="accent2"/>
          </a:effectRef>
          <a:fontRef idx="minor">
            <a:schemeClr val="lt1"/>
          </a:fontRef>
        </p:style>
        <p:txBody>
          <a:bodyPr wrap="square" rtlCol="0">
            <a:spAutoFit/>
          </a:bodyPr>
          <a:lstStyle/>
          <a:p>
            <a:pPr algn="ctr">
              <a:buClrTx/>
              <a:buSzTx/>
              <a:buFontTx/>
            </a:pPr>
            <a:r>
              <a:rPr lang="zh-CN" altLang="en-US" sz="2400" b="1" dirty="0">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基于EIS 的电池快速检测技术</a:t>
            </a:r>
          </a:p>
        </p:txBody>
      </p:sp>
      <p:pic>
        <p:nvPicPr>
          <p:cNvPr id="2097156" name="图片 11"/>
          <p:cNvPicPr>
            <a:picLocks noChangeAspect="1"/>
          </p:cNvPicPr>
          <p:nvPr>
            <p:custDataLst>
              <p:tags r:id="rId3"/>
            </p:custDataLst>
          </p:nvPr>
        </p:nvPicPr>
        <p:blipFill>
          <a:blip r:embed="rId7" cstate="print"/>
          <a:stretch>
            <a:fillRect/>
          </a:stretch>
        </p:blipFill>
        <p:spPr>
          <a:xfrm>
            <a:off x="6791960" y="3429000"/>
            <a:ext cx="4826635" cy="2860675"/>
          </a:xfrm>
          <a:prstGeom prst="rect">
            <a:avLst/>
          </a:prstGeom>
          <a:ln>
            <a:noFill/>
          </a:ln>
          <a:effectLst>
            <a:outerShdw blurRad="50800" dist="38100" dir="2700000" algn="tl" rotWithShape="0">
              <a:prstClr val="black">
                <a:alpha val="40000"/>
              </a:prstClr>
            </a:outerShdw>
          </a:effectLst>
        </p:spPr>
      </p:pic>
      <p:sp>
        <p:nvSpPr>
          <p:cNvPr id="1048591" name="圆角矩形 12"/>
          <p:cNvSpPr/>
          <p:nvPr/>
        </p:nvSpPr>
        <p:spPr>
          <a:xfrm>
            <a:off x="7245985" y="882650"/>
            <a:ext cx="1233170" cy="546100"/>
          </a:xfrm>
          <a:prstGeom prst="roundRect">
            <a:avLst/>
          </a:prstGeom>
          <a:noFill/>
          <a:ln w="57150">
            <a:solidFill>
              <a:srgbClr val="C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48592" name="箭头: 下 63"/>
          <p:cNvSpPr/>
          <p:nvPr/>
        </p:nvSpPr>
        <p:spPr>
          <a:xfrm>
            <a:off x="8479155" y="1443355"/>
            <a:ext cx="1529715" cy="510540"/>
          </a:xfrm>
          <a:prstGeom prst="downArrow">
            <a:avLst>
              <a:gd name="adj1" fmla="val 50000"/>
              <a:gd name="adj2" fmla="val 50000"/>
            </a:avLst>
          </a:prstGeom>
          <a:gradFill flip="none" rotWithShape="1">
            <a:gsLst>
              <a:gs pos="4000">
                <a:schemeClr val="accent1">
                  <a:lumMod val="0"/>
                  <a:lumOff val="100000"/>
                </a:schemeClr>
              </a:gs>
              <a:gs pos="100000">
                <a:schemeClr val="accent1">
                  <a:lumMod val="10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22"/>
          <p:cNvGrpSpPr/>
          <p:nvPr/>
        </p:nvGrpSpPr>
        <p:grpSpPr>
          <a:xfrm>
            <a:off x="631825" y="842010"/>
            <a:ext cx="4966970" cy="5674995"/>
            <a:chOff x="874" y="1326"/>
            <a:chExt cx="7280" cy="8472"/>
          </a:xfrm>
        </p:grpSpPr>
        <p:sp>
          <p:nvSpPr>
            <p:cNvPr id="1048593" name="文本框 3"/>
            <p:cNvSpPr txBox="1"/>
            <p:nvPr/>
          </p:nvSpPr>
          <p:spPr>
            <a:xfrm>
              <a:off x="1147" y="1416"/>
              <a:ext cx="6773" cy="687"/>
            </a:xfrm>
            <a:prstGeom prst="rect">
              <a:avLst/>
            </a:prstGeom>
          </p:spPr>
          <p:style>
            <a:lnRef idx="0">
              <a:srgbClr val="FFFFFF"/>
            </a:lnRef>
            <a:fillRef idx="2">
              <a:schemeClr val="accent2"/>
            </a:fillRef>
            <a:effectRef idx="1">
              <a:schemeClr val="accent2"/>
            </a:effectRef>
            <a:fontRef idx="minor">
              <a:schemeClr val="lt1"/>
            </a:fontRef>
          </p:style>
          <p:txBody>
            <a:bodyPr wrap="square" rtlCol="0">
              <a:spAutoFit/>
            </a:bodyPr>
            <a:lstStyle/>
            <a:p>
              <a:pPr algn="ctr"/>
              <a:r>
                <a:rPr lang="zh-CN" altLang="en-US" sz="2400" b="1" dirty="0">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电池储能：挑战与机遇并存</a:t>
              </a:r>
            </a:p>
          </p:txBody>
        </p:sp>
        <p:sp>
          <p:nvSpPr>
            <p:cNvPr id="1048594" name="箭头: 右 30"/>
            <p:cNvSpPr/>
            <p:nvPr/>
          </p:nvSpPr>
          <p:spPr>
            <a:xfrm rot="5400000">
              <a:off x="3864" y="2463"/>
              <a:ext cx="1199" cy="6443"/>
            </a:xfrm>
            <a:custGeom>
              <a:avLst/>
              <a:gdLst>
                <a:gd name="connsiteX0" fmla="*/ 0 w 535224"/>
                <a:gd name="connsiteY0" fmla="*/ 73011 h 292042"/>
                <a:gd name="connsiteX1" fmla="*/ 363754 w 535224"/>
                <a:gd name="connsiteY1" fmla="*/ 73011 h 292042"/>
                <a:gd name="connsiteX2" fmla="*/ 363754 w 535224"/>
                <a:gd name="connsiteY2" fmla="*/ 0 h 292042"/>
                <a:gd name="connsiteX3" fmla="*/ 535224 w 535224"/>
                <a:gd name="connsiteY3" fmla="*/ 146021 h 292042"/>
                <a:gd name="connsiteX4" fmla="*/ 363754 w 535224"/>
                <a:gd name="connsiteY4" fmla="*/ 292042 h 292042"/>
                <a:gd name="connsiteX5" fmla="*/ 363754 w 535224"/>
                <a:gd name="connsiteY5" fmla="*/ 219032 h 292042"/>
                <a:gd name="connsiteX6" fmla="*/ 0 w 535224"/>
                <a:gd name="connsiteY6" fmla="*/ 219032 h 292042"/>
                <a:gd name="connsiteX7" fmla="*/ 0 w 535224"/>
                <a:gd name="connsiteY7" fmla="*/ 73011 h 292042"/>
                <a:gd name="connsiteX0-1" fmla="*/ 0 w 549511"/>
                <a:gd name="connsiteY0-2" fmla="*/ 0 h 923881"/>
                <a:gd name="connsiteX1-3" fmla="*/ 378041 w 549511"/>
                <a:gd name="connsiteY1-4" fmla="*/ 704850 h 923881"/>
                <a:gd name="connsiteX2-5" fmla="*/ 378041 w 549511"/>
                <a:gd name="connsiteY2-6" fmla="*/ 631839 h 923881"/>
                <a:gd name="connsiteX3-7" fmla="*/ 549511 w 549511"/>
                <a:gd name="connsiteY3-8" fmla="*/ 777860 h 923881"/>
                <a:gd name="connsiteX4-9" fmla="*/ 378041 w 549511"/>
                <a:gd name="connsiteY4-10" fmla="*/ 923881 h 923881"/>
                <a:gd name="connsiteX5-11" fmla="*/ 378041 w 549511"/>
                <a:gd name="connsiteY5-12" fmla="*/ 850871 h 923881"/>
                <a:gd name="connsiteX6-13" fmla="*/ 14287 w 549511"/>
                <a:gd name="connsiteY6-14" fmla="*/ 850871 h 923881"/>
                <a:gd name="connsiteX7-15" fmla="*/ 0 w 549511"/>
                <a:gd name="connsiteY7-16" fmla="*/ 0 h 923881"/>
                <a:gd name="connsiteX0-17" fmla="*/ 0 w 549511"/>
                <a:gd name="connsiteY0-18" fmla="*/ 0 h 1541433"/>
                <a:gd name="connsiteX1-19" fmla="*/ 378041 w 549511"/>
                <a:gd name="connsiteY1-20" fmla="*/ 704850 h 1541433"/>
                <a:gd name="connsiteX2-21" fmla="*/ 378041 w 549511"/>
                <a:gd name="connsiteY2-22" fmla="*/ 631839 h 1541433"/>
                <a:gd name="connsiteX3-23" fmla="*/ 549511 w 549511"/>
                <a:gd name="connsiteY3-24" fmla="*/ 777860 h 1541433"/>
                <a:gd name="connsiteX4-25" fmla="*/ 378041 w 549511"/>
                <a:gd name="connsiteY4-26" fmla="*/ 923881 h 1541433"/>
                <a:gd name="connsiteX5-27" fmla="*/ 378041 w 549511"/>
                <a:gd name="connsiteY5-28" fmla="*/ 850871 h 1541433"/>
                <a:gd name="connsiteX6-29" fmla="*/ 19050 w 549511"/>
                <a:gd name="connsiteY6-30" fmla="*/ 1541433 h 1541433"/>
                <a:gd name="connsiteX7-31" fmla="*/ 0 w 549511"/>
                <a:gd name="connsiteY7-32" fmla="*/ 0 h 1541433"/>
                <a:gd name="connsiteX0-33" fmla="*/ 0 w 549511"/>
                <a:gd name="connsiteY0-34" fmla="*/ 0 h 1541433"/>
                <a:gd name="connsiteX1-35" fmla="*/ 244159 w 549511"/>
                <a:gd name="connsiteY1-36" fmla="*/ 636994 h 1541433"/>
                <a:gd name="connsiteX2-37" fmla="*/ 378041 w 549511"/>
                <a:gd name="connsiteY2-38" fmla="*/ 704850 h 1541433"/>
                <a:gd name="connsiteX3-39" fmla="*/ 378041 w 549511"/>
                <a:gd name="connsiteY3-40" fmla="*/ 631839 h 1541433"/>
                <a:gd name="connsiteX4-41" fmla="*/ 549511 w 549511"/>
                <a:gd name="connsiteY4-42" fmla="*/ 777860 h 1541433"/>
                <a:gd name="connsiteX5-43" fmla="*/ 378041 w 549511"/>
                <a:gd name="connsiteY5-44" fmla="*/ 923881 h 1541433"/>
                <a:gd name="connsiteX6-45" fmla="*/ 378041 w 549511"/>
                <a:gd name="connsiteY6-46" fmla="*/ 850871 h 1541433"/>
                <a:gd name="connsiteX7-47" fmla="*/ 19050 w 549511"/>
                <a:gd name="connsiteY7-48" fmla="*/ 1541433 h 1541433"/>
                <a:gd name="connsiteX8" fmla="*/ 0 w 549511"/>
                <a:gd name="connsiteY8" fmla="*/ 0 h 1541433"/>
                <a:gd name="connsiteX0-49" fmla="*/ 0 w 549511"/>
                <a:gd name="connsiteY0-50" fmla="*/ 0 h 1541433"/>
                <a:gd name="connsiteX1-51" fmla="*/ 267971 w 549511"/>
                <a:gd name="connsiteY1-52" fmla="*/ 625088 h 1541433"/>
                <a:gd name="connsiteX2-53" fmla="*/ 378041 w 549511"/>
                <a:gd name="connsiteY2-54" fmla="*/ 704850 h 1541433"/>
                <a:gd name="connsiteX3-55" fmla="*/ 378041 w 549511"/>
                <a:gd name="connsiteY3-56" fmla="*/ 631839 h 1541433"/>
                <a:gd name="connsiteX4-57" fmla="*/ 549511 w 549511"/>
                <a:gd name="connsiteY4-58" fmla="*/ 777860 h 1541433"/>
                <a:gd name="connsiteX5-59" fmla="*/ 378041 w 549511"/>
                <a:gd name="connsiteY5-60" fmla="*/ 923881 h 1541433"/>
                <a:gd name="connsiteX6-61" fmla="*/ 378041 w 549511"/>
                <a:gd name="connsiteY6-62" fmla="*/ 850871 h 1541433"/>
                <a:gd name="connsiteX7-63" fmla="*/ 19050 w 549511"/>
                <a:gd name="connsiteY7-64" fmla="*/ 1541433 h 1541433"/>
                <a:gd name="connsiteX8-65" fmla="*/ 0 w 549511"/>
                <a:gd name="connsiteY8-66" fmla="*/ 0 h 1541433"/>
                <a:gd name="connsiteX0-67" fmla="*/ 0 w 549511"/>
                <a:gd name="connsiteY0-68" fmla="*/ 0 h 1541433"/>
                <a:gd name="connsiteX1-69" fmla="*/ 267971 w 549511"/>
                <a:gd name="connsiteY1-70" fmla="*/ 625088 h 1541433"/>
                <a:gd name="connsiteX2-71" fmla="*/ 378041 w 549511"/>
                <a:gd name="connsiteY2-72" fmla="*/ 704850 h 1541433"/>
                <a:gd name="connsiteX3-73" fmla="*/ 378041 w 549511"/>
                <a:gd name="connsiteY3-74" fmla="*/ 631839 h 1541433"/>
                <a:gd name="connsiteX4-75" fmla="*/ 549511 w 549511"/>
                <a:gd name="connsiteY4-76" fmla="*/ 777860 h 1541433"/>
                <a:gd name="connsiteX5-77" fmla="*/ 378041 w 549511"/>
                <a:gd name="connsiteY5-78" fmla="*/ 923881 h 1541433"/>
                <a:gd name="connsiteX6-79" fmla="*/ 378041 w 549511"/>
                <a:gd name="connsiteY6-80" fmla="*/ 850871 h 1541433"/>
                <a:gd name="connsiteX7-81" fmla="*/ 19050 w 549511"/>
                <a:gd name="connsiteY7-82" fmla="*/ 1541433 h 1541433"/>
                <a:gd name="connsiteX8-83" fmla="*/ 0 w 549511"/>
                <a:gd name="connsiteY8-84" fmla="*/ 0 h 1541433"/>
                <a:gd name="connsiteX0-85" fmla="*/ 0 w 549511"/>
                <a:gd name="connsiteY0-86" fmla="*/ 0 h 1541433"/>
                <a:gd name="connsiteX1-87" fmla="*/ 267971 w 549511"/>
                <a:gd name="connsiteY1-88" fmla="*/ 625088 h 1541433"/>
                <a:gd name="connsiteX2-89" fmla="*/ 378041 w 549511"/>
                <a:gd name="connsiteY2-90" fmla="*/ 704850 h 1541433"/>
                <a:gd name="connsiteX3-91" fmla="*/ 378041 w 549511"/>
                <a:gd name="connsiteY3-92" fmla="*/ 631839 h 1541433"/>
                <a:gd name="connsiteX4-93" fmla="*/ 549511 w 549511"/>
                <a:gd name="connsiteY4-94" fmla="*/ 777860 h 1541433"/>
                <a:gd name="connsiteX5-95" fmla="*/ 378041 w 549511"/>
                <a:gd name="connsiteY5-96" fmla="*/ 923881 h 1541433"/>
                <a:gd name="connsiteX6-97" fmla="*/ 378041 w 549511"/>
                <a:gd name="connsiteY6-98" fmla="*/ 850871 h 1541433"/>
                <a:gd name="connsiteX7-99" fmla="*/ 253684 w 549511"/>
                <a:gd name="connsiteY7-100" fmla="*/ 920363 h 1541433"/>
                <a:gd name="connsiteX8-101" fmla="*/ 19050 w 549511"/>
                <a:gd name="connsiteY8-102" fmla="*/ 1541433 h 1541433"/>
                <a:gd name="connsiteX9" fmla="*/ 0 w 549511"/>
                <a:gd name="connsiteY9" fmla="*/ 0 h 1541433"/>
                <a:gd name="connsiteX0-103" fmla="*/ 0 w 549511"/>
                <a:gd name="connsiteY0-104" fmla="*/ 0 h 1541433"/>
                <a:gd name="connsiteX1-105" fmla="*/ 267971 w 549511"/>
                <a:gd name="connsiteY1-106" fmla="*/ 625088 h 1541433"/>
                <a:gd name="connsiteX2-107" fmla="*/ 378041 w 549511"/>
                <a:gd name="connsiteY2-108" fmla="*/ 704850 h 1541433"/>
                <a:gd name="connsiteX3-109" fmla="*/ 378041 w 549511"/>
                <a:gd name="connsiteY3-110" fmla="*/ 631839 h 1541433"/>
                <a:gd name="connsiteX4-111" fmla="*/ 549511 w 549511"/>
                <a:gd name="connsiteY4-112" fmla="*/ 777860 h 1541433"/>
                <a:gd name="connsiteX5-113" fmla="*/ 378041 w 549511"/>
                <a:gd name="connsiteY5-114" fmla="*/ 923881 h 1541433"/>
                <a:gd name="connsiteX6-115" fmla="*/ 378041 w 549511"/>
                <a:gd name="connsiteY6-116" fmla="*/ 850871 h 1541433"/>
                <a:gd name="connsiteX7-117" fmla="*/ 253684 w 549511"/>
                <a:gd name="connsiteY7-118" fmla="*/ 920363 h 1541433"/>
                <a:gd name="connsiteX8-119" fmla="*/ 19050 w 549511"/>
                <a:gd name="connsiteY8-120" fmla="*/ 1541433 h 1541433"/>
                <a:gd name="connsiteX9-121" fmla="*/ 0 w 549511"/>
                <a:gd name="connsiteY9-122" fmla="*/ 0 h 1541433"/>
                <a:gd name="connsiteX0-123" fmla="*/ 0 w 549511"/>
                <a:gd name="connsiteY0-124" fmla="*/ 0 h 1541433"/>
                <a:gd name="connsiteX1-125" fmla="*/ 267971 w 549511"/>
                <a:gd name="connsiteY1-126" fmla="*/ 625088 h 1541433"/>
                <a:gd name="connsiteX2-127" fmla="*/ 378041 w 549511"/>
                <a:gd name="connsiteY2-128" fmla="*/ 704850 h 1541433"/>
                <a:gd name="connsiteX3-129" fmla="*/ 378041 w 549511"/>
                <a:gd name="connsiteY3-130" fmla="*/ 631839 h 1541433"/>
                <a:gd name="connsiteX4-131" fmla="*/ 549511 w 549511"/>
                <a:gd name="connsiteY4-132" fmla="*/ 777860 h 1541433"/>
                <a:gd name="connsiteX5-133" fmla="*/ 378041 w 549511"/>
                <a:gd name="connsiteY5-134" fmla="*/ 923881 h 1541433"/>
                <a:gd name="connsiteX6-135" fmla="*/ 378041 w 549511"/>
                <a:gd name="connsiteY6-136" fmla="*/ 850871 h 1541433"/>
                <a:gd name="connsiteX7-137" fmla="*/ 253684 w 549511"/>
                <a:gd name="connsiteY7-138" fmla="*/ 920363 h 1541433"/>
                <a:gd name="connsiteX8-139" fmla="*/ 19050 w 549511"/>
                <a:gd name="connsiteY8-140" fmla="*/ 1541433 h 1541433"/>
                <a:gd name="connsiteX9-141" fmla="*/ 0 w 549511"/>
                <a:gd name="connsiteY9-142" fmla="*/ 0 h 1541433"/>
                <a:gd name="connsiteX0-143" fmla="*/ 0 w 549511"/>
                <a:gd name="connsiteY0-144" fmla="*/ 0 h 1541433"/>
                <a:gd name="connsiteX1-145" fmla="*/ 267971 w 549511"/>
                <a:gd name="connsiteY1-146" fmla="*/ 625088 h 1541433"/>
                <a:gd name="connsiteX2-147" fmla="*/ 378041 w 549511"/>
                <a:gd name="connsiteY2-148" fmla="*/ 704850 h 1541433"/>
                <a:gd name="connsiteX3-149" fmla="*/ 378041 w 549511"/>
                <a:gd name="connsiteY3-150" fmla="*/ 631839 h 1541433"/>
                <a:gd name="connsiteX4-151" fmla="*/ 549511 w 549511"/>
                <a:gd name="connsiteY4-152" fmla="*/ 777860 h 1541433"/>
                <a:gd name="connsiteX5-153" fmla="*/ 378041 w 549511"/>
                <a:gd name="connsiteY5-154" fmla="*/ 923881 h 1541433"/>
                <a:gd name="connsiteX6-155" fmla="*/ 378041 w 549511"/>
                <a:gd name="connsiteY6-156" fmla="*/ 850871 h 1541433"/>
                <a:gd name="connsiteX7-157" fmla="*/ 253684 w 549511"/>
                <a:gd name="connsiteY7-158" fmla="*/ 920363 h 1541433"/>
                <a:gd name="connsiteX8-159" fmla="*/ 19050 w 549511"/>
                <a:gd name="connsiteY8-160" fmla="*/ 1541433 h 1541433"/>
                <a:gd name="connsiteX9-161" fmla="*/ 0 w 549511"/>
                <a:gd name="connsiteY9-162" fmla="*/ 0 h 1541433"/>
                <a:gd name="connsiteX0-163" fmla="*/ 0 w 549511"/>
                <a:gd name="connsiteY0-164" fmla="*/ 0 h 1541433"/>
                <a:gd name="connsiteX1-165" fmla="*/ 267971 w 549511"/>
                <a:gd name="connsiteY1-166" fmla="*/ 625088 h 1541433"/>
                <a:gd name="connsiteX2-167" fmla="*/ 378041 w 549511"/>
                <a:gd name="connsiteY2-168" fmla="*/ 704850 h 1541433"/>
                <a:gd name="connsiteX3-169" fmla="*/ 378041 w 549511"/>
                <a:gd name="connsiteY3-170" fmla="*/ 631839 h 1541433"/>
                <a:gd name="connsiteX4-171" fmla="*/ 549511 w 549511"/>
                <a:gd name="connsiteY4-172" fmla="*/ 777860 h 1541433"/>
                <a:gd name="connsiteX5-173" fmla="*/ 378041 w 549511"/>
                <a:gd name="connsiteY5-174" fmla="*/ 923881 h 1541433"/>
                <a:gd name="connsiteX6-175" fmla="*/ 378041 w 549511"/>
                <a:gd name="connsiteY6-176" fmla="*/ 850871 h 1541433"/>
                <a:gd name="connsiteX7-177" fmla="*/ 253684 w 549511"/>
                <a:gd name="connsiteY7-178" fmla="*/ 920363 h 1541433"/>
                <a:gd name="connsiteX8-179" fmla="*/ 19050 w 549511"/>
                <a:gd name="connsiteY8-180" fmla="*/ 1541433 h 1541433"/>
                <a:gd name="connsiteX9-181" fmla="*/ 0 w 549511"/>
                <a:gd name="connsiteY9-182" fmla="*/ 0 h 1541433"/>
                <a:gd name="connsiteX0-183" fmla="*/ 0 w 549511"/>
                <a:gd name="connsiteY0-184" fmla="*/ 0 h 1541433"/>
                <a:gd name="connsiteX1-185" fmla="*/ 267971 w 549511"/>
                <a:gd name="connsiteY1-186" fmla="*/ 625088 h 1541433"/>
                <a:gd name="connsiteX2-187" fmla="*/ 378041 w 549511"/>
                <a:gd name="connsiteY2-188" fmla="*/ 704850 h 1541433"/>
                <a:gd name="connsiteX3-189" fmla="*/ 378041 w 549511"/>
                <a:gd name="connsiteY3-190" fmla="*/ 631839 h 1541433"/>
                <a:gd name="connsiteX4-191" fmla="*/ 549511 w 549511"/>
                <a:gd name="connsiteY4-192" fmla="*/ 777860 h 1541433"/>
                <a:gd name="connsiteX5-193" fmla="*/ 378041 w 549511"/>
                <a:gd name="connsiteY5-194" fmla="*/ 923881 h 1541433"/>
                <a:gd name="connsiteX6-195" fmla="*/ 378041 w 549511"/>
                <a:gd name="connsiteY6-196" fmla="*/ 850871 h 1541433"/>
                <a:gd name="connsiteX7-197" fmla="*/ 241778 w 549511"/>
                <a:gd name="connsiteY7-198" fmla="*/ 958463 h 1541433"/>
                <a:gd name="connsiteX8-199" fmla="*/ 19050 w 549511"/>
                <a:gd name="connsiteY8-200" fmla="*/ 1541433 h 1541433"/>
                <a:gd name="connsiteX9-201" fmla="*/ 0 w 549511"/>
                <a:gd name="connsiteY9-202" fmla="*/ 0 h 1541433"/>
                <a:gd name="connsiteX0-203" fmla="*/ 0 w 549511"/>
                <a:gd name="connsiteY0-204" fmla="*/ 0 h 1541433"/>
                <a:gd name="connsiteX1-205" fmla="*/ 267971 w 549511"/>
                <a:gd name="connsiteY1-206" fmla="*/ 625088 h 1541433"/>
                <a:gd name="connsiteX2-207" fmla="*/ 378041 w 549511"/>
                <a:gd name="connsiteY2-208" fmla="*/ 704850 h 1541433"/>
                <a:gd name="connsiteX3-209" fmla="*/ 378041 w 549511"/>
                <a:gd name="connsiteY3-210" fmla="*/ 631839 h 1541433"/>
                <a:gd name="connsiteX4-211" fmla="*/ 549511 w 549511"/>
                <a:gd name="connsiteY4-212" fmla="*/ 777860 h 1541433"/>
                <a:gd name="connsiteX5-213" fmla="*/ 378041 w 549511"/>
                <a:gd name="connsiteY5-214" fmla="*/ 923881 h 1541433"/>
                <a:gd name="connsiteX6-215" fmla="*/ 378041 w 549511"/>
                <a:gd name="connsiteY6-216" fmla="*/ 850871 h 1541433"/>
                <a:gd name="connsiteX7-217" fmla="*/ 241778 w 549511"/>
                <a:gd name="connsiteY7-218" fmla="*/ 958463 h 1541433"/>
                <a:gd name="connsiteX8-219" fmla="*/ 19050 w 549511"/>
                <a:gd name="connsiteY8-220" fmla="*/ 1541433 h 1541433"/>
                <a:gd name="connsiteX9-221" fmla="*/ 0 w 549511"/>
                <a:gd name="connsiteY9-222" fmla="*/ 0 h 1541433"/>
                <a:gd name="connsiteX0-223" fmla="*/ 0 w 549511"/>
                <a:gd name="connsiteY0-224" fmla="*/ 0 h 1541433"/>
                <a:gd name="connsiteX1-225" fmla="*/ 267971 w 549511"/>
                <a:gd name="connsiteY1-226" fmla="*/ 625088 h 1541433"/>
                <a:gd name="connsiteX2-227" fmla="*/ 378041 w 549511"/>
                <a:gd name="connsiteY2-228" fmla="*/ 704850 h 1541433"/>
                <a:gd name="connsiteX3-229" fmla="*/ 378041 w 549511"/>
                <a:gd name="connsiteY3-230" fmla="*/ 631839 h 1541433"/>
                <a:gd name="connsiteX4-231" fmla="*/ 549511 w 549511"/>
                <a:gd name="connsiteY4-232" fmla="*/ 777860 h 1541433"/>
                <a:gd name="connsiteX5-233" fmla="*/ 378041 w 549511"/>
                <a:gd name="connsiteY5-234" fmla="*/ 923881 h 1541433"/>
                <a:gd name="connsiteX6-235" fmla="*/ 378041 w 549511"/>
                <a:gd name="connsiteY6-236" fmla="*/ 850871 h 1541433"/>
                <a:gd name="connsiteX7-237" fmla="*/ 287021 w 549511"/>
                <a:gd name="connsiteY7-238" fmla="*/ 917981 h 1541433"/>
                <a:gd name="connsiteX8-239" fmla="*/ 19050 w 549511"/>
                <a:gd name="connsiteY8-240" fmla="*/ 1541433 h 1541433"/>
                <a:gd name="connsiteX9-241" fmla="*/ 0 w 549511"/>
                <a:gd name="connsiteY9-242" fmla="*/ 0 h 1541433"/>
                <a:gd name="connsiteX0-243" fmla="*/ 0 w 549511"/>
                <a:gd name="connsiteY0-244" fmla="*/ 0 h 1541433"/>
                <a:gd name="connsiteX1-245" fmla="*/ 267971 w 549511"/>
                <a:gd name="connsiteY1-246" fmla="*/ 625088 h 1541433"/>
                <a:gd name="connsiteX2-247" fmla="*/ 378041 w 549511"/>
                <a:gd name="connsiteY2-248" fmla="*/ 704850 h 1541433"/>
                <a:gd name="connsiteX3-249" fmla="*/ 378041 w 549511"/>
                <a:gd name="connsiteY3-250" fmla="*/ 631839 h 1541433"/>
                <a:gd name="connsiteX4-251" fmla="*/ 549511 w 549511"/>
                <a:gd name="connsiteY4-252" fmla="*/ 777860 h 1541433"/>
                <a:gd name="connsiteX5-253" fmla="*/ 378041 w 549511"/>
                <a:gd name="connsiteY5-254" fmla="*/ 923881 h 1541433"/>
                <a:gd name="connsiteX6-255" fmla="*/ 378041 w 549511"/>
                <a:gd name="connsiteY6-256" fmla="*/ 850871 h 1541433"/>
                <a:gd name="connsiteX7-257" fmla="*/ 287021 w 549511"/>
                <a:gd name="connsiteY7-258" fmla="*/ 917981 h 1541433"/>
                <a:gd name="connsiteX8-259" fmla="*/ 19050 w 549511"/>
                <a:gd name="connsiteY8-260" fmla="*/ 1541433 h 1541433"/>
                <a:gd name="connsiteX9-261" fmla="*/ 0 w 549511"/>
                <a:gd name="connsiteY9-262" fmla="*/ 0 h 1541433"/>
                <a:gd name="connsiteX0-263" fmla="*/ 0 w 549511"/>
                <a:gd name="connsiteY0-264" fmla="*/ 0 h 1541433"/>
                <a:gd name="connsiteX1-265" fmla="*/ 267971 w 549511"/>
                <a:gd name="connsiteY1-266" fmla="*/ 625088 h 1541433"/>
                <a:gd name="connsiteX2-267" fmla="*/ 378041 w 549511"/>
                <a:gd name="connsiteY2-268" fmla="*/ 704850 h 1541433"/>
                <a:gd name="connsiteX3-269" fmla="*/ 378041 w 549511"/>
                <a:gd name="connsiteY3-270" fmla="*/ 631839 h 1541433"/>
                <a:gd name="connsiteX4-271" fmla="*/ 549511 w 549511"/>
                <a:gd name="connsiteY4-272" fmla="*/ 777860 h 1541433"/>
                <a:gd name="connsiteX5-273" fmla="*/ 378041 w 549511"/>
                <a:gd name="connsiteY5-274" fmla="*/ 923881 h 1541433"/>
                <a:gd name="connsiteX6-275" fmla="*/ 378041 w 549511"/>
                <a:gd name="connsiteY6-276" fmla="*/ 850871 h 1541433"/>
                <a:gd name="connsiteX7-277" fmla="*/ 287021 w 549511"/>
                <a:gd name="connsiteY7-278" fmla="*/ 917981 h 1541433"/>
                <a:gd name="connsiteX8-279" fmla="*/ 19050 w 549511"/>
                <a:gd name="connsiteY8-280" fmla="*/ 1541433 h 1541433"/>
                <a:gd name="connsiteX9-281" fmla="*/ 0 w 549511"/>
                <a:gd name="connsiteY9-282" fmla="*/ 0 h 1541433"/>
                <a:gd name="connsiteX0-283" fmla="*/ 0 w 549511"/>
                <a:gd name="connsiteY0-284" fmla="*/ 0 h 1541433"/>
                <a:gd name="connsiteX1-285" fmla="*/ 303689 w 549511"/>
                <a:gd name="connsiteY1-286" fmla="*/ 658426 h 1541433"/>
                <a:gd name="connsiteX2-287" fmla="*/ 378041 w 549511"/>
                <a:gd name="connsiteY2-288" fmla="*/ 704850 h 1541433"/>
                <a:gd name="connsiteX3-289" fmla="*/ 378041 w 549511"/>
                <a:gd name="connsiteY3-290" fmla="*/ 631839 h 1541433"/>
                <a:gd name="connsiteX4-291" fmla="*/ 549511 w 549511"/>
                <a:gd name="connsiteY4-292" fmla="*/ 777860 h 1541433"/>
                <a:gd name="connsiteX5-293" fmla="*/ 378041 w 549511"/>
                <a:gd name="connsiteY5-294" fmla="*/ 923881 h 1541433"/>
                <a:gd name="connsiteX6-295" fmla="*/ 378041 w 549511"/>
                <a:gd name="connsiteY6-296" fmla="*/ 850871 h 1541433"/>
                <a:gd name="connsiteX7-297" fmla="*/ 287021 w 549511"/>
                <a:gd name="connsiteY7-298" fmla="*/ 917981 h 1541433"/>
                <a:gd name="connsiteX8-299" fmla="*/ 19050 w 549511"/>
                <a:gd name="connsiteY8-300" fmla="*/ 1541433 h 1541433"/>
                <a:gd name="connsiteX9-301" fmla="*/ 0 w 549511"/>
                <a:gd name="connsiteY9-302" fmla="*/ 0 h 1541433"/>
                <a:gd name="connsiteX0-303" fmla="*/ 0 w 549511"/>
                <a:gd name="connsiteY0-304" fmla="*/ 0 h 1541433"/>
                <a:gd name="connsiteX1-305" fmla="*/ 303689 w 549511"/>
                <a:gd name="connsiteY1-306" fmla="*/ 658426 h 1541433"/>
                <a:gd name="connsiteX2-307" fmla="*/ 378041 w 549511"/>
                <a:gd name="connsiteY2-308" fmla="*/ 704850 h 1541433"/>
                <a:gd name="connsiteX3-309" fmla="*/ 378041 w 549511"/>
                <a:gd name="connsiteY3-310" fmla="*/ 631839 h 1541433"/>
                <a:gd name="connsiteX4-311" fmla="*/ 549511 w 549511"/>
                <a:gd name="connsiteY4-312" fmla="*/ 777860 h 1541433"/>
                <a:gd name="connsiteX5-313" fmla="*/ 378041 w 549511"/>
                <a:gd name="connsiteY5-314" fmla="*/ 923881 h 1541433"/>
                <a:gd name="connsiteX6-315" fmla="*/ 378041 w 549511"/>
                <a:gd name="connsiteY6-316" fmla="*/ 850871 h 1541433"/>
                <a:gd name="connsiteX7-317" fmla="*/ 287021 w 549511"/>
                <a:gd name="connsiteY7-318" fmla="*/ 917981 h 1541433"/>
                <a:gd name="connsiteX8-319" fmla="*/ 19050 w 549511"/>
                <a:gd name="connsiteY8-320" fmla="*/ 1541433 h 1541433"/>
                <a:gd name="connsiteX9-321" fmla="*/ 0 w 549511"/>
                <a:gd name="connsiteY9-322" fmla="*/ 0 h 1541433"/>
                <a:gd name="connsiteX0-323" fmla="*/ 0 w 549511"/>
                <a:gd name="connsiteY0-324" fmla="*/ 0 h 1541433"/>
                <a:gd name="connsiteX1-325" fmla="*/ 303689 w 549511"/>
                <a:gd name="connsiteY1-326" fmla="*/ 658426 h 1541433"/>
                <a:gd name="connsiteX2-327" fmla="*/ 378041 w 549511"/>
                <a:gd name="connsiteY2-328" fmla="*/ 704850 h 1541433"/>
                <a:gd name="connsiteX3-329" fmla="*/ 378041 w 549511"/>
                <a:gd name="connsiteY3-330" fmla="*/ 631839 h 1541433"/>
                <a:gd name="connsiteX4-331" fmla="*/ 549511 w 549511"/>
                <a:gd name="connsiteY4-332" fmla="*/ 777860 h 1541433"/>
                <a:gd name="connsiteX5-333" fmla="*/ 378041 w 549511"/>
                <a:gd name="connsiteY5-334" fmla="*/ 923881 h 1541433"/>
                <a:gd name="connsiteX6-335" fmla="*/ 378041 w 549511"/>
                <a:gd name="connsiteY6-336" fmla="*/ 850871 h 1541433"/>
                <a:gd name="connsiteX7-337" fmla="*/ 246542 w 549511"/>
                <a:gd name="connsiteY7-338" fmla="*/ 972243 h 1541433"/>
                <a:gd name="connsiteX8-339" fmla="*/ 19050 w 549511"/>
                <a:gd name="connsiteY8-340" fmla="*/ 1541433 h 1541433"/>
                <a:gd name="connsiteX9-341" fmla="*/ 0 w 549511"/>
                <a:gd name="connsiteY9-342" fmla="*/ 0 h 1541433"/>
                <a:gd name="connsiteX0-343" fmla="*/ 0 w 549511"/>
                <a:gd name="connsiteY0-344" fmla="*/ 0 h 1541433"/>
                <a:gd name="connsiteX1-345" fmla="*/ 303689 w 549511"/>
                <a:gd name="connsiteY1-346" fmla="*/ 658426 h 1541433"/>
                <a:gd name="connsiteX2-347" fmla="*/ 378041 w 549511"/>
                <a:gd name="connsiteY2-348" fmla="*/ 704850 h 1541433"/>
                <a:gd name="connsiteX3-349" fmla="*/ 378041 w 549511"/>
                <a:gd name="connsiteY3-350" fmla="*/ 631839 h 1541433"/>
                <a:gd name="connsiteX4-351" fmla="*/ 549511 w 549511"/>
                <a:gd name="connsiteY4-352" fmla="*/ 777860 h 1541433"/>
                <a:gd name="connsiteX5-353" fmla="*/ 378041 w 549511"/>
                <a:gd name="connsiteY5-354" fmla="*/ 923881 h 1541433"/>
                <a:gd name="connsiteX6-355" fmla="*/ 378041 w 549511"/>
                <a:gd name="connsiteY6-356" fmla="*/ 850871 h 1541433"/>
                <a:gd name="connsiteX7-357" fmla="*/ 246542 w 549511"/>
                <a:gd name="connsiteY7-358" fmla="*/ 972243 h 1541433"/>
                <a:gd name="connsiteX8-359" fmla="*/ 19050 w 549511"/>
                <a:gd name="connsiteY8-360" fmla="*/ 1541433 h 1541433"/>
                <a:gd name="connsiteX9-361" fmla="*/ 0 w 549511"/>
                <a:gd name="connsiteY9-362" fmla="*/ 0 h 1541433"/>
                <a:gd name="connsiteX0-363" fmla="*/ 0 w 549511"/>
                <a:gd name="connsiteY0-364" fmla="*/ 0 h 1541433"/>
                <a:gd name="connsiteX1-365" fmla="*/ 303689 w 549511"/>
                <a:gd name="connsiteY1-366" fmla="*/ 658426 h 1541433"/>
                <a:gd name="connsiteX2-367" fmla="*/ 378041 w 549511"/>
                <a:gd name="connsiteY2-368" fmla="*/ 704850 h 1541433"/>
                <a:gd name="connsiteX3-369" fmla="*/ 378041 w 549511"/>
                <a:gd name="connsiteY3-370" fmla="*/ 631839 h 1541433"/>
                <a:gd name="connsiteX4-371" fmla="*/ 549511 w 549511"/>
                <a:gd name="connsiteY4-372" fmla="*/ 777860 h 1541433"/>
                <a:gd name="connsiteX5-373" fmla="*/ 378041 w 549511"/>
                <a:gd name="connsiteY5-374" fmla="*/ 923881 h 1541433"/>
                <a:gd name="connsiteX6-375" fmla="*/ 378041 w 549511"/>
                <a:gd name="connsiteY6-376" fmla="*/ 850871 h 1541433"/>
                <a:gd name="connsiteX7-377" fmla="*/ 246542 w 549511"/>
                <a:gd name="connsiteY7-378" fmla="*/ 972243 h 1541433"/>
                <a:gd name="connsiteX8-379" fmla="*/ 19050 w 549511"/>
                <a:gd name="connsiteY8-380" fmla="*/ 1541433 h 1541433"/>
                <a:gd name="connsiteX9-381" fmla="*/ 0 w 549511"/>
                <a:gd name="connsiteY9-382" fmla="*/ 0 h 1541433"/>
                <a:gd name="connsiteX0-383" fmla="*/ 0 w 549511"/>
                <a:gd name="connsiteY0-384" fmla="*/ 0 h 1541433"/>
                <a:gd name="connsiteX1-385" fmla="*/ 303689 w 549511"/>
                <a:gd name="connsiteY1-386" fmla="*/ 658426 h 1541433"/>
                <a:gd name="connsiteX2-387" fmla="*/ 378041 w 549511"/>
                <a:gd name="connsiteY2-388" fmla="*/ 704850 h 1541433"/>
                <a:gd name="connsiteX3-389" fmla="*/ 378041 w 549511"/>
                <a:gd name="connsiteY3-390" fmla="*/ 631839 h 1541433"/>
                <a:gd name="connsiteX4-391" fmla="*/ 549511 w 549511"/>
                <a:gd name="connsiteY4-392" fmla="*/ 777860 h 1541433"/>
                <a:gd name="connsiteX5-393" fmla="*/ 378041 w 549511"/>
                <a:gd name="connsiteY5-394" fmla="*/ 923881 h 1541433"/>
                <a:gd name="connsiteX6-395" fmla="*/ 378041 w 549511"/>
                <a:gd name="connsiteY6-396" fmla="*/ 850871 h 1541433"/>
                <a:gd name="connsiteX7-397" fmla="*/ 246542 w 549511"/>
                <a:gd name="connsiteY7-398" fmla="*/ 972243 h 1541433"/>
                <a:gd name="connsiteX8-399" fmla="*/ 19050 w 549511"/>
                <a:gd name="connsiteY8-400" fmla="*/ 1541433 h 1541433"/>
                <a:gd name="connsiteX9-401" fmla="*/ 0 w 549511"/>
                <a:gd name="connsiteY9-402" fmla="*/ 0 h 1541433"/>
                <a:gd name="connsiteX0-403" fmla="*/ 0 w 549511"/>
                <a:gd name="connsiteY0-404" fmla="*/ 0 h 1541433"/>
                <a:gd name="connsiteX1-405" fmla="*/ 303689 w 549511"/>
                <a:gd name="connsiteY1-406" fmla="*/ 658426 h 1541433"/>
                <a:gd name="connsiteX2-407" fmla="*/ 378041 w 549511"/>
                <a:gd name="connsiteY2-408" fmla="*/ 704850 h 1541433"/>
                <a:gd name="connsiteX3-409" fmla="*/ 378041 w 549511"/>
                <a:gd name="connsiteY3-410" fmla="*/ 631839 h 1541433"/>
                <a:gd name="connsiteX4-411" fmla="*/ 549511 w 549511"/>
                <a:gd name="connsiteY4-412" fmla="*/ 777860 h 1541433"/>
                <a:gd name="connsiteX5-413" fmla="*/ 378041 w 549511"/>
                <a:gd name="connsiteY5-414" fmla="*/ 923881 h 1541433"/>
                <a:gd name="connsiteX6-415" fmla="*/ 378041 w 549511"/>
                <a:gd name="connsiteY6-416" fmla="*/ 850871 h 1541433"/>
                <a:gd name="connsiteX7-417" fmla="*/ 249719 w 549511"/>
                <a:gd name="connsiteY7-418" fmla="*/ 982109 h 1541433"/>
                <a:gd name="connsiteX8-419" fmla="*/ 19050 w 549511"/>
                <a:gd name="connsiteY8-420" fmla="*/ 1541433 h 1541433"/>
                <a:gd name="connsiteX9-421" fmla="*/ 0 w 549511"/>
                <a:gd name="connsiteY9-422" fmla="*/ 0 h 1541433"/>
                <a:gd name="connsiteX0-423" fmla="*/ 0 w 549511"/>
                <a:gd name="connsiteY0-424" fmla="*/ 0 h 1541433"/>
                <a:gd name="connsiteX1-425" fmla="*/ 303689 w 549511"/>
                <a:gd name="connsiteY1-426" fmla="*/ 658426 h 1541433"/>
                <a:gd name="connsiteX2-427" fmla="*/ 378041 w 549511"/>
                <a:gd name="connsiteY2-428" fmla="*/ 704850 h 1541433"/>
                <a:gd name="connsiteX3-429" fmla="*/ 378041 w 549511"/>
                <a:gd name="connsiteY3-430" fmla="*/ 631839 h 1541433"/>
                <a:gd name="connsiteX4-431" fmla="*/ 549511 w 549511"/>
                <a:gd name="connsiteY4-432" fmla="*/ 777860 h 1541433"/>
                <a:gd name="connsiteX5-433" fmla="*/ 378041 w 549511"/>
                <a:gd name="connsiteY5-434" fmla="*/ 923881 h 1541433"/>
                <a:gd name="connsiteX6-435" fmla="*/ 378041 w 549511"/>
                <a:gd name="connsiteY6-436" fmla="*/ 850871 h 1541433"/>
                <a:gd name="connsiteX7-437" fmla="*/ 249719 w 549511"/>
                <a:gd name="connsiteY7-438" fmla="*/ 982109 h 1541433"/>
                <a:gd name="connsiteX8-439" fmla="*/ 19050 w 549511"/>
                <a:gd name="connsiteY8-440" fmla="*/ 1541433 h 1541433"/>
                <a:gd name="connsiteX9-441" fmla="*/ 0 w 549511"/>
                <a:gd name="connsiteY9-442" fmla="*/ 0 h 1541433"/>
                <a:gd name="connsiteX0-443" fmla="*/ 0 w 549511"/>
                <a:gd name="connsiteY0-444" fmla="*/ 0 h 1541433"/>
                <a:gd name="connsiteX1-445" fmla="*/ 303689 w 549511"/>
                <a:gd name="connsiteY1-446" fmla="*/ 658426 h 1541433"/>
                <a:gd name="connsiteX2-447" fmla="*/ 378041 w 549511"/>
                <a:gd name="connsiteY2-448" fmla="*/ 704850 h 1541433"/>
                <a:gd name="connsiteX3-449" fmla="*/ 378041 w 549511"/>
                <a:gd name="connsiteY3-450" fmla="*/ 631839 h 1541433"/>
                <a:gd name="connsiteX4-451" fmla="*/ 549511 w 549511"/>
                <a:gd name="connsiteY4-452" fmla="*/ 777860 h 1541433"/>
                <a:gd name="connsiteX5-453" fmla="*/ 378041 w 549511"/>
                <a:gd name="connsiteY5-454" fmla="*/ 923881 h 1541433"/>
                <a:gd name="connsiteX6-455" fmla="*/ 378041 w 549511"/>
                <a:gd name="connsiteY6-456" fmla="*/ 850871 h 1541433"/>
                <a:gd name="connsiteX7-457" fmla="*/ 249719 w 549511"/>
                <a:gd name="connsiteY7-458" fmla="*/ 982109 h 1541433"/>
                <a:gd name="connsiteX8-459" fmla="*/ 19050 w 549511"/>
                <a:gd name="connsiteY8-460" fmla="*/ 1541433 h 1541433"/>
                <a:gd name="connsiteX9-461" fmla="*/ 0 w 549511"/>
                <a:gd name="connsiteY9-462" fmla="*/ 0 h 1541433"/>
                <a:gd name="connsiteX0-463" fmla="*/ 0 w 549511"/>
                <a:gd name="connsiteY0-464" fmla="*/ 0 h 1541433"/>
                <a:gd name="connsiteX1-465" fmla="*/ 303689 w 549511"/>
                <a:gd name="connsiteY1-466" fmla="*/ 658426 h 1541433"/>
                <a:gd name="connsiteX2-467" fmla="*/ 378041 w 549511"/>
                <a:gd name="connsiteY2-468" fmla="*/ 704850 h 1541433"/>
                <a:gd name="connsiteX3-469" fmla="*/ 378041 w 549511"/>
                <a:gd name="connsiteY3-470" fmla="*/ 631839 h 1541433"/>
                <a:gd name="connsiteX4-471" fmla="*/ 549511 w 549511"/>
                <a:gd name="connsiteY4-472" fmla="*/ 777860 h 1541433"/>
                <a:gd name="connsiteX5-473" fmla="*/ 378041 w 549511"/>
                <a:gd name="connsiteY5-474" fmla="*/ 923881 h 1541433"/>
                <a:gd name="connsiteX6-475" fmla="*/ 378041 w 549511"/>
                <a:gd name="connsiteY6-476" fmla="*/ 850871 h 1541433"/>
                <a:gd name="connsiteX7-477" fmla="*/ 249719 w 549511"/>
                <a:gd name="connsiteY7-478" fmla="*/ 982109 h 1541433"/>
                <a:gd name="connsiteX8-479" fmla="*/ 19050 w 549511"/>
                <a:gd name="connsiteY8-480" fmla="*/ 1541433 h 1541433"/>
                <a:gd name="connsiteX9-481" fmla="*/ 0 w 549511"/>
                <a:gd name="connsiteY9-482" fmla="*/ 0 h 1541433"/>
                <a:gd name="connsiteX0-483" fmla="*/ 0 w 549511"/>
                <a:gd name="connsiteY0-484" fmla="*/ 0 h 1541433"/>
                <a:gd name="connsiteX1-485" fmla="*/ 262416 w 549511"/>
                <a:gd name="connsiteY1-486" fmla="*/ 614577 h 1541433"/>
                <a:gd name="connsiteX2-487" fmla="*/ 378041 w 549511"/>
                <a:gd name="connsiteY2-488" fmla="*/ 704850 h 1541433"/>
                <a:gd name="connsiteX3-489" fmla="*/ 378041 w 549511"/>
                <a:gd name="connsiteY3-490" fmla="*/ 631839 h 1541433"/>
                <a:gd name="connsiteX4-491" fmla="*/ 549511 w 549511"/>
                <a:gd name="connsiteY4-492" fmla="*/ 777860 h 1541433"/>
                <a:gd name="connsiteX5-493" fmla="*/ 378041 w 549511"/>
                <a:gd name="connsiteY5-494" fmla="*/ 923881 h 1541433"/>
                <a:gd name="connsiteX6-495" fmla="*/ 378041 w 549511"/>
                <a:gd name="connsiteY6-496" fmla="*/ 850871 h 1541433"/>
                <a:gd name="connsiteX7-497" fmla="*/ 249719 w 549511"/>
                <a:gd name="connsiteY7-498" fmla="*/ 982109 h 1541433"/>
                <a:gd name="connsiteX8-499" fmla="*/ 19050 w 549511"/>
                <a:gd name="connsiteY8-500" fmla="*/ 1541433 h 1541433"/>
                <a:gd name="connsiteX9-501" fmla="*/ 0 w 549511"/>
                <a:gd name="connsiteY9-502" fmla="*/ 0 h 1541433"/>
                <a:gd name="connsiteX0-503" fmla="*/ 0 w 549511"/>
                <a:gd name="connsiteY0-504" fmla="*/ 0 h 1541433"/>
                <a:gd name="connsiteX1-505" fmla="*/ 262416 w 549511"/>
                <a:gd name="connsiteY1-506" fmla="*/ 614577 h 1541433"/>
                <a:gd name="connsiteX2-507" fmla="*/ 378041 w 549511"/>
                <a:gd name="connsiteY2-508" fmla="*/ 704850 h 1541433"/>
                <a:gd name="connsiteX3-509" fmla="*/ 378041 w 549511"/>
                <a:gd name="connsiteY3-510" fmla="*/ 631839 h 1541433"/>
                <a:gd name="connsiteX4-511" fmla="*/ 549511 w 549511"/>
                <a:gd name="connsiteY4-512" fmla="*/ 777860 h 1541433"/>
                <a:gd name="connsiteX5-513" fmla="*/ 378041 w 549511"/>
                <a:gd name="connsiteY5-514" fmla="*/ 923881 h 1541433"/>
                <a:gd name="connsiteX6-515" fmla="*/ 437574 w 549511"/>
                <a:gd name="connsiteY6-516" fmla="*/ 846760 h 1541433"/>
                <a:gd name="connsiteX7-517" fmla="*/ 249719 w 549511"/>
                <a:gd name="connsiteY7-518" fmla="*/ 982109 h 1541433"/>
                <a:gd name="connsiteX8-519" fmla="*/ 19050 w 549511"/>
                <a:gd name="connsiteY8-520" fmla="*/ 1541433 h 1541433"/>
                <a:gd name="connsiteX9-521" fmla="*/ 0 w 549511"/>
                <a:gd name="connsiteY9-522" fmla="*/ 0 h 1541433"/>
                <a:gd name="connsiteX0-523" fmla="*/ 0 w 549511"/>
                <a:gd name="connsiteY0-524" fmla="*/ 0 h 1541433"/>
                <a:gd name="connsiteX1-525" fmla="*/ 262416 w 549511"/>
                <a:gd name="connsiteY1-526" fmla="*/ 614577 h 1541433"/>
                <a:gd name="connsiteX2-527" fmla="*/ 437574 w 549511"/>
                <a:gd name="connsiteY2-528" fmla="*/ 713894 h 1541433"/>
                <a:gd name="connsiteX3-529" fmla="*/ 378041 w 549511"/>
                <a:gd name="connsiteY3-530" fmla="*/ 631839 h 1541433"/>
                <a:gd name="connsiteX4-531" fmla="*/ 549511 w 549511"/>
                <a:gd name="connsiteY4-532" fmla="*/ 777860 h 1541433"/>
                <a:gd name="connsiteX5-533" fmla="*/ 378041 w 549511"/>
                <a:gd name="connsiteY5-534" fmla="*/ 923881 h 1541433"/>
                <a:gd name="connsiteX6-535" fmla="*/ 437574 w 549511"/>
                <a:gd name="connsiteY6-536" fmla="*/ 846760 h 1541433"/>
                <a:gd name="connsiteX7-537" fmla="*/ 249719 w 549511"/>
                <a:gd name="connsiteY7-538" fmla="*/ 982109 h 1541433"/>
                <a:gd name="connsiteX8-539" fmla="*/ 19050 w 549511"/>
                <a:gd name="connsiteY8-540" fmla="*/ 1541433 h 1541433"/>
                <a:gd name="connsiteX9-541" fmla="*/ 0 w 549511"/>
                <a:gd name="connsiteY9-542" fmla="*/ 0 h 154143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65" y="connsiteY8-66"/>
                </a:cxn>
                <a:cxn ang="0">
                  <a:pos x="connsiteX9-121" y="connsiteY9-122"/>
                </a:cxn>
              </a:cxnLst>
              <a:rect l="l" t="t" r="r" b="b"/>
              <a:pathLst>
                <a:path w="549511" h="1541433">
                  <a:moveTo>
                    <a:pt x="0" y="0"/>
                  </a:moveTo>
                  <a:cubicBezTo>
                    <a:pt x="108374" y="201219"/>
                    <a:pt x="165948" y="544327"/>
                    <a:pt x="262416" y="614577"/>
                  </a:cubicBezTo>
                  <a:cubicBezTo>
                    <a:pt x="394356" y="714983"/>
                    <a:pt x="400884" y="687307"/>
                    <a:pt x="437574" y="713894"/>
                  </a:cubicBezTo>
                  <a:lnTo>
                    <a:pt x="378041" y="631839"/>
                  </a:lnTo>
                  <a:lnTo>
                    <a:pt x="549511" y="777860"/>
                  </a:lnTo>
                  <a:lnTo>
                    <a:pt x="378041" y="923881"/>
                  </a:lnTo>
                  <a:lnTo>
                    <a:pt x="437574" y="846760"/>
                  </a:lnTo>
                  <a:cubicBezTo>
                    <a:pt x="415172" y="892149"/>
                    <a:pt x="297535" y="887263"/>
                    <a:pt x="249719" y="982109"/>
                  </a:cubicBezTo>
                  <a:lnTo>
                    <a:pt x="19050" y="1541433"/>
                  </a:lnTo>
                  <a:lnTo>
                    <a:pt x="0" y="0"/>
                  </a:lnTo>
                  <a:close/>
                </a:path>
              </a:pathLst>
            </a:custGeom>
            <a:gradFill flip="none" rotWithShape="1">
              <a:gsLst>
                <a:gs pos="0">
                  <a:schemeClr val="bg1"/>
                </a:gs>
                <a:gs pos="90000">
                  <a:srgbClr val="6A9BCB"/>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595" name="矩形 21"/>
            <p:cNvSpPr/>
            <p:nvPr/>
          </p:nvSpPr>
          <p:spPr>
            <a:xfrm>
              <a:off x="874" y="1326"/>
              <a:ext cx="7280" cy="8472"/>
            </a:xfrm>
            <a:prstGeom prst="rect">
              <a:avLst/>
            </a:prstGeom>
            <a:noFill/>
            <a:ln w="38100">
              <a:solidFill>
                <a:srgbClr val="92D05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48596" name="矩形 4"/>
            <p:cNvSpPr/>
            <p:nvPr/>
          </p:nvSpPr>
          <p:spPr>
            <a:xfrm>
              <a:off x="1146" y="2250"/>
              <a:ext cx="6774" cy="2820"/>
            </a:xfrm>
            <a:prstGeom prst="rect">
              <a:avLst/>
            </a:prstGeom>
            <a:noFill/>
            <a:ln w="38100">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48597" name="文本框 5"/>
            <p:cNvSpPr txBox="1"/>
            <p:nvPr/>
          </p:nvSpPr>
          <p:spPr>
            <a:xfrm>
              <a:off x="1415" y="2275"/>
              <a:ext cx="6641" cy="2565"/>
            </a:xfrm>
            <a:prstGeom prst="rect">
              <a:avLst/>
            </a:prstGeom>
            <a:noFill/>
          </p:spPr>
          <p:txBody>
            <a:bodyPr wrap="square" rtlCol="0">
              <a:noAutofit/>
            </a:bodyPr>
            <a:lstStyle/>
            <a:p>
              <a:pPr marL="285750" indent="-285750" fontAlgn="auto">
                <a:lnSpc>
                  <a:spcPct val="130000"/>
                </a:lnSpc>
                <a:buFont typeface="Arial" panose="020B0604020202020204" pitchFamily="34" charset="0"/>
                <a:buChar char="•"/>
              </a:pPr>
              <a:r>
                <a:rPr lang="zh-CN" altLang="en-US" sz="2000" b="1" dirty="0">
                  <a:solidFill>
                    <a:schemeClr val="tx1"/>
                  </a:solidFill>
                  <a:latin typeface="微软雅黑" panose="020B0503020204020204" pitchFamily="34" charset="-122"/>
                  <a:ea typeface="微软雅黑" panose="020B0503020204020204" pitchFamily="34" charset="-122"/>
                </a:rPr>
                <a:t>储能电池</a:t>
              </a:r>
              <a:r>
                <a:rPr lang="zh-CN" altLang="en-US" sz="2000" b="1" dirty="0">
                  <a:solidFill>
                    <a:srgbClr val="C00000"/>
                  </a:solidFill>
                  <a:latin typeface="微软雅黑" panose="020B0503020204020204" pitchFamily="34" charset="-122"/>
                  <a:ea typeface="微软雅黑" panose="020B0503020204020204" pitchFamily="34" charset="-122"/>
                </a:rPr>
                <a:t>运行基数大</a:t>
              </a:r>
              <a:r>
                <a:rPr lang="zh-CN" altLang="en-US" sz="2000" b="1" dirty="0">
                  <a:solidFill>
                    <a:schemeClr val="tx1"/>
                  </a:solidFill>
                  <a:latin typeface="微软雅黑" panose="020B0503020204020204" pitchFamily="34" charset="-122"/>
                  <a:ea typeface="微软雅黑" panose="020B0503020204020204" pitchFamily="34" charset="-122"/>
                </a:rPr>
                <a:t>，电池</a:t>
              </a:r>
              <a:r>
                <a:rPr lang="zh-CN" altLang="en-US" sz="2000" b="1" dirty="0">
                  <a:solidFill>
                    <a:srgbClr val="C00000"/>
                  </a:solidFill>
                  <a:latin typeface="微软雅黑" panose="020B0503020204020204" pitchFamily="34" charset="-122"/>
                  <a:ea typeface="微软雅黑" panose="020B0503020204020204" pitchFamily="34" charset="-122"/>
                </a:rPr>
                <a:t>早期热失控</a:t>
              </a:r>
              <a:r>
                <a:rPr lang="zh-CN" altLang="en-US" sz="2000" b="1" dirty="0">
                  <a:solidFill>
                    <a:schemeClr val="tx1"/>
                  </a:solidFill>
                  <a:latin typeface="微软雅黑" panose="020B0503020204020204" pitchFamily="34" charset="-122"/>
                  <a:ea typeface="微软雅黑" panose="020B0503020204020204" pitchFamily="34" charset="-122"/>
                </a:rPr>
                <a:t>风险及各类</a:t>
              </a:r>
              <a:r>
                <a:rPr lang="zh-CN" altLang="en-US" sz="2000" b="1" dirty="0">
                  <a:solidFill>
                    <a:srgbClr val="C00000"/>
                  </a:solidFill>
                  <a:latin typeface="微软雅黑" panose="020B0503020204020204" pitchFamily="34" charset="-122"/>
                  <a:ea typeface="微软雅黑" panose="020B0503020204020204" pitchFamily="34" charset="-122"/>
                </a:rPr>
                <a:t>故障检测困难</a:t>
              </a:r>
              <a:endParaRPr lang="zh-CN" altLang="en-US" sz="2000" b="1" dirty="0">
                <a:solidFill>
                  <a:schemeClr val="tx1"/>
                </a:solidFill>
                <a:latin typeface="微软雅黑" panose="020B0503020204020204" pitchFamily="34" charset="-122"/>
                <a:ea typeface="微软雅黑" panose="020B0503020204020204" pitchFamily="34" charset="-122"/>
              </a:endParaRPr>
            </a:p>
            <a:p>
              <a:pPr marL="285750" indent="-285750" fontAlgn="auto">
                <a:lnSpc>
                  <a:spcPct val="130000"/>
                </a:lnSpc>
                <a:buFont typeface="Arial" panose="020B0604020202020204" pitchFamily="34" charset="0"/>
                <a:buChar char="•"/>
              </a:pPr>
              <a:r>
                <a:rPr lang="zh-CN" altLang="en-US" sz="2000" b="1" dirty="0">
                  <a:solidFill>
                    <a:schemeClr val="tx1"/>
                  </a:solidFill>
                  <a:latin typeface="微软雅黑" panose="020B0503020204020204" pitchFamily="34" charset="-122"/>
                  <a:ea typeface="微软雅黑" panose="020B0503020204020204" pitchFamily="34" charset="-122"/>
                </a:rPr>
                <a:t>现有储能电池检测技术无法做到</a:t>
              </a:r>
              <a:r>
                <a:rPr lang="zh-CN" altLang="en-US" sz="2000" b="1" dirty="0">
                  <a:solidFill>
                    <a:srgbClr val="C00000"/>
                  </a:solidFill>
                  <a:latin typeface="微软雅黑" panose="020B0503020204020204" pitchFamily="34" charset="-122"/>
                  <a:ea typeface="微软雅黑" panose="020B0503020204020204" pitchFamily="34" charset="-122"/>
                </a:rPr>
                <a:t>及时、快速检测</a:t>
              </a:r>
            </a:p>
            <a:p>
              <a:pPr marL="285750" indent="-285750" fontAlgn="auto">
                <a:lnSpc>
                  <a:spcPct val="130000"/>
                </a:lnSpc>
                <a:buFont typeface="Arial" panose="020B0604020202020204" pitchFamily="34" charset="0"/>
                <a:buChar char="•"/>
              </a:pP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grpSp>
      <p:sp>
        <p:nvSpPr>
          <p:cNvPr id="1048598" name="文本框 23"/>
          <p:cNvSpPr txBox="1"/>
          <p:nvPr/>
        </p:nvSpPr>
        <p:spPr>
          <a:xfrm>
            <a:off x="6812915" y="2008505"/>
            <a:ext cx="4651375" cy="1247140"/>
          </a:xfrm>
          <a:prstGeom prst="rect">
            <a:avLst/>
          </a:prstGeom>
          <a:noFill/>
          <a:ln w="38100">
            <a:solidFill>
              <a:srgbClr val="7030A0"/>
            </a:solidFill>
          </a:ln>
        </p:spPr>
        <p:txBody>
          <a:bodyPr wrap="square" rtlCol="0">
            <a:noAutofit/>
          </a:bodyPr>
          <a:lstStyle/>
          <a:p>
            <a:pPr marL="285750" indent="-285750" fontAlgn="auto">
              <a:lnSpc>
                <a:spcPct val="130000"/>
              </a:lnSpc>
              <a:buFont typeface="Arial" panose="020B0604020202020204" pitchFamily="34" charset="0"/>
              <a:buChar char="•"/>
            </a:pPr>
            <a:r>
              <a:rPr lang="zh-CN" altLang="en-US" b="1" dirty="0">
                <a:latin typeface="微软雅黑" panose="020B0503020204020204" pitchFamily="34" charset="-122"/>
                <a:ea typeface="微软雅黑" panose="020B0503020204020204" pitchFamily="34" charset="-122"/>
              </a:rPr>
              <a:t>基于电化学阻抗谱方法，具有</a:t>
            </a:r>
            <a:r>
              <a:rPr lang="zh-CN" altLang="en-US" b="1" dirty="0">
                <a:solidFill>
                  <a:schemeClr val="accent4">
                    <a:lumMod val="75000"/>
                  </a:schemeClr>
                </a:solidFill>
                <a:latin typeface="微软雅黑" panose="020B0503020204020204" pitchFamily="34" charset="-122"/>
                <a:ea typeface="微软雅黑" panose="020B0503020204020204" pitchFamily="34" charset="-122"/>
              </a:rPr>
              <a:t>精准、快速、实时</a:t>
            </a:r>
            <a:r>
              <a:rPr lang="zh-CN" altLang="en-US" b="1" dirty="0">
                <a:latin typeface="微软雅黑" panose="020B0503020204020204" pitchFamily="34" charset="-122"/>
                <a:ea typeface="微软雅黑" panose="020B0503020204020204" pitchFamily="34" charset="-122"/>
              </a:rPr>
              <a:t>等优势的</a:t>
            </a:r>
            <a:r>
              <a:rPr lang="zh-CN" altLang="en-US" b="1" dirty="0">
                <a:solidFill>
                  <a:schemeClr val="accent2"/>
                </a:solidFill>
                <a:latin typeface="微软雅黑" panose="020B0503020204020204" pitchFamily="34" charset="-122"/>
                <a:ea typeface="微软雅黑" panose="020B0503020204020204" pitchFamily="34" charset="-122"/>
              </a:rPr>
              <a:t>集成小型化便携</a:t>
            </a:r>
            <a:r>
              <a:rPr lang="zh-CN" altLang="en-US" b="1" dirty="0">
                <a:latin typeface="微软雅黑" panose="020B0503020204020204" pitchFamily="34" charset="-122"/>
                <a:ea typeface="微软雅黑" panose="020B0503020204020204" pitchFamily="34" charset="-122"/>
              </a:rPr>
              <a:t>储能电池</a:t>
            </a:r>
            <a:r>
              <a:rPr lang="zh-CN" altLang="en-US" b="1" dirty="0">
                <a:solidFill>
                  <a:srgbClr val="C00000"/>
                </a:solidFill>
                <a:latin typeface="微软雅黑" panose="020B0503020204020204" pitchFamily="34" charset="-122"/>
                <a:ea typeface="微软雅黑" panose="020B0503020204020204" pitchFamily="34" charset="-122"/>
              </a:rPr>
              <a:t>高精度快速检测系统</a:t>
            </a:r>
            <a:r>
              <a:rPr lang="zh-CN" altLang="en-US" b="1" dirty="0">
                <a:latin typeface="微软雅黑" panose="020B0503020204020204" pitchFamily="34" charset="-122"/>
                <a:ea typeface="微软雅黑" panose="020B0503020204020204" pitchFamily="34" charset="-122"/>
              </a:rPr>
              <a:t>。</a:t>
            </a:r>
          </a:p>
        </p:txBody>
      </p:sp>
      <p:sp>
        <p:nvSpPr>
          <p:cNvPr id="1048599" name="矩形 24"/>
          <p:cNvSpPr/>
          <p:nvPr/>
        </p:nvSpPr>
        <p:spPr>
          <a:xfrm>
            <a:off x="6578600" y="798830"/>
            <a:ext cx="5168900" cy="5718175"/>
          </a:xfrm>
          <a:prstGeom prst="rect">
            <a:avLst/>
          </a:prstGeom>
          <a:noFill/>
          <a:ln w="38100">
            <a:solidFill>
              <a:srgbClr val="92D05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097157" name="图片 20" descr="好主意创意"/>
          <p:cNvPicPr>
            <a:picLocks noChangeAspect="1"/>
          </p:cNvPicPr>
          <p:nvPr/>
        </p:nvPicPr>
        <p:blipFill>
          <a:blip r:embed="rId8"/>
          <a:stretch>
            <a:fillRect/>
          </a:stretch>
        </p:blipFill>
        <p:spPr>
          <a:xfrm>
            <a:off x="6520180" y="2898775"/>
            <a:ext cx="1050290" cy="1050290"/>
          </a:xfrm>
          <a:prstGeom prst="rect">
            <a:avLst/>
          </a:prstGeom>
        </p:spPr>
      </p:pic>
      <p:pic>
        <p:nvPicPr>
          <p:cNvPr id="2097158" name="图片 8" descr="问号"/>
          <p:cNvPicPr>
            <a:picLocks noChangeAspect="1"/>
          </p:cNvPicPr>
          <p:nvPr/>
        </p:nvPicPr>
        <p:blipFill>
          <a:blip r:embed="rId9"/>
          <a:stretch>
            <a:fillRect/>
          </a:stretch>
        </p:blipFill>
        <p:spPr>
          <a:xfrm>
            <a:off x="4954905" y="2783840"/>
            <a:ext cx="1165225" cy="1165225"/>
          </a:xfrm>
          <a:prstGeom prst="rect">
            <a:avLst/>
          </a:prstGeom>
        </p:spPr>
      </p:pic>
      <p:sp>
        <p:nvSpPr>
          <p:cNvPr id="1048601" name="文本框 16"/>
          <p:cNvSpPr txBox="1"/>
          <p:nvPr/>
        </p:nvSpPr>
        <p:spPr>
          <a:xfrm>
            <a:off x="3431540" y="4123690"/>
            <a:ext cx="2021840" cy="368300"/>
          </a:xfrm>
          <a:prstGeom prst="rect">
            <a:avLst/>
          </a:prstGeom>
          <a:noFill/>
        </p:spPr>
        <p:txBody>
          <a:bodyPr wrap="square" rtlCol="0">
            <a:spAutoFit/>
          </a:bodyPr>
          <a:lstStyle/>
          <a:p>
            <a:pPr marL="0" marR="0" lvl="0" indent="0" algn="ctr" defTabSz="1422400" rtl="0" eaLnBrk="1" fontAlgn="auto" latinLnBrk="0" hangingPunct="1">
              <a:spcBef>
                <a:spcPct val="0"/>
              </a:spcBef>
              <a:spcAft>
                <a:spcPct val="35000"/>
              </a:spcAft>
              <a:buClrTx/>
              <a:buSzTx/>
              <a:buFontTx/>
              <a:buNone/>
            </a:pPr>
            <a:r>
              <a:rPr lang="zh-CN" altLang="en-US" b="1" noProof="0" dirty="0">
                <a:ln>
                  <a:noFill/>
                </a:ln>
                <a:solidFill>
                  <a:schemeClr val="bg1"/>
                </a:solidFill>
                <a:effectLst/>
                <a:uLnTx/>
                <a:uFillTx/>
                <a:latin typeface="Arial" panose="020B0604020202020204"/>
                <a:ea typeface="微软雅黑" panose="020B0503020204020204" pitchFamily="34" charset="-122"/>
              </a:rPr>
              <a:t>新能源汽车爆燃</a:t>
            </a:r>
          </a:p>
        </p:txBody>
      </p:sp>
      <p:sp>
        <p:nvSpPr>
          <p:cNvPr id="1048602" name="文本框 28"/>
          <p:cNvSpPr txBox="1"/>
          <p:nvPr/>
        </p:nvSpPr>
        <p:spPr>
          <a:xfrm>
            <a:off x="990600" y="4119245"/>
            <a:ext cx="1882140" cy="368300"/>
          </a:xfrm>
          <a:prstGeom prst="rect">
            <a:avLst/>
          </a:prstGeom>
          <a:noFill/>
        </p:spPr>
        <p:txBody>
          <a:bodyPr wrap="square" rtlCol="0">
            <a:spAutoFit/>
          </a:bodyPr>
          <a:lstStyle/>
          <a:p>
            <a:pPr marL="0" marR="0" lvl="0" indent="0" algn="ctr" defTabSz="1422400" rtl="0" eaLnBrk="1" fontAlgn="auto" latinLnBrk="0" hangingPunct="1">
              <a:spcBef>
                <a:spcPct val="0"/>
              </a:spcBef>
              <a:spcAft>
                <a:spcPct val="35000"/>
              </a:spcAft>
              <a:buClrTx/>
              <a:buSzTx/>
              <a:buFontTx/>
              <a:buNone/>
            </a:pPr>
            <a:r>
              <a:rPr lang="zh-CN" altLang="en-US" b="1" noProof="0" dirty="0">
                <a:ln>
                  <a:noFill/>
                </a:ln>
                <a:solidFill>
                  <a:schemeClr val="bg1"/>
                </a:solidFill>
                <a:effectLst/>
                <a:uLnTx/>
                <a:uFillTx/>
                <a:latin typeface="Arial" panose="020B0604020202020204"/>
                <a:ea typeface="微软雅黑" panose="020B0503020204020204" pitchFamily="34" charset="-122"/>
              </a:rPr>
              <a:t>储能电站爆炸</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anim calcmode="lin" valueType="num">
                                      <p:cBhvr>
                                        <p:cTn id="8" dur="500" fill="hold"/>
                                        <p:tgtEl>
                                          <p:spTgt spid="31"/>
                                        </p:tgtEl>
                                        <p:attrNameLst>
                                          <p:attrName>ppt_x</p:attrName>
                                        </p:attrNameLst>
                                      </p:cBhvr>
                                      <p:tavLst>
                                        <p:tav tm="0">
                                          <p:val>
                                            <p:strVal val="#ppt_x"/>
                                          </p:val>
                                        </p:tav>
                                        <p:tav tm="100000">
                                          <p:val>
                                            <p:strVal val="#ppt_x"/>
                                          </p:val>
                                        </p:tav>
                                      </p:tavLst>
                                    </p:anim>
                                    <p:anim calcmode="lin" valueType="num">
                                      <p:cBhvr>
                                        <p:cTn id="9" dur="500" fill="hold"/>
                                        <p:tgtEl>
                                          <p:spTgt spid="31"/>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2097158"/>
                                        </p:tgtEl>
                                        <p:attrNameLst>
                                          <p:attrName>style.visibility</p:attrName>
                                        </p:attrNameLst>
                                      </p:cBhvr>
                                      <p:to>
                                        <p:strVal val="visible"/>
                                      </p:to>
                                    </p:set>
                                    <p:animEffect transition="in" filter="fade">
                                      <p:cBhvr>
                                        <p:cTn id="13" dur="500"/>
                                        <p:tgtEl>
                                          <p:spTgt spid="2097158"/>
                                        </p:tgtEl>
                                      </p:cBhvr>
                                    </p:animEffect>
                                    <p:anim calcmode="lin" valueType="num">
                                      <p:cBhvr>
                                        <p:cTn id="14" dur="500" fill="hold"/>
                                        <p:tgtEl>
                                          <p:spTgt spid="2097158"/>
                                        </p:tgtEl>
                                        <p:attrNameLst>
                                          <p:attrName>ppt_x</p:attrName>
                                        </p:attrNameLst>
                                      </p:cBhvr>
                                      <p:tavLst>
                                        <p:tav tm="0">
                                          <p:val>
                                            <p:strVal val="#ppt_x"/>
                                          </p:val>
                                        </p:tav>
                                        <p:tav tm="100000">
                                          <p:val>
                                            <p:strVal val="#ppt_x"/>
                                          </p:val>
                                        </p:tav>
                                      </p:tavLst>
                                    </p:anim>
                                    <p:anim calcmode="lin" valueType="num">
                                      <p:cBhvr>
                                        <p:cTn id="15" dur="500" fill="hold"/>
                                        <p:tgtEl>
                                          <p:spTgt spid="2097158"/>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1048602"/>
                                        </p:tgtEl>
                                        <p:attrNameLst>
                                          <p:attrName>style.visibility</p:attrName>
                                        </p:attrNameLst>
                                      </p:cBhvr>
                                      <p:to>
                                        <p:strVal val="visible"/>
                                      </p:to>
                                    </p:set>
                                    <p:animEffect transition="in" filter="fade">
                                      <p:cBhvr>
                                        <p:cTn id="18" dur="1000"/>
                                        <p:tgtEl>
                                          <p:spTgt spid="1048602"/>
                                        </p:tgtEl>
                                      </p:cBhvr>
                                    </p:animEffect>
                                    <p:anim calcmode="lin" valueType="num">
                                      <p:cBhvr>
                                        <p:cTn id="19" dur="1000" fill="hold"/>
                                        <p:tgtEl>
                                          <p:spTgt spid="1048602"/>
                                        </p:tgtEl>
                                        <p:attrNameLst>
                                          <p:attrName>ppt_x</p:attrName>
                                        </p:attrNameLst>
                                      </p:cBhvr>
                                      <p:tavLst>
                                        <p:tav tm="0">
                                          <p:val>
                                            <p:strVal val="#ppt_x"/>
                                          </p:val>
                                        </p:tav>
                                        <p:tav tm="100000">
                                          <p:val>
                                            <p:strVal val="#ppt_x"/>
                                          </p:val>
                                        </p:tav>
                                      </p:tavLst>
                                    </p:anim>
                                    <p:anim calcmode="lin" valueType="num">
                                      <p:cBhvr>
                                        <p:cTn id="20" dur="1000" fill="hold"/>
                                        <p:tgtEl>
                                          <p:spTgt spid="1048602"/>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048586"/>
                                        </p:tgtEl>
                                        <p:attrNameLst>
                                          <p:attrName>style.visibility</p:attrName>
                                        </p:attrNameLst>
                                      </p:cBhvr>
                                      <p:to>
                                        <p:strVal val="visible"/>
                                      </p:to>
                                    </p:set>
                                    <p:animEffect transition="in" filter="fade">
                                      <p:cBhvr>
                                        <p:cTn id="23" dur="1000"/>
                                        <p:tgtEl>
                                          <p:spTgt spid="1048586"/>
                                        </p:tgtEl>
                                      </p:cBhvr>
                                    </p:animEffect>
                                    <p:anim calcmode="lin" valueType="num">
                                      <p:cBhvr>
                                        <p:cTn id="24" dur="1000" fill="hold"/>
                                        <p:tgtEl>
                                          <p:spTgt spid="1048586"/>
                                        </p:tgtEl>
                                        <p:attrNameLst>
                                          <p:attrName>ppt_x</p:attrName>
                                        </p:attrNameLst>
                                      </p:cBhvr>
                                      <p:tavLst>
                                        <p:tav tm="0">
                                          <p:val>
                                            <p:strVal val="#ppt_x"/>
                                          </p:val>
                                        </p:tav>
                                        <p:tav tm="100000">
                                          <p:val>
                                            <p:strVal val="#ppt_x"/>
                                          </p:val>
                                        </p:tav>
                                      </p:tavLst>
                                    </p:anim>
                                    <p:anim calcmode="lin" valueType="num">
                                      <p:cBhvr>
                                        <p:cTn id="25" dur="1000" fill="hold"/>
                                        <p:tgtEl>
                                          <p:spTgt spid="1048586"/>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2097155"/>
                                        </p:tgtEl>
                                        <p:attrNameLst>
                                          <p:attrName>style.visibility</p:attrName>
                                        </p:attrNameLst>
                                      </p:cBhvr>
                                      <p:to>
                                        <p:strVal val="visible"/>
                                      </p:to>
                                    </p:set>
                                    <p:animEffect transition="in" filter="fade">
                                      <p:cBhvr>
                                        <p:cTn id="28" dur="1000"/>
                                        <p:tgtEl>
                                          <p:spTgt spid="2097155"/>
                                        </p:tgtEl>
                                      </p:cBhvr>
                                    </p:animEffect>
                                    <p:anim calcmode="lin" valueType="num">
                                      <p:cBhvr>
                                        <p:cTn id="29" dur="1000" fill="hold"/>
                                        <p:tgtEl>
                                          <p:spTgt spid="2097155"/>
                                        </p:tgtEl>
                                        <p:attrNameLst>
                                          <p:attrName>ppt_x</p:attrName>
                                        </p:attrNameLst>
                                      </p:cBhvr>
                                      <p:tavLst>
                                        <p:tav tm="0">
                                          <p:val>
                                            <p:strVal val="#ppt_x"/>
                                          </p:val>
                                        </p:tav>
                                        <p:tav tm="100000">
                                          <p:val>
                                            <p:strVal val="#ppt_x"/>
                                          </p:val>
                                        </p:tav>
                                      </p:tavLst>
                                    </p:anim>
                                    <p:anim calcmode="lin" valueType="num">
                                      <p:cBhvr>
                                        <p:cTn id="30" dur="1000" fill="hold"/>
                                        <p:tgtEl>
                                          <p:spTgt spid="2097155"/>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48601"/>
                                        </p:tgtEl>
                                        <p:attrNameLst>
                                          <p:attrName>style.visibility</p:attrName>
                                        </p:attrNameLst>
                                      </p:cBhvr>
                                      <p:to>
                                        <p:strVal val="visible"/>
                                      </p:to>
                                    </p:set>
                                    <p:animEffect transition="in" filter="fade">
                                      <p:cBhvr>
                                        <p:cTn id="33" dur="1000"/>
                                        <p:tgtEl>
                                          <p:spTgt spid="1048601"/>
                                        </p:tgtEl>
                                      </p:cBhvr>
                                    </p:animEffect>
                                    <p:anim calcmode="lin" valueType="num">
                                      <p:cBhvr>
                                        <p:cTn id="34" dur="1000" fill="hold"/>
                                        <p:tgtEl>
                                          <p:spTgt spid="1048601"/>
                                        </p:tgtEl>
                                        <p:attrNameLst>
                                          <p:attrName>ppt_x</p:attrName>
                                        </p:attrNameLst>
                                      </p:cBhvr>
                                      <p:tavLst>
                                        <p:tav tm="0">
                                          <p:val>
                                            <p:strVal val="#ppt_x"/>
                                          </p:val>
                                        </p:tav>
                                        <p:tav tm="100000">
                                          <p:val>
                                            <p:strVal val="#ppt_x"/>
                                          </p:val>
                                        </p:tav>
                                      </p:tavLst>
                                    </p:anim>
                                    <p:anim calcmode="lin" valueType="num">
                                      <p:cBhvr>
                                        <p:cTn id="35" dur="1000" fill="hold"/>
                                        <p:tgtEl>
                                          <p:spTgt spid="1048601"/>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048585"/>
                                        </p:tgtEl>
                                        <p:attrNameLst>
                                          <p:attrName>style.visibility</p:attrName>
                                        </p:attrNameLst>
                                      </p:cBhvr>
                                      <p:to>
                                        <p:strVal val="visible"/>
                                      </p:to>
                                    </p:set>
                                    <p:animEffect transition="in" filter="fade">
                                      <p:cBhvr>
                                        <p:cTn id="38" dur="1000"/>
                                        <p:tgtEl>
                                          <p:spTgt spid="1048585"/>
                                        </p:tgtEl>
                                      </p:cBhvr>
                                    </p:animEffect>
                                    <p:anim calcmode="lin" valueType="num">
                                      <p:cBhvr>
                                        <p:cTn id="39" dur="1000" fill="hold"/>
                                        <p:tgtEl>
                                          <p:spTgt spid="1048585"/>
                                        </p:tgtEl>
                                        <p:attrNameLst>
                                          <p:attrName>ppt_x</p:attrName>
                                        </p:attrNameLst>
                                      </p:cBhvr>
                                      <p:tavLst>
                                        <p:tav tm="0">
                                          <p:val>
                                            <p:strVal val="#ppt_x"/>
                                          </p:val>
                                        </p:tav>
                                        <p:tav tm="100000">
                                          <p:val>
                                            <p:strVal val="#ppt_x"/>
                                          </p:val>
                                        </p:tav>
                                      </p:tavLst>
                                    </p:anim>
                                    <p:anim calcmode="lin" valueType="num">
                                      <p:cBhvr>
                                        <p:cTn id="40" dur="1000" fill="hold"/>
                                        <p:tgtEl>
                                          <p:spTgt spid="1048585"/>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2097154"/>
                                        </p:tgtEl>
                                        <p:attrNameLst>
                                          <p:attrName>style.visibility</p:attrName>
                                        </p:attrNameLst>
                                      </p:cBhvr>
                                      <p:to>
                                        <p:strVal val="visible"/>
                                      </p:to>
                                    </p:set>
                                    <p:animEffect transition="in" filter="fade">
                                      <p:cBhvr>
                                        <p:cTn id="43" dur="1000"/>
                                        <p:tgtEl>
                                          <p:spTgt spid="2097154"/>
                                        </p:tgtEl>
                                      </p:cBhvr>
                                    </p:animEffect>
                                    <p:anim calcmode="lin" valueType="num">
                                      <p:cBhvr>
                                        <p:cTn id="44" dur="1000" fill="hold"/>
                                        <p:tgtEl>
                                          <p:spTgt spid="2097154"/>
                                        </p:tgtEl>
                                        <p:attrNameLst>
                                          <p:attrName>ppt_x</p:attrName>
                                        </p:attrNameLst>
                                      </p:cBhvr>
                                      <p:tavLst>
                                        <p:tav tm="0">
                                          <p:val>
                                            <p:strVal val="#ppt_x"/>
                                          </p:val>
                                        </p:tav>
                                        <p:tav tm="100000">
                                          <p:val>
                                            <p:strVal val="#ppt_x"/>
                                          </p:val>
                                        </p:tav>
                                      </p:tavLst>
                                    </p:anim>
                                    <p:anim calcmode="lin" valueType="num">
                                      <p:cBhvr>
                                        <p:cTn id="45" dur="1000" fill="hold"/>
                                        <p:tgtEl>
                                          <p:spTgt spid="2097154"/>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48587"/>
                                        </p:tgtEl>
                                        <p:attrNameLst>
                                          <p:attrName>style.visibility</p:attrName>
                                        </p:attrNameLst>
                                      </p:cBhvr>
                                      <p:to>
                                        <p:strVal val="visible"/>
                                      </p:to>
                                    </p:set>
                                    <p:animEffect transition="in" filter="fade">
                                      <p:cBhvr>
                                        <p:cTn id="50" dur="500"/>
                                        <p:tgtEl>
                                          <p:spTgt spid="1048587"/>
                                        </p:tgtEl>
                                      </p:cBhvr>
                                    </p:animEffect>
                                  </p:childTnLst>
                                </p:cTn>
                              </p:par>
                            </p:childTnLst>
                          </p:cTn>
                        </p:par>
                        <p:par>
                          <p:cTn id="51" fill="hold">
                            <p:stCondLst>
                              <p:cond delay="500"/>
                            </p:stCondLst>
                            <p:childTnLst>
                              <p:par>
                                <p:cTn id="52" presetID="42" presetClass="entr" presetSubtype="0" fill="hold" nodeType="afterEffect">
                                  <p:stCondLst>
                                    <p:cond delay="0"/>
                                  </p:stCondLst>
                                  <p:childTnLst>
                                    <p:set>
                                      <p:cBhvr>
                                        <p:cTn id="53" dur="1" fill="hold">
                                          <p:stCondLst>
                                            <p:cond delay="0"/>
                                          </p:stCondLst>
                                        </p:cTn>
                                        <p:tgtEl>
                                          <p:spTgt spid="2097157"/>
                                        </p:tgtEl>
                                        <p:attrNameLst>
                                          <p:attrName>style.visibility</p:attrName>
                                        </p:attrNameLst>
                                      </p:cBhvr>
                                      <p:to>
                                        <p:strVal val="visible"/>
                                      </p:to>
                                    </p:set>
                                    <p:animEffect transition="in" filter="fade">
                                      <p:cBhvr>
                                        <p:cTn id="54" dur="500"/>
                                        <p:tgtEl>
                                          <p:spTgt spid="2097157"/>
                                        </p:tgtEl>
                                      </p:cBhvr>
                                    </p:animEffect>
                                    <p:anim calcmode="lin" valueType="num">
                                      <p:cBhvr>
                                        <p:cTn id="55" dur="500" fill="hold"/>
                                        <p:tgtEl>
                                          <p:spTgt spid="2097157"/>
                                        </p:tgtEl>
                                        <p:attrNameLst>
                                          <p:attrName>ppt_x</p:attrName>
                                        </p:attrNameLst>
                                      </p:cBhvr>
                                      <p:tavLst>
                                        <p:tav tm="0">
                                          <p:val>
                                            <p:strVal val="#ppt_x"/>
                                          </p:val>
                                        </p:tav>
                                        <p:tav tm="100000">
                                          <p:val>
                                            <p:strVal val="#ppt_x"/>
                                          </p:val>
                                        </p:tav>
                                      </p:tavLst>
                                    </p:anim>
                                    <p:anim calcmode="lin" valueType="num">
                                      <p:cBhvr>
                                        <p:cTn id="56" dur="500" fill="hold"/>
                                        <p:tgtEl>
                                          <p:spTgt spid="2097157"/>
                                        </p:tgtEl>
                                        <p:attrNameLst>
                                          <p:attrName>ppt_y</p:attrName>
                                        </p:attrNameLst>
                                      </p:cBhvr>
                                      <p:tavLst>
                                        <p:tav tm="0">
                                          <p:val>
                                            <p:strVal val="#ppt_y+.1"/>
                                          </p:val>
                                        </p:tav>
                                        <p:tav tm="100000">
                                          <p:val>
                                            <p:strVal val="#ppt_y"/>
                                          </p:val>
                                        </p:tav>
                                      </p:tavLst>
                                    </p:anim>
                                  </p:childTnLst>
                                </p:cTn>
                              </p:par>
                            </p:childTnLst>
                          </p:cTn>
                        </p:par>
                        <p:par>
                          <p:cTn id="57" fill="hold">
                            <p:stCondLst>
                              <p:cond delay="1000"/>
                            </p:stCondLst>
                            <p:childTnLst>
                              <p:par>
                                <p:cTn id="58" presetID="42" presetClass="entr" presetSubtype="0" fill="hold" grpId="0" nodeType="afterEffect">
                                  <p:stCondLst>
                                    <p:cond delay="0"/>
                                  </p:stCondLst>
                                  <p:childTnLst>
                                    <p:set>
                                      <p:cBhvr>
                                        <p:cTn id="59" dur="1" fill="hold">
                                          <p:stCondLst>
                                            <p:cond delay="0"/>
                                          </p:stCondLst>
                                        </p:cTn>
                                        <p:tgtEl>
                                          <p:spTgt spid="1048599"/>
                                        </p:tgtEl>
                                        <p:attrNameLst>
                                          <p:attrName>style.visibility</p:attrName>
                                        </p:attrNameLst>
                                      </p:cBhvr>
                                      <p:to>
                                        <p:strVal val="visible"/>
                                      </p:to>
                                    </p:set>
                                    <p:animEffect transition="in" filter="fade">
                                      <p:cBhvr>
                                        <p:cTn id="60" dur="500"/>
                                        <p:tgtEl>
                                          <p:spTgt spid="1048599"/>
                                        </p:tgtEl>
                                      </p:cBhvr>
                                    </p:animEffect>
                                    <p:anim calcmode="lin" valueType="num">
                                      <p:cBhvr>
                                        <p:cTn id="61" dur="500" fill="hold"/>
                                        <p:tgtEl>
                                          <p:spTgt spid="1048599"/>
                                        </p:tgtEl>
                                        <p:attrNameLst>
                                          <p:attrName>ppt_x</p:attrName>
                                        </p:attrNameLst>
                                      </p:cBhvr>
                                      <p:tavLst>
                                        <p:tav tm="0">
                                          <p:val>
                                            <p:strVal val="#ppt_x"/>
                                          </p:val>
                                        </p:tav>
                                        <p:tav tm="100000">
                                          <p:val>
                                            <p:strVal val="#ppt_x"/>
                                          </p:val>
                                        </p:tav>
                                      </p:tavLst>
                                    </p:anim>
                                    <p:anim calcmode="lin" valueType="num">
                                      <p:cBhvr>
                                        <p:cTn id="62" dur="500" fill="hold"/>
                                        <p:tgtEl>
                                          <p:spTgt spid="1048599"/>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1048590"/>
                                        </p:tgtEl>
                                        <p:attrNameLst>
                                          <p:attrName>style.visibility</p:attrName>
                                        </p:attrNameLst>
                                      </p:cBhvr>
                                      <p:to>
                                        <p:strVal val="visible"/>
                                      </p:to>
                                    </p:set>
                                    <p:animEffect transition="in" filter="fade">
                                      <p:cBhvr>
                                        <p:cTn id="65" dur="500"/>
                                        <p:tgtEl>
                                          <p:spTgt spid="1048590"/>
                                        </p:tgtEl>
                                      </p:cBhvr>
                                    </p:animEffect>
                                    <p:anim calcmode="lin" valueType="num">
                                      <p:cBhvr>
                                        <p:cTn id="66" dur="500" fill="hold"/>
                                        <p:tgtEl>
                                          <p:spTgt spid="1048590"/>
                                        </p:tgtEl>
                                        <p:attrNameLst>
                                          <p:attrName>ppt_x</p:attrName>
                                        </p:attrNameLst>
                                      </p:cBhvr>
                                      <p:tavLst>
                                        <p:tav tm="0">
                                          <p:val>
                                            <p:strVal val="#ppt_x"/>
                                          </p:val>
                                        </p:tav>
                                        <p:tav tm="100000">
                                          <p:val>
                                            <p:strVal val="#ppt_x"/>
                                          </p:val>
                                        </p:tav>
                                      </p:tavLst>
                                    </p:anim>
                                    <p:anim calcmode="lin" valueType="num">
                                      <p:cBhvr>
                                        <p:cTn id="67" dur="500" fill="hold"/>
                                        <p:tgtEl>
                                          <p:spTgt spid="1048590"/>
                                        </p:tgtEl>
                                        <p:attrNameLst>
                                          <p:attrName>ppt_y</p:attrName>
                                        </p:attrNameLst>
                                      </p:cBhvr>
                                      <p:tavLst>
                                        <p:tav tm="0">
                                          <p:val>
                                            <p:strVal val="#ppt_y+.1"/>
                                          </p:val>
                                        </p:tav>
                                        <p:tav tm="100000">
                                          <p:val>
                                            <p:strVal val="#ppt_y"/>
                                          </p:val>
                                        </p:tav>
                                      </p:tavLst>
                                    </p:anim>
                                  </p:childTnLst>
                                </p:cTn>
                              </p:par>
                            </p:childTnLst>
                          </p:cTn>
                        </p:par>
                        <p:par>
                          <p:cTn id="68" fill="hold">
                            <p:stCondLst>
                              <p:cond delay="1500"/>
                            </p:stCondLst>
                            <p:childTnLst>
                              <p:par>
                                <p:cTn id="69" presetID="42" presetClass="entr" presetSubtype="0" fill="hold" grpId="0" nodeType="afterEffect">
                                  <p:stCondLst>
                                    <p:cond delay="0"/>
                                  </p:stCondLst>
                                  <p:childTnLst>
                                    <p:set>
                                      <p:cBhvr>
                                        <p:cTn id="70" dur="1" fill="hold">
                                          <p:stCondLst>
                                            <p:cond delay="0"/>
                                          </p:stCondLst>
                                        </p:cTn>
                                        <p:tgtEl>
                                          <p:spTgt spid="1048591"/>
                                        </p:tgtEl>
                                        <p:attrNameLst>
                                          <p:attrName>style.visibility</p:attrName>
                                        </p:attrNameLst>
                                      </p:cBhvr>
                                      <p:to>
                                        <p:strVal val="visible"/>
                                      </p:to>
                                    </p:set>
                                    <p:animEffect transition="in" filter="fade">
                                      <p:cBhvr>
                                        <p:cTn id="71" dur="500"/>
                                        <p:tgtEl>
                                          <p:spTgt spid="1048591"/>
                                        </p:tgtEl>
                                      </p:cBhvr>
                                    </p:animEffect>
                                    <p:anim calcmode="lin" valueType="num">
                                      <p:cBhvr>
                                        <p:cTn id="72" dur="500" fill="hold"/>
                                        <p:tgtEl>
                                          <p:spTgt spid="1048591"/>
                                        </p:tgtEl>
                                        <p:attrNameLst>
                                          <p:attrName>ppt_x</p:attrName>
                                        </p:attrNameLst>
                                      </p:cBhvr>
                                      <p:tavLst>
                                        <p:tav tm="0">
                                          <p:val>
                                            <p:strVal val="#ppt_x"/>
                                          </p:val>
                                        </p:tav>
                                        <p:tav tm="100000">
                                          <p:val>
                                            <p:strVal val="#ppt_x"/>
                                          </p:val>
                                        </p:tav>
                                      </p:tavLst>
                                    </p:anim>
                                    <p:anim calcmode="lin" valueType="num">
                                      <p:cBhvr>
                                        <p:cTn id="73" dur="500" fill="hold"/>
                                        <p:tgtEl>
                                          <p:spTgt spid="1048591"/>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048592"/>
                                        </p:tgtEl>
                                        <p:attrNameLst>
                                          <p:attrName>style.visibility</p:attrName>
                                        </p:attrNameLst>
                                      </p:cBhvr>
                                      <p:to>
                                        <p:strVal val="visible"/>
                                      </p:to>
                                    </p:set>
                                    <p:animEffect transition="in" filter="fade">
                                      <p:cBhvr>
                                        <p:cTn id="76" dur="500"/>
                                        <p:tgtEl>
                                          <p:spTgt spid="1048592"/>
                                        </p:tgtEl>
                                      </p:cBhvr>
                                    </p:animEffect>
                                    <p:anim calcmode="lin" valueType="num">
                                      <p:cBhvr>
                                        <p:cTn id="77" dur="500" fill="hold"/>
                                        <p:tgtEl>
                                          <p:spTgt spid="1048592"/>
                                        </p:tgtEl>
                                        <p:attrNameLst>
                                          <p:attrName>ppt_x</p:attrName>
                                        </p:attrNameLst>
                                      </p:cBhvr>
                                      <p:tavLst>
                                        <p:tav tm="0">
                                          <p:val>
                                            <p:strVal val="#ppt_x"/>
                                          </p:val>
                                        </p:tav>
                                        <p:tav tm="100000">
                                          <p:val>
                                            <p:strVal val="#ppt_x"/>
                                          </p:val>
                                        </p:tav>
                                      </p:tavLst>
                                    </p:anim>
                                    <p:anim calcmode="lin" valueType="num">
                                      <p:cBhvr>
                                        <p:cTn id="78" dur="500" fill="hold"/>
                                        <p:tgtEl>
                                          <p:spTgt spid="1048592"/>
                                        </p:tgtEl>
                                        <p:attrNameLst>
                                          <p:attrName>ppt_y</p:attrName>
                                        </p:attrNameLst>
                                      </p:cBhvr>
                                      <p:tavLst>
                                        <p:tav tm="0">
                                          <p:val>
                                            <p:strVal val="#ppt_y+.1"/>
                                          </p:val>
                                        </p:tav>
                                        <p:tav tm="100000">
                                          <p:val>
                                            <p:strVal val="#ppt_y"/>
                                          </p:val>
                                        </p:tav>
                                      </p:tavLst>
                                    </p:anim>
                                  </p:childTnLst>
                                </p:cTn>
                              </p:par>
                            </p:childTnLst>
                          </p:cTn>
                        </p:par>
                        <p:par>
                          <p:cTn id="79" fill="hold">
                            <p:stCondLst>
                              <p:cond delay="2000"/>
                            </p:stCondLst>
                            <p:childTnLst>
                              <p:par>
                                <p:cTn id="80" presetID="10" presetClass="entr" presetSubtype="0" fill="hold" nodeType="afterEffect">
                                  <p:stCondLst>
                                    <p:cond delay="0"/>
                                  </p:stCondLst>
                                  <p:childTnLst>
                                    <p:set>
                                      <p:cBhvr>
                                        <p:cTn id="81" dur="1" fill="hold">
                                          <p:stCondLst>
                                            <p:cond delay="0"/>
                                          </p:stCondLst>
                                        </p:cTn>
                                        <p:tgtEl>
                                          <p:spTgt spid="2097156"/>
                                        </p:tgtEl>
                                        <p:attrNameLst>
                                          <p:attrName>style.visibility</p:attrName>
                                        </p:attrNameLst>
                                      </p:cBhvr>
                                      <p:to>
                                        <p:strVal val="visible"/>
                                      </p:to>
                                    </p:set>
                                    <p:animEffect transition="in" filter="fade">
                                      <p:cBhvr>
                                        <p:cTn id="82" dur="500"/>
                                        <p:tgtEl>
                                          <p:spTgt spid="209715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048598"/>
                                        </p:tgtEl>
                                        <p:attrNameLst>
                                          <p:attrName>style.visibility</p:attrName>
                                        </p:attrNameLst>
                                      </p:cBhvr>
                                      <p:to>
                                        <p:strVal val="visible"/>
                                      </p:to>
                                    </p:set>
                                    <p:animEffect transition="in" filter="fade">
                                      <p:cBhvr>
                                        <p:cTn id="85" dur="500"/>
                                        <p:tgtEl>
                                          <p:spTgt spid="1048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85" grpId="0" bldLvl="0" animBg="1"/>
      <p:bldP spid="1048585" grpId="1" animBg="1"/>
      <p:bldP spid="1048586" grpId="0" bldLvl="0" animBg="1"/>
      <p:bldP spid="1048586" grpId="1" animBg="1"/>
      <p:bldP spid="1048587" grpId="0" bldLvl="0" animBg="1"/>
      <p:bldP spid="1048590" grpId="0" bldLvl="0" animBg="1"/>
      <p:bldP spid="1048591" grpId="0" bldLvl="0" animBg="1"/>
      <p:bldP spid="1048592" grpId="0" bldLvl="0" animBg="1"/>
      <p:bldP spid="1048598" grpId="0" bldLvl="0" animBg="1"/>
      <p:bldP spid="1048599" grpId="0" bldLvl="0" animBg="1"/>
      <p:bldP spid="1048601" grpId="0"/>
      <p:bldP spid="1048601" grpId="1"/>
      <p:bldP spid="1048602" grpId="0"/>
      <p:bldP spid="1048602"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1"/>
          <p:cNvGrpSpPr/>
          <p:nvPr/>
        </p:nvGrpSpPr>
        <p:grpSpPr bwMode="auto">
          <a:xfrm>
            <a:off x="-189" y="49001"/>
            <a:ext cx="4819457" cy="657539"/>
            <a:chOff x="287705" y="46516"/>
            <a:chExt cx="3070393" cy="658536"/>
          </a:xfrm>
        </p:grpSpPr>
        <p:sp>
          <p:nvSpPr>
            <p:cNvPr id="1048608" name="矩形 65"/>
            <p:cNvSpPr>
              <a:spLocks noChangeArrowheads="1"/>
            </p:cNvSpPr>
            <p:nvPr/>
          </p:nvSpPr>
          <p:spPr bwMode="auto">
            <a:xfrm>
              <a:off x="287705" y="46516"/>
              <a:ext cx="3025004" cy="584450"/>
            </a:xfrm>
            <a:prstGeom prst="rect">
              <a:avLst/>
            </a:prstGeom>
            <a:no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685800" eaLnBrk="1" fontAlgn="auto" hangingPunct="1">
                <a:spcBef>
                  <a:spcPct val="0"/>
                </a:spcBef>
                <a:spcAft>
                  <a:spcPts val="0"/>
                </a:spcAft>
                <a:buFont typeface="Arial" panose="020B0604020202020204" pitchFamily="34" charset="0"/>
                <a:buNone/>
              </a:pPr>
              <a:r>
                <a:rPr lang="en-US" altLang="zh-CN" b="1" spc="600" dirty="0">
                  <a:solidFill>
                    <a:schemeClr val="bg1"/>
                  </a:solidFill>
                  <a:latin typeface="微软雅黑" panose="020B0503020204020204" pitchFamily="34" charset="-122"/>
                  <a:ea typeface="微软雅黑" panose="020B0503020204020204" pitchFamily="34" charset="-122"/>
                </a:rPr>
                <a:t>01</a:t>
              </a:r>
              <a:r>
                <a:rPr lang="zh-CN" altLang="en-US" b="1" spc="600" dirty="0">
                  <a:solidFill>
                    <a:schemeClr val="bg1"/>
                  </a:solidFill>
                  <a:latin typeface="微软雅黑" panose="020B0503020204020204" pitchFamily="34" charset="-122"/>
                  <a:ea typeface="微软雅黑" panose="020B0503020204020204" pitchFamily="34" charset="-122"/>
                </a:rPr>
                <a:t>项目背景 </a:t>
              </a:r>
              <a:r>
                <a:rPr lang="zh-CN" altLang="en-US" sz="2000" b="1" spc="600" dirty="0">
                  <a:solidFill>
                    <a:schemeClr val="bg1"/>
                  </a:solidFill>
                  <a:latin typeface="微软雅黑" panose="020B0503020204020204" pitchFamily="34" charset="-122"/>
                  <a:ea typeface="微软雅黑" panose="020B0503020204020204" pitchFamily="34" charset="-122"/>
                </a:rPr>
                <a:t>创新需求</a:t>
              </a:r>
            </a:p>
          </p:txBody>
        </p:sp>
        <p:sp>
          <p:nvSpPr>
            <p:cNvPr id="1048609" name="矩形 104"/>
            <p:cNvSpPr/>
            <p:nvPr/>
          </p:nvSpPr>
          <p:spPr>
            <a:xfrm>
              <a:off x="333094" y="659264"/>
              <a:ext cx="3025004" cy="45788"/>
            </a:xfrm>
            <a:prstGeom prst="rect">
              <a:avLst/>
            </a:prstGeom>
            <a:gradFill flip="none" rotWithShape="1">
              <a:gsLst>
                <a:gs pos="4000">
                  <a:schemeClr val="bg1"/>
                </a:gs>
                <a:gs pos="72000">
                  <a:schemeClr val="bg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dirty="0">
                <a:solidFill>
                  <a:srgbClr val="1B69B4"/>
                </a:solidFill>
              </a:endParaRPr>
            </a:p>
          </p:txBody>
        </p:sp>
      </p:grpSp>
      <p:sp>
        <p:nvSpPr>
          <p:cNvPr id="1048610" name="任意多边形: 形状 139"/>
          <p:cNvSpPr/>
          <p:nvPr>
            <p:custDataLst>
              <p:tags r:id="rId1"/>
            </p:custDataLst>
          </p:nvPr>
        </p:nvSpPr>
        <p:spPr>
          <a:xfrm>
            <a:off x="4549927" y="1232014"/>
            <a:ext cx="3233173" cy="436944"/>
          </a:xfrm>
          <a:custGeom>
            <a:avLst/>
            <a:gdLst>
              <a:gd name="connsiteX0" fmla="*/ 0 w 4017893"/>
              <a:gd name="connsiteY0" fmla="*/ 0 h 1001463"/>
              <a:gd name="connsiteX1" fmla="*/ 3517162 w 4017893"/>
              <a:gd name="connsiteY1" fmla="*/ 0 h 1001463"/>
              <a:gd name="connsiteX2" fmla="*/ 4017893 w 4017893"/>
              <a:gd name="connsiteY2" fmla="*/ 500732 h 1001463"/>
              <a:gd name="connsiteX3" fmla="*/ 3517162 w 4017893"/>
              <a:gd name="connsiteY3" fmla="*/ 1001463 h 1001463"/>
              <a:gd name="connsiteX4" fmla="*/ 39838 w 4017893"/>
              <a:gd name="connsiteY4" fmla="*/ 1001463 h 1001463"/>
              <a:gd name="connsiteX5" fmla="*/ 537500 w 4017893"/>
              <a:gd name="connsiteY5" fmla="*/ 503801 h 1001463"/>
              <a:gd name="connsiteX6" fmla="*/ 36769 w 4017893"/>
              <a:gd name="connsiteY6" fmla="*/ 3069 h 1001463"/>
              <a:gd name="connsiteX7" fmla="*/ 0 w 4017893"/>
              <a:gd name="connsiteY7" fmla="*/ 3069 h 100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17893" h="1001463">
                <a:moveTo>
                  <a:pt x="0" y="0"/>
                </a:moveTo>
                <a:lnTo>
                  <a:pt x="3517162" y="0"/>
                </a:lnTo>
                <a:lnTo>
                  <a:pt x="4017893" y="500732"/>
                </a:lnTo>
                <a:lnTo>
                  <a:pt x="3517162" y="1001463"/>
                </a:lnTo>
                <a:lnTo>
                  <a:pt x="39838" y="1001463"/>
                </a:lnTo>
                <a:lnTo>
                  <a:pt x="537500" y="503801"/>
                </a:lnTo>
                <a:lnTo>
                  <a:pt x="36769" y="3069"/>
                </a:lnTo>
                <a:lnTo>
                  <a:pt x="0" y="3069"/>
                </a:lnTo>
                <a:close/>
              </a:path>
            </a:pathLst>
          </a:custGeom>
          <a:gradFill flip="none" rotWithShape="1">
            <a:gsLst>
              <a:gs pos="0">
                <a:schemeClr val="bg2">
                  <a:alpha val="40000"/>
                </a:schemeClr>
              </a:gs>
              <a:gs pos="100000">
                <a:srgbClr val="0466C1"/>
              </a:gs>
            </a:gsLst>
            <a:lin ang="0" scaled="1"/>
          </a:gradFill>
          <a:ln>
            <a:solidFill>
              <a:srgbClr val="000000">
                <a:alpha val="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048611" name="任意多边形: 形状 139"/>
          <p:cNvSpPr/>
          <p:nvPr>
            <p:custDataLst>
              <p:tags r:id="rId2"/>
            </p:custDataLst>
          </p:nvPr>
        </p:nvSpPr>
        <p:spPr>
          <a:xfrm>
            <a:off x="8336915" y="1231900"/>
            <a:ext cx="2914015" cy="436880"/>
          </a:xfrm>
          <a:custGeom>
            <a:avLst/>
            <a:gdLst>
              <a:gd name="connsiteX0" fmla="*/ 0 w 4017893"/>
              <a:gd name="connsiteY0" fmla="*/ 0 h 1001463"/>
              <a:gd name="connsiteX1" fmla="*/ 3517162 w 4017893"/>
              <a:gd name="connsiteY1" fmla="*/ 0 h 1001463"/>
              <a:gd name="connsiteX2" fmla="*/ 4017893 w 4017893"/>
              <a:gd name="connsiteY2" fmla="*/ 500732 h 1001463"/>
              <a:gd name="connsiteX3" fmla="*/ 3517162 w 4017893"/>
              <a:gd name="connsiteY3" fmla="*/ 1001463 h 1001463"/>
              <a:gd name="connsiteX4" fmla="*/ 39838 w 4017893"/>
              <a:gd name="connsiteY4" fmla="*/ 1001463 h 1001463"/>
              <a:gd name="connsiteX5" fmla="*/ 537500 w 4017893"/>
              <a:gd name="connsiteY5" fmla="*/ 503801 h 1001463"/>
              <a:gd name="connsiteX6" fmla="*/ 36769 w 4017893"/>
              <a:gd name="connsiteY6" fmla="*/ 3069 h 1001463"/>
              <a:gd name="connsiteX7" fmla="*/ 0 w 4017893"/>
              <a:gd name="connsiteY7" fmla="*/ 3069 h 100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17893" h="1001463">
                <a:moveTo>
                  <a:pt x="0" y="0"/>
                </a:moveTo>
                <a:lnTo>
                  <a:pt x="3517162" y="0"/>
                </a:lnTo>
                <a:lnTo>
                  <a:pt x="4017893" y="500732"/>
                </a:lnTo>
                <a:lnTo>
                  <a:pt x="3517162" y="1001463"/>
                </a:lnTo>
                <a:lnTo>
                  <a:pt x="39838" y="1001463"/>
                </a:lnTo>
                <a:lnTo>
                  <a:pt x="537500" y="503801"/>
                </a:lnTo>
                <a:lnTo>
                  <a:pt x="36769" y="3069"/>
                </a:lnTo>
                <a:lnTo>
                  <a:pt x="0" y="3069"/>
                </a:lnTo>
                <a:close/>
              </a:path>
            </a:pathLst>
          </a:custGeom>
          <a:gradFill flip="none" rotWithShape="1">
            <a:gsLst>
              <a:gs pos="0">
                <a:schemeClr val="bg2">
                  <a:alpha val="40000"/>
                </a:schemeClr>
              </a:gs>
              <a:gs pos="100000">
                <a:srgbClr val="0466C1"/>
              </a:gs>
            </a:gsLst>
            <a:lin ang="0" scaled="1"/>
          </a:gradFill>
          <a:ln>
            <a:solidFill>
              <a:srgbClr val="000000">
                <a:alpha val="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40" name="组合 28"/>
          <p:cNvGrpSpPr/>
          <p:nvPr>
            <p:custDataLst>
              <p:tags r:id="rId3"/>
            </p:custDataLst>
          </p:nvPr>
        </p:nvGrpSpPr>
        <p:grpSpPr>
          <a:xfrm>
            <a:off x="8018145" y="1718310"/>
            <a:ext cx="3552190" cy="4003040"/>
            <a:chOff x="8017854" y="1718063"/>
            <a:chExt cx="3552326" cy="3519835"/>
          </a:xfrm>
        </p:grpSpPr>
        <p:sp>
          <p:nvSpPr>
            <p:cNvPr id="1048612" name="矩形 15"/>
            <p:cNvSpPr/>
            <p:nvPr>
              <p:custDataLst>
                <p:tags r:id="rId22"/>
              </p:custDataLst>
            </p:nvPr>
          </p:nvSpPr>
          <p:spPr bwMode="auto">
            <a:xfrm>
              <a:off x="8017854" y="1718063"/>
              <a:ext cx="3552326" cy="3519835"/>
            </a:xfrm>
            <a:prstGeom prst="rect">
              <a:avLst/>
            </a:prstGeom>
            <a:noFill/>
            <a:ln w="19050" cap="flat" cmpd="sng" algn="ctr">
              <a:solidFill>
                <a:srgbClr val="0070C0"/>
              </a:solidFill>
              <a:prstDash val="solid"/>
              <a:headEnd type="none" w="med" len="med"/>
              <a:tailEnd type="none" w="med" len="med"/>
            </a:ln>
            <a:effectLst>
              <a:outerShdw blurRad="40000" dist="20000" dir="5400000" rotWithShape="0">
                <a:srgbClr val="000000">
                  <a:alpha val="38000"/>
                </a:srgbClr>
              </a:outerShdw>
            </a:effectLst>
          </p:spPr>
          <p:txBody>
            <a:bodyPr lIns="0" tIns="0" rIns="0" bIns="0"/>
            <a:lstStyle/>
            <a:p>
              <a:endParaRPr lang="zh-CN" altLang="en-US" sz="1500" b="1" kern="0" dirty="0">
                <a:solidFill>
                  <a:srgbClr val="333399"/>
                </a:solidFill>
                <a:latin typeface="Arial" panose="020B0604020202020204" pitchFamily="34" charset="0"/>
                <a:ea typeface="黑体" panose="02010609060101010101" charset="-122"/>
              </a:endParaRPr>
            </a:p>
          </p:txBody>
        </p:sp>
        <p:sp>
          <p:nvSpPr>
            <p:cNvPr id="1048613" name="文本框 16"/>
            <p:cNvSpPr txBox="1"/>
            <p:nvPr>
              <p:custDataLst>
                <p:tags r:id="rId23"/>
              </p:custDataLst>
            </p:nvPr>
          </p:nvSpPr>
          <p:spPr>
            <a:xfrm>
              <a:off x="8125839" y="1822289"/>
              <a:ext cx="3344319" cy="501185"/>
            </a:xfrm>
            <a:prstGeom prst="rect">
              <a:avLst/>
            </a:prstGeom>
            <a:solidFill>
              <a:schemeClr val="accent1">
                <a:lumMod val="20000"/>
                <a:lumOff val="80000"/>
              </a:schemeClr>
            </a:solidFill>
            <a:ln w="50800" cap="flat" cmpd="sng" algn="ctr">
              <a:noFill/>
              <a:prstDash val="solid"/>
              <a:round/>
              <a:headEnd type="none" w="med" len="med"/>
              <a:tailEnd type="none" w="med" len="med"/>
            </a:ln>
            <a:effectLst/>
          </p:spPr>
          <p:txBody>
            <a:bodyPr vert="horz" wrap="square" lIns="0" tIns="0" rIns="0" bIns="0" numCol="1" rtlCol="0" anchor="ctr" anchorCtr="0" compatLnSpc="1">
              <a:noAutofit/>
            </a:bodyPr>
            <a:lstStyle>
              <a:defPPr>
                <a:defRPr lang="zh-CN"/>
              </a:defPPr>
              <a:lvl1pPr algn="ctr">
                <a:lnSpc>
                  <a:spcPct val="120000"/>
                </a:lnSpc>
                <a:defRPr sz="1600">
                  <a:solidFill>
                    <a:schemeClr val="bg1"/>
                  </a:solidFill>
                  <a:latin typeface="微软雅黑" panose="020B0503020204020204" pitchFamily="34" charset="-122"/>
                  <a:ea typeface="微软雅黑" panose="020B0503020204020204" pitchFamily="34" charset="-122"/>
                </a:defRPr>
              </a:lvl1pPr>
            </a:lstStyle>
            <a:p>
              <a:pPr lvl="0" eaLnBrk="1" fontAlgn="auto" hangingPunct="1">
                <a:lnSpc>
                  <a:spcPct val="110000"/>
                </a:lnSpc>
                <a:spcBef>
                  <a:spcPts val="0"/>
                </a:spcBef>
                <a:spcAft>
                  <a:spcPts val="0"/>
                </a:spcAft>
              </a:pPr>
              <a:r>
                <a:rPr lang="zh-CN" altLang="en-US" sz="2000" b="1" kern="0" dirty="0">
                  <a:solidFill>
                    <a:schemeClr val="tx1"/>
                  </a:solidFill>
                </a:rPr>
                <a:t>广泛的应用价值</a:t>
              </a:r>
              <a:endParaRPr kumimoji="0" lang="zh-CN" altLang="en-US" sz="2000" b="1" i="0" u="none" strike="noStrike" kern="0" cap="none" spc="0" normalizeH="0" baseline="0" noProof="0" dirty="0">
                <a:ln>
                  <a:noFill/>
                </a:ln>
                <a:solidFill>
                  <a:schemeClr val="tx1"/>
                </a:solidFill>
                <a:effectLst/>
                <a:uLnTx/>
                <a:uFillTx/>
              </a:endParaRPr>
            </a:p>
          </p:txBody>
        </p:sp>
        <p:grpSp>
          <p:nvGrpSpPr>
            <p:cNvPr id="41" name="组合 17"/>
            <p:cNvGrpSpPr/>
            <p:nvPr/>
          </p:nvGrpSpPr>
          <p:grpSpPr>
            <a:xfrm>
              <a:off x="8073270" y="4418400"/>
              <a:ext cx="3446179" cy="501185"/>
              <a:chOff x="839048" y="3037238"/>
              <a:chExt cx="3452562" cy="458250"/>
            </a:xfrm>
            <a:effectLst/>
          </p:grpSpPr>
          <p:sp>
            <p:nvSpPr>
              <p:cNvPr id="1048614" name="圆角矩形 60"/>
              <p:cNvSpPr/>
              <p:nvPr>
                <p:custDataLst>
                  <p:tags r:id="rId25"/>
                </p:custDataLst>
              </p:nvPr>
            </p:nvSpPr>
            <p:spPr bwMode="auto">
              <a:xfrm>
                <a:off x="891712" y="3037238"/>
                <a:ext cx="3344320" cy="458250"/>
              </a:xfrm>
              <a:prstGeom prst="roundRect">
                <a:avLst/>
              </a:prstGeom>
              <a:solidFill>
                <a:schemeClr val="accent1">
                  <a:lumMod val="60000"/>
                  <a:lumOff val="40000"/>
                </a:schemeClr>
              </a:solidFill>
              <a:ln w="9525" cap="flat" cmpd="sng" algn="ctr">
                <a:noFill/>
                <a:prstDash val="solid"/>
                <a:headEnd type="none" w="med" len="med"/>
                <a:tailEnd type="none" w="med" len="med"/>
              </a:ln>
              <a:effectLst/>
            </p:spPr>
            <p:txBody>
              <a:bodyPr vert="horz" wrap="square" lIns="0" tIns="0" rIns="0" bIns="0" numCol="1" rtlCol="0" anchor="t" anchorCtr="0" compatLnSpc="1">
                <a:no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4400" b="0" i="0" u="none" strike="noStrike" kern="0" cap="none" spc="0" normalizeH="0" baseline="0" noProof="0" dirty="0">
                  <a:ln>
                    <a:noFill/>
                  </a:ln>
                  <a:solidFill>
                    <a:srgbClr val="333399"/>
                  </a:solidFill>
                  <a:effectLst/>
                  <a:uLnTx/>
                  <a:uFillTx/>
                  <a:latin typeface="+mn-ea"/>
                  <a:ea typeface="+mn-ea"/>
                  <a:cs typeface="+mn-cs"/>
                </a:endParaRPr>
              </a:p>
            </p:txBody>
          </p:sp>
          <p:sp>
            <p:nvSpPr>
              <p:cNvPr id="1048615" name="矩形 19"/>
              <p:cNvSpPr/>
              <p:nvPr>
                <p:custDataLst>
                  <p:tags r:id="rId26"/>
                </p:custDataLst>
              </p:nvPr>
            </p:nvSpPr>
            <p:spPr>
              <a:xfrm>
                <a:off x="839048" y="3093345"/>
                <a:ext cx="3452562" cy="318052"/>
              </a:xfrm>
              <a:prstGeom prst="rect">
                <a:avLst/>
              </a:prstGeom>
            </p:spPr>
            <p:txBody>
              <a:bodyPr wrap="square">
                <a:spAutoFit/>
              </a:bodyPr>
              <a:lstStyle/>
              <a:p>
                <a:pPr algn="ctr">
                  <a:lnSpc>
                    <a:spcPct val="110000"/>
                  </a:lnSpc>
                </a:pPr>
                <a:r>
                  <a:rPr lang="zh-CN" altLang="en-US" b="1" dirty="0">
                    <a:solidFill>
                      <a:srgbClr val="000000"/>
                    </a:solidFill>
                    <a:latin typeface="微软雅黑" panose="020B0503020204020204" pitchFamily="34" charset="-122"/>
                    <a:ea typeface="微软雅黑" panose="020B0503020204020204" pitchFamily="34" charset="-122"/>
                  </a:rPr>
                  <a:t>电池检测系统准度、速度优化</a:t>
                </a:r>
              </a:p>
            </p:txBody>
          </p:sp>
        </p:grpSp>
        <p:pic>
          <p:nvPicPr>
            <p:cNvPr id="2097159" name="图片 20"/>
            <p:cNvPicPr>
              <a:picLocks noChangeAspect="1"/>
            </p:cNvPicPr>
            <p:nvPr>
              <p:custDataLst>
                <p:tags r:id="rId24"/>
              </p:custDataLst>
            </p:nvPr>
          </p:nvPicPr>
          <p:blipFill>
            <a:blip r:embed="rId28"/>
            <a:stretch>
              <a:fillRect/>
            </a:stretch>
          </p:blipFill>
          <p:spPr>
            <a:xfrm>
              <a:off x="8132021" y="2462313"/>
              <a:ext cx="3338137" cy="1753441"/>
            </a:xfrm>
            <a:prstGeom prst="rect">
              <a:avLst/>
            </a:prstGeom>
            <a:ln>
              <a:noFill/>
            </a:ln>
            <a:effectLst>
              <a:outerShdw blurRad="190500" algn="tl" rotWithShape="0">
                <a:srgbClr val="249087">
                  <a:alpha val="40000"/>
                </a:srgbClr>
              </a:outerShdw>
            </a:effectLst>
          </p:spPr>
        </p:pic>
      </p:grpSp>
      <p:sp>
        <p:nvSpPr>
          <p:cNvPr id="1048616" name="文本框 22"/>
          <p:cNvSpPr txBox="1"/>
          <p:nvPr>
            <p:custDataLst>
              <p:tags r:id="rId4"/>
            </p:custDataLst>
          </p:nvPr>
        </p:nvSpPr>
        <p:spPr>
          <a:xfrm>
            <a:off x="8909799" y="1192714"/>
            <a:ext cx="1768436" cy="521970"/>
          </a:xfrm>
          <a:prstGeom prst="rect">
            <a:avLst/>
          </a:prstGeom>
          <a:noFill/>
        </p:spPr>
        <p:txBody>
          <a:bodyPr wrap="square">
            <a:spAutoFit/>
          </a:bodyPr>
          <a:lstStyle/>
          <a:p>
            <a:pPr algn="ctr"/>
            <a:r>
              <a:rPr lang="zh-CN" altLang="en-US" sz="2800" b="1" spc="300" dirty="0">
                <a:ln w="6350">
                  <a:noFill/>
                </a:ln>
                <a:solidFill>
                  <a:schemeClr val="accent1">
                    <a:lumMod val="75000"/>
                  </a:schemeClr>
                </a:solidFill>
                <a:latin typeface="微软雅黑" panose="020B0503020204020204" pitchFamily="34" charset="-122"/>
                <a:ea typeface="微软雅黑" panose="020B0503020204020204" pitchFamily="34" charset="-122"/>
              </a:rPr>
              <a:t>设计优化</a:t>
            </a:r>
            <a:endParaRPr lang="zh-CN" altLang="en-US" sz="2800" dirty="0">
              <a:solidFill>
                <a:schemeClr val="accent5">
                  <a:lumMod val="50000"/>
                </a:schemeClr>
              </a:solidFill>
            </a:endParaRPr>
          </a:p>
        </p:txBody>
      </p:sp>
      <p:sp>
        <p:nvSpPr>
          <p:cNvPr id="1048617" name="任意多边形: 形状 139"/>
          <p:cNvSpPr/>
          <p:nvPr>
            <p:custDataLst>
              <p:tags r:id="rId5"/>
            </p:custDataLst>
          </p:nvPr>
        </p:nvSpPr>
        <p:spPr>
          <a:xfrm>
            <a:off x="610870" y="1214120"/>
            <a:ext cx="3525520" cy="436880"/>
          </a:xfrm>
          <a:custGeom>
            <a:avLst/>
            <a:gdLst>
              <a:gd name="connsiteX0" fmla="*/ 0 w 4017893"/>
              <a:gd name="connsiteY0" fmla="*/ 0 h 1001463"/>
              <a:gd name="connsiteX1" fmla="*/ 3517162 w 4017893"/>
              <a:gd name="connsiteY1" fmla="*/ 0 h 1001463"/>
              <a:gd name="connsiteX2" fmla="*/ 4017893 w 4017893"/>
              <a:gd name="connsiteY2" fmla="*/ 500732 h 1001463"/>
              <a:gd name="connsiteX3" fmla="*/ 3517162 w 4017893"/>
              <a:gd name="connsiteY3" fmla="*/ 1001463 h 1001463"/>
              <a:gd name="connsiteX4" fmla="*/ 39838 w 4017893"/>
              <a:gd name="connsiteY4" fmla="*/ 1001463 h 1001463"/>
              <a:gd name="connsiteX5" fmla="*/ 537500 w 4017893"/>
              <a:gd name="connsiteY5" fmla="*/ 503801 h 1001463"/>
              <a:gd name="connsiteX6" fmla="*/ 36769 w 4017893"/>
              <a:gd name="connsiteY6" fmla="*/ 3069 h 1001463"/>
              <a:gd name="connsiteX7" fmla="*/ 0 w 4017893"/>
              <a:gd name="connsiteY7" fmla="*/ 3069 h 100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17893" h="1001463">
                <a:moveTo>
                  <a:pt x="0" y="0"/>
                </a:moveTo>
                <a:lnTo>
                  <a:pt x="3517162" y="0"/>
                </a:lnTo>
                <a:lnTo>
                  <a:pt x="4017893" y="500732"/>
                </a:lnTo>
                <a:lnTo>
                  <a:pt x="3517162" y="1001463"/>
                </a:lnTo>
                <a:lnTo>
                  <a:pt x="39838" y="1001463"/>
                </a:lnTo>
                <a:lnTo>
                  <a:pt x="537500" y="503801"/>
                </a:lnTo>
                <a:lnTo>
                  <a:pt x="36769" y="3069"/>
                </a:lnTo>
                <a:lnTo>
                  <a:pt x="0" y="3069"/>
                </a:lnTo>
                <a:close/>
              </a:path>
            </a:pathLst>
          </a:custGeom>
          <a:gradFill flip="none" rotWithShape="1">
            <a:gsLst>
              <a:gs pos="0">
                <a:schemeClr val="bg2">
                  <a:alpha val="40000"/>
                </a:schemeClr>
              </a:gs>
              <a:gs pos="100000">
                <a:srgbClr val="0466C1"/>
              </a:gs>
            </a:gsLst>
            <a:lin ang="0" scaled="1"/>
          </a:gradFill>
          <a:ln>
            <a:solidFill>
              <a:srgbClr val="000000">
                <a:alpha val="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048618" name="文本框 120"/>
          <p:cNvSpPr txBox="1"/>
          <p:nvPr>
            <p:custDataLst>
              <p:tags r:id="rId6"/>
            </p:custDataLst>
          </p:nvPr>
        </p:nvSpPr>
        <p:spPr>
          <a:xfrm>
            <a:off x="1411773" y="1177868"/>
            <a:ext cx="1768436" cy="521970"/>
          </a:xfrm>
          <a:prstGeom prst="rect">
            <a:avLst/>
          </a:prstGeom>
          <a:noFill/>
        </p:spPr>
        <p:txBody>
          <a:bodyPr wrap="square">
            <a:spAutoFit/>
          </a:bodyPr>
          <a:lstStyle/>
          <a:p>
            <a:pPr algn="ctr"/>
            <a:r>
              <a:rPr lang="zh-CN" altLang="en-US" sz="2800" b="1" spc="300" dirty="0">
                <a:ln w="6350">
                  <a:noFill/>
                </a:ln>
                <a:solidFill>
                  <a:schemeClr val="accent1">
                    <a:lumMod val="75000"/>
                  </a:schemeClr>
                </a:solidFill>
                <a:latin typeface="微软雅黑" panose="020B0503020204020204" pitchFamily="34" charset="-122"/>
                <a:ea typeface="微软雅黑" panose="020B0503020204020204" pitchFamily="34" charset="-122"/>
              </a:rPr>
              <a:t>机理剖析</a:t>
            </a:r>
          </a:p>
        </p:txBody>
      </p:sp>
      <p:grpSp>
        <p:nvGrpSpPr>
          <p:cNvPr id="42" name="组合 27"/>
          <p:cNvGrpSpPr/>
          <p:nvPr>
            <p:custDataLst>
              <p:tags r:id="rId7"/>
            </p:custDataLst>
          </p:nvPr>
        </p:nvGrpSpPr>
        <p:grpSpPr>
          <a:xfrm>
            <a:off x="283210" y="1694815"/>
            <a:ext cx="4025265" cy="4026535"/>
            <a:chOff x="3916130" y="1718063"/>
            <a:chExt cx="4025392" cy="3519835"/>
          </a:xfrm>
        </p:grpSpPr>
        <p:sp>
          <p:nvSpPr>
            <p:cNvPr id="1048619" name="矩形 121"/>
            <p:cNvSpPr/>
            <p:nvPr>
              <p:custDataLst>
                <p:tags r:id="rId16"/>
              </p:custDataLst>
            </p:nvPr>
          </p:nvSpPr>
          <p:spPr bwMode="auto">
            <a:xfrm>
              <a:off x="3916130" y="1718063"/>
              <a:ext cx="4025392" cy="3519835"/>
            </a:xfrm>
            <a:prstGeom prst="rect">
              <a:avLst/>
            </a:prstGeom>
            <a:noFill/>
            <a:ln w="19050" cap="flat" cmpd="sng" algn="ctr">
              <a:solidFill>
                <a:srgbClr val="0070C0"/>
              </a:solidFill>
              <a:prstDash val="solid"/>
              <a:headEnd type="none" w="med" len="med"/>
              <a:tailEnd type="none" w="med" len="med"/>
            </a:ln>
            <a:effectLst>
              <a:outerShdw blurRad="40000" dist="20000" dir="5400000" rotWithShape="0">
                <a:srgbClr val="000000">
                  <a:alpha val="38000"/>
                </a:srgbClr>
              </a:outerShdw>
            </a:effectLst>
          </p:spPr>
          <p:txBody>
            <a:bodyPr lIns="0" tIns="0" rIns="0" bIns="0"/>
            <a:lstStyle/>
            <a:p>
              <a:endParaRPr lang="zh-CN" altLang="en-US" sz="1500" b="1" kern="0" dirty="0">
                <a:solidFill>
                  <a:srgbClr val="333399"/>
                </a:solidFill>
                <a:latin typeface="Arial" panose="020B0604020202020204" pitchFamily="34" charset="0"/>
                <a:ea typeface="黑体" panose="02010609060101010101" charset="-122"/>
              </a:endParaRPr>
            </a:p>
          </p:txBody>
        </p:sp>
        <p:sp>
          <p:nvSpPr>
            <p:cNvPr id="1048620" name="文本框 122"/>
            <p:cNvSpPr txBox="1"/>
            <p:nvPr>
              <p:custDataLst>
                <p:tags r:id="rId17"/>
              </p:custDataLst>
            </p:nvPr>
          </p:nvSpPr>
          <p:spPr>
            <a:xfrm>
              <a:off x="4001007" y="1824732"/>
              <a:ext cx="3832530" cy="501184"/>
            </a:xfrm>
            <a:prstGeom prst="rect">
              <a:avLst/>
            </a:prstGeom>
            <a:solidFill>
              <a:schemeClr val="accent1">
                <a:lumMod val="20000"/>
                <a:lumOff val="80000"/>
              </a:schemeClr>
            </a:solidFill>
            <a:ln w="50800" cap="flat" cmpd="sng" algn="ctr">
              <a:noFill/>
              <a:prstDash val="solid"/>
              <a:round/>
              <a:headEnd type="none" w="med" len="med"/>
              <a:tailEnd type="none" w="med" len="med"/>
            </a:ln>
            <a:effectLst/>
          </p:spPr>
          <p:txBody>
            <a:bodyPr vert="horz" wrap="square" lIns="0" tIns="0" rIns="0" bIns="0" numCol="1" rtlCol="0" anchor="ctr" anchorCtr="0" compatLnSpc="1">
              <a:noAutofit/>
            </a:bodyPr>
            <a:lstStyle>
              <a:defPPr>
                <a:defRPr lang="zh-CN"/>
              </a:defPPr>
              <a:lvl1pPr algn="ctr">
                <a:lnSpc>
                  <a:spcPct val="120000"/>
                </a:lnSpc>
                <a:defRPr sz="1600">
                  <a:solidFill>
                    <a:schemeClr val="bg1"/>
                  </a:solidFill>
                  <a:latin typeface="微软雅黑" panose="020B0503020204020204" pitchFamily="34" charset="-122"/>
                  <a:ea typeface="微软雅黑" panose="020B0503020204020204" pitchFamily="34" charset="-122"/>
                </a:defRPr>
              </a:lvl1pPr>
            </a:lstStyle>
            <a:p>
              <a:pPr lvl="0" eaLnBrk="1" fontAlgn="auto" hangingPunct="1">
                <a:lnSpc>
                  <a:spcPct val="110000"/>
                </a:lnSpc>
                <a:spcBef>
                  <a:spcPts val="0"/>
                </a:spcBef>
                <a:spcAft>
                  <a:spcPts val="0"/>
                </a:spcAft>
              </a:pPr>
              <a:r>
                <a:rPr lang="zh-CN" altLang="en-US" sz="2000" b="1" kern="0" dirty="0">
                  <a:solidFill>
                    <a:schemeClr val="tx1"/>
                  </a:solidFill>
                </a:rPr>
                <a:t>储能电池内部的理化特征</a:t>
              </a:r>
              <a:endParaRPr kumimoji="0" lang="zh-CN" altLang="en-US" sz="2000" b="1" i="0" u="none" strike="noStrike" kern="0" cap="none" spc="0" normalizeH="0" baseline="0" noProof="0" dirty="0">
                <a:ln>
                  <a:noFill/>
                </a:ln>
                <a:solidFill>
                  <a:schemeClr val="tx1"/>
                </a:solidFill>
                <a:effectLst/>
                <a:uLnTx/>
                <a:uFillTx/>
              </a:endParaRPr>
            </a:p>
          </p:txBody>
        </p:sp>
        <p:sp>
          <p:nvSpPr>
            <p:cNvPr id="1048621" name="圆角矩形 60"/>
            <p:cNvSpPr/>
            <p:nvPr>
              <p:custDataLst>
                <p:tags r:id="rId18"/>
              </p:custDataLst>
            </p:nvPr>
          </p:nvSpPr>
          <p:spPr bwMode="auto">
            <a:xfrm>
              <a:off x="4001007" y="4418401"/>
              <a:ext cx="3832530" cy="501184"/>
            </a:xfrm>
            <a:prstGeom prst="roundRect">
              <a:avLst/>
            </a:prstGeom>
            <a:solidFill>
              <a:schemeClr val="accent1">
                <a:lumMod val="60000"/>
                <a:lumOff val="40000"/>
              </a:schemeClr>
            </a:solidFill>
            <a:ln w="9525" cap="flat" cmpd="sng" algn="ctr">
              <a:noFill/>
              <a:prstDash val="solid"/>
              <a:headEnd type="none" w="med" len="med"/>
              <a:tailEnd type="none" w="med" len="med"/>
            </a:ln>
            <a:effectLst/>
          </p:spPr>
          <p:txBody>
            <a:bodyPr vert="horz" wrap="square" lIns="0" tIns="0" rIns="0" bIns="0" numCol="1" rtlCol="0" anchor="t" anchorCtr="0" compatLnSpc="1">
              <a:no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4400" b="0" i="0" u="none" strike="noStrike" kern="0" cap="none" spc="0" normalizeH="0" baseline="0" noProof="0">
                <a:ln>
                  <a:noFill/>
                </a:ln>
                <a:solidFill>
                  <a:srgbClr val="333399"/>
                </a:solidFill>
                <a:effectLst/>
                <a:uLnTx/>
                <a:uFillTx/>
                <a:latin typeface="+mn-ea"/>
                <a:ea typeface="+mn-ea"/>
                <a:cs typeface="+mn-cs"/>
              </a:endParaRPr>
            </a:p>
          </p:txBody>
        </p:sp>
        <p:sp>
          <p:nvSpPr>
            <p:cNvPr id="1048622" name="矩形 127"/>
            <p:cNvSpPr/>
            <p:nvPr>
              <p:custDataLst>
                <p:tags r:id="rId19"/>
              </p:custDataLst>
            </p:nvPr>
          </p:nvSpPr>
          <p:spPr>
            <a:xfrm>
              <a:off x="4066198" y="4455717"/>
              <a:ext cx="3702147" cy="345822"/>
            </a:xfrm>
            <a:prstGeom prst="rect">
              <a:avLst/>
            </a:prstGeom>
          </p:spPr>
          <p:txBody>
            <a:bodyPr wrap="square">
              <a:spAutoFit/>
            </a:bodyPr>
            <a:lstStyle/>
            <a:p>
              <a:pPr algn="ctr">
                <a:lnSpc>
                  <a:spcPct val="110000"/>
                </a:lnSpc>
              </a:pPr>
              <a:r>
                <a:rPr lang="zh-CN" altLang="en-US" b="1" dirty="0">
                  <a:solidFill>
                    <a:srgbClr val="000000"/>
                  </a:solidFill>
                  <a:latin typeface="微软雅黑" panose="020B0503020204020204" pitchFamily="34" charset="-122"/>
                  <a:ea typeface="微软雅黑" panose="020B0503020204020204" pitchFamily="34" charset="-122"/>
                </a:rPr>
                <a:t>储能电池温度、</a:t>
              </a:r>
              <a:r>
                <a:rPr lang="en-US" altLang="zh-CN" b="1" dirty="0">
                  <a:solidFill>
                    <a:srgbClr val="000000"/>
                  </a:solidFill>
                  <a:latin typeface="微软雅黑" panose="020B0503020204020204" pitchFamily="34" charset="-122"/>
                  <a:ea typeface="微软雅黑" panose="020B0503020204020204" pitchFamily="34" charset="-122"/>
                </a:rPr>
                <a:t>SOC</a:t>
              </a:r>
              <a:r>
                <a:rPr lang="zh-CN" altLang="en-US" b="1" dirty="0">
                  <a:solidFill>
                    <a:srgbClr val="000000"/>
                  </a:solidFill>
                  <a:latin typeface="微软雅黑" panose="020B0503020204020204" pitchFamily="34" charset="-122"/>
                  <a:ea typeface="微软雅黑" panose="020B0503020204020204" pitchFamily="34" charset="-122"/>
                </a:rPr>
                <a:t>以及</a:t>
              </a:r>
              <a:r>
                <a:rPr lang="en-US" altLang="zh-CN" b="1" dirty="0">
                  <a:solidFill>
                    <a:srgbClr val="000000"/>
                  </a:solidFill>
                  <a:latin typeface="微软雅黑" panose="020B0503020204020204" pitchFamily="34" charset="-122"/>
                  <a:ea typeface="微软雅黑" panose="020B0503020204020204" pitchFamily="34" charset="-122"/>
                </a:rPr>
                <a:t>SOH</a:t>
              </a:r>
              <a:r>
                <a:rPr lang="zh-CN" altLang="en-US" b="1" dirty="0">
                  <a:solidFill>
                    <a:srgbClr val="000000"/>
                  </a:solidFill>
                  <a:latin typeface="微软雅黑" panose="020B0503020204020204" pitchFamily="34" charset="-122"/>
                  <a:ea typeface="微软雅黑" panose="020B0503020204020204" pitchFamily="34" charset="-122"/>
                </a:rPr>
                <a:t>分析</a:t>
              </a:r>
            </a:p>
          </p:txBody>
        </p:sp>
        <p:pic>
          <p:nvPicPr>
            <p:cNvPr id="2097160" name="图片 124"/>
            <p:cNvPicPr>
              <a:picLocks noChangeAspect="1"/>
            </p:cNvPicPr>
            <p:nvPr>
              <p:custDataLst>
                <p:tags r:id="rId20"/>
              </p:custDataLst>
            </p:nvPr>
          </p:nvPicPr>
          <p:blipFill>
            <a:blip r:embed="rId29" cstate="print"/>
            <a:stretch>
              <a:fillRect/>
            </a:stretch>
          </p:blipFill>
          <p:spPr>
            <a:xfrm>
              <a:off x="4001007" y="2456341"/>
              <a:ext cx="2395857" cy="1767554"/>
            </a:xfrm>
            <a:prstGeom prst="rect">
              <a:avLst/>
            </a:prstGeom>
            <a:ln>
              <a:noFill/>
            </a:ln>
            <a:effectLst>
              <a:outerShdw blurRad="190500" algn="tl" rotWithShape="0">
                <a:srgbClr val="249087">
                  <a:alpha val="40000"/>
                </a:srgbClr>
              </a:outerShdw>
            </a:effectLst>
          </p:spPr>
        </p:pic>
        <p:pic>
          <p:nvPicPr>
            <p:cNvPr id="2097161" name="图片 125"/>
            <p:cNvPicPr>
              <a:picLocks noChangeAspect="1"/>
            </p:cNvPicPr>
            <p:nvPr>
              <p:custDataLst>
                <p:tags r:id="rId21"/>
              </p:custDataLst>
            </p:nvPr>
          </p:nvPicPr>
          <p:blipFill>
            <a:blip r:embed="rId30" cstate="print"/>
            <a:stretch>
              <a:fillRect/>
            </a:stretch>
          </p:blipFill>
          <p:spPr>
            <a:xfrm>
              <a:off x="6396864" y="2455005"/>
              <a:ext cx="1436673" cy="1767554"/>
            </a:xfrm>
            <a:prstGeom prst="rect">
              <a:avLst/>
            </a:prstGeom>
            <a:ln>
              <a:noFill/>
            </a:ln>
            <a:effectLst>
              <a:outerShdw blurRad="190500" algn="tl" rotWithShape="0">
                <a:srgbClr val="249087">
                  <a:alpha val="40000"/>
                </a:srgbClr>
              </a:outerShdw>
            </a:effectLst>
          </p:spPr>
        </p:pic>
      </p:grpSp>
      <p:grpSp>
        <p:nvGrpSpPr>
          <p:cNvPr id="43" name="组合 2"/>
          <p:cNvGrpSpPr/>
          <p:nvPr>
            <p:custDataLst>
              <p:tags r:id="rId8"/>
            </p:custDataLst>
          </p:nvPr>
        </p:nvGrpSpPr>
        <p:grpSpPr>
          <a:xfrm>
            <a:off x="4549775" y="1179195"/>
            <a:ext cx="3233420" cy="4542790"/>
            <a:chOff x="937" y="1857"/>
            <a:chExt cx="5092" cy="6392"/>
          </a:xfrm>
        </p:grpSpPr>
        <p:sp>
          <p:nvSpPr>
            <p:cNvPr id="1048624" name="文本框 13"/>
            <p:cNvSpPr txBox="1"/>
            <p:nvPr>
              <p:custDataLst>
                <p:tags r:id="rId9"/>
              </p:custDataLst>
            </p:nvPr>
          </p:nvSpPr>
          <p:spPr>
            <a:xfrm>
              <a:off x="2051" y="1857"/>
              <a:ext cx="2864" cy="734"/>
            </a:xfrm>
            <a:prstGeom prst="rect">
              <a:avLst/>
            </a:prstGeom>
            <a:noFill/>
          </p:spPr>
          <p:txBody>
            <a:bodyPr wrap="square">
              <a:spAutoFit/>
            </a:bodyPr>
            <a:lstStyle/>
            <a:p>
              <a:pPr algn="ctr"/>
              <a:r>
                <a:rPr lang="zh-CN" altLang="en-US" sz="2800" b="1" spc="300" dirty="0">
                  <a:ln w="6350">
                    <a:noFill/>
                  </a:ln>
                  <a:solidFill>
                    <a:schemeClr val="accent1">
                      <a:lumMod val="75000"/>
                    </a:schemeClr>
                  </a:solidFill>
                  <a:latin typeface="微软雅黑" panose="020B0503020204020204" pitchFamily="34" charset="-122"/>
                  <a:ea typeface="微软雅黑" panose="020B0503020204020204" pitchFamily="34" charset="-122"/>
                </a:rPr>
                <a:t>系统集成</a:t>
              </a:r>
            </a:p>
          </p:txBody>
        </p:sp>
        <p:grpSp>
          <p:nvGrpSpPr>
            <p:cNvPr id="44" name="组合 21"/>
            <p:cNvGrpSpPr/>
            <p:nvPr>
              <p:custDataLst>
                <p:tags r:id="rId10"/>
              </p:custDataLst>
            </p:nvPr>
          </p:nvGrpSpPr>
          <p:grpSpPr>
            <a:xfrm>
              <a:off x="937" y="2706"/>
              <a:ext cx="5092" cy="5543"/>
              <a:chOff x="595148" y="1718063"/>
              <a:chExt cx="3233173" cy="3519835"/>
            </a:xfrm>
          </p:grpSpPr>
          <p:sp>
            <p:nvSpPr>
              <p:cNvPr id="1048625" name="矩形 4"/>
              <p:cNvSpPr/>
              <p:nvPr>
                <p:custDataLst>
                  <p:tags r:id="rId11"/>
                </p:custDataLst>
              </p:nvPr>
            </p:nvSpPr>
            <p:spPr bwMode="auto">
              <a:xfrm>
                <a:off x="595148" y="1718063"/>
                <a:ext cx="3233173" cy="3519835"/>
              </a:xfrm>
              <a:prstGeom prst="rect">
                <a:avLst/>
              </a:prstGeom>
              <a:noFill/>
              <a:ln w="19050" cap="flat" cmpd="sng" algn="ctr">
                <a:solidFill>
                  <a:srgbClr val="0070C0"/>
                </a:solidFill>
                <a:prstDash val="solid"/>
                <a:headEnd type="none" w="med" len="med"/>
                <a:tailEnd type="none" w="med" len="med"/>
              </a:ln>
              <a:effectLst>
                <a:outerShdw blurRad="40000" dist="20000" dir="5400000" rotWithShape="0">
                  <a:srgbClr val="000000">
                    <a:alpha val="38000"/>
                  </a:srgbClr>
                </a:outerShdw>
              </a:effectLst>
            </p:spPr>
            <p:txBody>
              <a:bodyPr lIns="0" tIns="0" rIns="0" bIns="0"/>
              <a:lstStyle/>
              <a:p>
                <a:endParaRPr lang="zh-CN" altLang="en-US" sz="1500" b="1" kern="0" dirty="0">
                  <a:solidFill>
                    <a:srgbClr val="333399"/>
                  </a:solidFill>
                  <a:latin typeface="Arial" panose="020B0604020202020204" pitchFamily="34" charset="0"/>
                  <a:ea typeface="黑体" panose="02010609060101010101" charset="-122"/>
                </a:endParaRPr>
              </a:p>
            </p:txBody>
          </p:sp>
          <p:grpSp>
            <p:nvGrpSpPr>
              <p:cNvPr id="45" name="组合 5"/>
              <p:cNvGrpSpPr/>
              <p:nvPr/>
            </p:nvGrpSpPr>
            <p:grpSpPr>
              <a:xfrm>
                <a:off x="675004" y="1824460"/>
                <a:ext cx="3032384" cy="3098816"/>
                <a:chOff x="448155" y="1132333"/>
                <a:chExt cx="3032384" cy="2833353"/>
              </a:xfrm>
            </p:grpSpPr>
            <p:sp>
              <p:nvSpPr>
                <p:cNvPr id="1048626" name="文本框 6"/>
                <p:cNvSpPr txBox="1"/>
                <p:nvPr>
                  <p:custDataLst>
                    <p:tags r:id="rId12"/>
                  </p:custDataLst>
                </p:nvPr>
              </p:nvSpPr>
              <p:spPr>
                <a:xfrm>
                  <a:off x="493069" y="1132333"/>
                  <a:ext cx="2983632" cy="458250"/>
                </a:xfrm>
                <a:prstGeom prst="rect">
                  <a:avLst/>
                </a:prstGeom>
                <a:solidFill>
                  <a:schemeClr val="accent1">
                    <a:lumMod val="20000"/>
                    <a:lumOff val="80000"/>
                  </a:schemeClr>
                </a:solidFill>
                <a:ln w="50800" cap="flat" cmpd="sng" algn="ctr">
                  <a:noFill/>
                  <a:prstDash val="solid"/>
                  <a:round/>
                  <a:headEnd type="none" w="med" len="med"/>
                  <a:tailEnd type="none" w="med" len="med"/>
                </a:ln>
                <a:effectLst/>
              </p:spPr>
              <p:txBody>
                <a:bodyPr vert="horz" wrap="square" lIns="0" tIns="0" rIns="0" bIns="0" numCol="1" rtlCol="0" anchor="ctr" anchorCtr="0" compatLnSpc="1">
                  <a:noAutofit/>
                </a:bodyPr>
                <a:lstStyle>
                  <a:defPPr>
                    <a:defRPr lang="zh-CN"/>
                  </a:defPPr>
                  <a:lvl1pPr algn="ctr">
                    <a:lnSpc>
                      <a:spcPct val="120000"/>
                    </a:lnSpc>
                    <a:defRPr sz="1600">
                      <a:solidFill>
                        <a:schemeClr val="bg1"/>
                      </a:solidFill>
                      <a:latin typeface="微软雅黑" panose="020B0503020204020204" pitchFamily="34" charset="-122"/>
                      <a:ea typeface="微软雅黑" panose="020B0503020204020204" pitchFamily="34" charset="-122"/>
                    </a:defRPr>
                  </a:lvl1pPr>
                </a:lstStyle>
                <a:p>
                  <a:pPr lvl="0" eaLnBrk="1" fontAlgn="auto" hangingPunct="1">
                    <a:lnSpc>
                      <a:spcPct val="110000"/>
                    </a:lnSpc>
                    <a:spcBef>
                      <a:spcPts val="0"/>
                    </a:spcBef>
                    <a:spcAft>
                      <a:spcPts val="0"/>
                    </a:spcAft>
                  </a:pPr>
                  <a:r>
                    <a:rPr kumimoji="0" lang="zh-CN" altLang="en-US" sz="2000" b="1" i="0" u="none" strike="noStrike" kern="0" cap="none" spc="0" normalizeH="0" baseline="0" noProof="0" dirty="0">
                      <a:ln>
                        <a:noFill/>
                      </a:ln>
                      <a:solidFill>
                        <a:schemeClr val="tx1"/>
                      </a:solidFill>
                      <a:effectLst/>
                      <a:uLnTx/>
                      <a:uFillTx/>
                    </a:rPr>
                    <a:t>电化学阻抗谱快速测试</a:t>
                  </a:r>
                </a:p>
              </p:txBody>
            </p:sp>
            <p:pic>
              <p:nvPicPr>
                <p:cNvPr id="2097162" name="图片 7"/>
                <p:cNvPicPr>
                  <a:picLocks noChangeAspect="1"/>
                </p:cNvPicPr>
                <p:nvPr>
                  <p:custDataLst>
                    <p:tags r:id="rId13"/>
                  </p:custDataLst>
                </p:nvPr>
              </p:nvPicPr>
              <p:blipFill>
                <a:blip r:embed="rId31" cstate="print"/>
                <a:stretch>
                  <a:fillRect/>
                </a:stretch>
              </p:blipFill>
              <p:spPr>
                <a:xfrm>
                  <a:off x="493069" y="1710084"/>
                  <a:ext cx="2983633" cy="1616134"/>
                </a:xfrm>
                <a:prstGeom prst="rect">
                  <a:avLst/>
                </a:prstGeom>
                <a:ln>
                  <a:noFill/>
                </a:ln>
                <a:effectLst>
                  <a:outerShdw blurRad="190500" algn="tl" rotWithShape="0">
                    <a:srgbClr val="249087">
                      <a:alpha val="40000"/>
                    </a:srgbClr>
                  </a:outerShdw>
                </a:effectLst>
              </p:spPr>
            </p:pic>
            <p:grpSp>
              <p:nvGrpSpPr>
                <p:cNvPr id="46" name="组合 8"/>
                <p:cNvGrpSpPr/>
                <p:nvPr/>
              </p:nvGrpSpPr>
              <p:grpSpPr>
                <a:xfrm>
                  <a:off x="448155" y="3507436"/>
                  <a:ext cx="3032384" cy="458250"/>
                  <a:chOff x="897906" y="3051129"/>
                  <a:chExt cx="3382220" cy="458250"/>
                </a:xfrm>
                <a:effectLst/>
              </p:grpSpPr>
              <p:sp>
                <p:nvSpPr>
                  <p:cNvPr id="1048627" name="圆角矩形 60"/>
                  <p:cNvSpPr/>
                  <p:nvPr>
                    <p:custDataLst>
                      <p:tags r:id="rId14"/>
                    </p:custDataLst>
                  </p:nvPr>
                </p:nvSpPr>
                <p:spPr bwMode="auto">
                  <a:xfrm>
                    <a:off x="948002" y="3051129"/>
                    <a:ext cx="3332124" cy="458250"/>
                  </a:xfrm>
                  <a:prstGeom prst="roundRect">
                    <a:avLst/>
                  </a:prstGeom>
                  <a:solidFill>
                    <a:schemeClr val="accent1">
                      <a:lumMod val="60000"/>
                      <a:lumOff val="40000"/>
                    </a:schemeClr>
                  </a:solidFill>
                  <a:ln w="9525" cap="flat" cmpd="sng" algn="ctr">
                    <a:noFill/>
                    <a:prstDash val="solid"/>
                    <a:headEnd type="none" w="med" len="med"/>
                    <a:tailEnd type="none" w="med" len="med"/>
                  </a:ln>
                  <a:effectLst/>
                </p:spPr>
                <p:txBody>
                  <a:bodyPr vert="horz" wrap="square" lIns="0" tIns="0" rIns="0" bIns="0" numCol="1" rtlCol="0" anchor="t" anchorCtr="0" compatLnSpc="1">
                    <a:no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4400" b="0" i="0" u="none" strike="noStrike" kern="0" cap="none" spc="0" normalizeH="0" baseline="0" noProof="0">
                      <a:ln>
                        <a:noFill/>
                      </a:ln>
                      <a:solidFill>
                        <a:srgbClr val="333399"/>
                      </a:solidFill>
                      <a:effectLst/>
                      <a:uLnTx/>
                      <a:uFillTx/>
                      <a:latin typeface="+mn-ea"/>
                      <a:ea typeface="+mn-ea"/>
                      <a:cs typeface="+mn-cs"/>
                    </a:endParaRPr>
                  </a:p>
                </p:txBody>
              </p:sp>
              <p:sp>
                <p:nvSpPr>
                  <p:cNvPr id="1048628" name="矩形 10"/>
                  <p:cNvSpPr/>
                  <p:nvPr>
                    <p:custDataLst>
                      <p:tags r:id="rId15"/>
                    </p:custDataLst>
                  </p:nvPr>
                </p:nvSpPr>
                <p:spPr>
                  <a:xfrm>
                    <a:off x="897906" y="3084502"/>
                    <a:ext cx="3350513" cy="323190"/>
                  </a:xfrm>
                  <a:prstGeom prst="rect">
                    <a:avLst/>
                  </a:prstGeom>
                </p:spPr>
                <p:txBody>
                  <a:bodyPr wrap="square">
                    <a:spAutoFit/>
                  </a:bodyPr>
                  <a:lstStyle/>
                  <a:p>
                    <a:pPr algn="ctr">
                      <a:lnSpc>
                        <a:spcPct val="110000"/>
                      </a:lnSpc>
                    </a:pPr>
                    <a:r>
                      <a:rPr lang="zh-CN" altLang="en-US" b="1" dirty="0">
                        <a:solidFill>
                          <a:srgbClr val="000000"/>
                        </a:solidFill>
                        <a:latin typeface="微软雅黑" panose="020B0503020204020204" pitchFamily="34" charset="-122"/>
                        <a:ea typeface="微软雅黑" panose="020B0503020204020204" pitchFamily="34" charset="-122"/>
                      </a:rPr>
                      <a:t>检测模块封装集成</a:t>
                    </a:r>
                  </a:p>
                </p:txBody>
              </p:sp>
            </p:grpSp>
          </p:grpSp>
        </p:grpSp>
      </p:grpSp>
      <p:sp>
        <p:nvSpPr>
          <p:cNvPr id="1048629" name="文本框 1"/>
          <p:cNvSpPr txBox="1"/>
          <p:nvPr/>
        </p:nvSpPr>
        <p:spPr>
          <a:xfrm>
            <a:off x="11852910" y="6513195"/>
            <a:ext cx="339090" cy="275590"/>
          </a:xfrm>
          <a:prstGeom prst="rect">
            <a:avLst/>
          </a:prstGeom>
          <a:noFill/>
        </p:spPr>
        <p:txBody>
          <a:bodyPr wrap="square" rtlCol="0">
            <a:spAutoFit/>
          </a:bodyPr>
          <a:lstStyle/>
          <a:p>
            <a:r>
              <a:rPr lang="en-US" altLang="zh-CN" sz="1200" b="1">
                <a:solidFill>
                  <a:schemeClr val="bg1"/>
                </a:solidFill>
              </a:rPr>
              <a:t>3</a:t>
            </a:r>
          </a:p>
        </p:txBody>
      </p:sp>
      <p:grpSp>
        <p:nvGrpSpPr>
          <p:cNvPr id="8196" name="组合 1"/>
          <p:cNvGrpSpPr/>
          <p:nvPr/>
        </p:nvGrpSpPr>
        <p:grpSpPr bwMode="auto">
          <a:xfrm>
            <a:off x="268288" y="103188"/>
            <a:ext cx="4747591" cy="601662"/>
            <a:chOff x="267858" y="102478"/>
            <a:chExt cx="3025443" cy="602574"/>
          </a:xfrm>
        </p:grpSpPr>
        <p:sp>
          <p:nvSpPr>
            <p:cNvPr id="3" name="矩形 65"/>
            <p:cNvSpPr>
              <a:spLocks noChangeArrowheads="1"/>
            </p:cNvSpPr>
            <p:nvPr/>
          </p:nvSpPr>
          <p:spPr bwMode="auto">
            <a:xfrm>
              <a:off x="267858" y="102478"/>
              <a:ext cx="3025443" cy="584450"/>
            </a:xfrm>
            <a:prstGeom prst="rect">
              <a:avLst/>
            </a:prstGeom>
            <a:no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685800" eaLnBrk="1" fontAlgn="auto" hangingPunct="1">
                <a:spcBef>
                  <a:spcPct val="0"/>
                </a:spcBef>
                <a:spcAft>
                  <a:spcPts val="0"/>
                </a:spcAft>
                <a:buFont typeface="Arial" panose="020B0604020202020204" pitchFamily="34" charset="0"/>
                <a:buNone/>
                <a:defRPr/>
              </a:pPr>
              <a:r>
                <a:rPr lang="en-US" altLang="zh-CN" b="1" spc="300" dirty="0">
                  <a:ln w="6350">
                    <a:noFill/>
                  </a:ln>
                  <a:solidFill>
                    <a:srgbClr val="1B69B4"/>
                  </a:solidFill>
                  <a:latin typeface="微软雅黑" panose="020B0503020204020204" pitchFamily="34" charset="-122"/>
                  <a:ea typeface="微软雅黑" panose="020B0503020204020204" pitchFamily="34" charset="-122"/>
                </a:rPr>
                <a:t>03</a:t>
              </a:r>
              <a:r>
                <a:rPr lang="zh-CN" altLang="en-US" b="1" spc="300" dirty="0">
                  <a:ln w="6350">
                    <a:noFill/>
                  </a:ln>
                  <a:solidFill>
                    <a:srgbClr val="1B69B4"/>
                  </a:solidFill>
                  <a:latin typeface="微软雅黑" panose="020B0503020204020204" pitchFamily="34" charset="-122"/>
                  <a:ea typeface="微软雅黑" panose="020B0503020204020204" pitchFamily="34" charset="-122"/>
                </a:rPr>
                <a:t>项目背景 </a:t>
              </a:r>
              <a:r>
                <a:rPr lang="zh-CN" altLang="en-US" sz="2000" b="1" spc="300" dirty="0">
                  <a:ln w="6350">
                    <a:noFill/>
                  </a:ln>
                  <a:solidFill>
                    <a:srgbClr val="1B69B4"/>
                  </a:solidFill>
                  <a:latin typeface="微软雅黑" panose="020B0503020204020204" pitchFamily="34" charset="-122"/>
                  <a:ea typeface="微软雅黑" panose="020B0503020204020204" pitchFamily="34" charset="-122"/>
                </a:rPr>
                <a:t>创新需求</a:t>
              </a:r>
            </a:p>
          </p:txBody>
        </p:sp>
        <p:sp>
          <p:nvSpPr>
            <p:cNvPr id="4" name="矩形 3"/>
            <p:cNvSpPr/>
            <p:nvPr/>
          </p:nvSpPr>
          <p:spPr>
            <a:xfrm>
              <a:off x="333094" y="659333"/>
              <a:ext cx="2653687" cy="45719"/>
            </a:xfrm>
            <a:prstGeom prst="rect">
              <a:avLst/>
            </a:prstGeom>
            <a:gradFill flip="none" rotWithShape="1">
              <a:gsLst>
                <a:gs pos="100000">
                  <a:schemeClr val="bg1">
                    <a:alpha val="0"/>
                  </a:schemeClr>
                </a:gs>
                <a:gs pos="4000">
                  <a:srgbClr val="1B69B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1B69B4"/>
                </a:solidFill>
              </a:endParaRPr>
            </a:p>
          </p:txBody>
        </p:sp>
      </p:grpSp>
      <p:sp>
        <p:nvSpPr>
          <p:cNvPr id="2" name="文本框 0"/>
          <p:cNvSpPr txBox="1"/>
          <p:nvPr/>
        </p:nvSpPr>
        <p:spPr>
          <a:xfrm>
            <a:off x="0" y="5993765"/>
            <a:ext cx="12192000" cy="761365"/>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3500000" scaled="1"/>
            <a:tileRect/>
          </a:gradFill>
        </p:spPr>
        <p:txBody>
          <a:bodyPr wrap="square" rtlCol="0" anchor="ctr" anchorCtr="1">
            <a:no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sym typeface="+mn-ea"/>
              </a:rPr>
              <a:t>在实现</a:t>
            </a:r>
            <a:r>
              <a:rPr lang="zh-CN" altLang="en-US" sz="2800" b="1" dirty="0">
                <a:gradFill>
                  <a:gsLst>
                    <a:gs pos="0">
                      <a:srgbClr val="FDC7E9"/>
                    </a:gs>
                    <a:gs pos="100000">
                      <a:srgbClr val="0503FF"/>
                    </a:gs>
                  </a:gsLst>
                  <a:path path="circle">
                    <a:fillToRect r="100000" b="100000"/>
                  </a:path>
                  <a:tileRect l="-100000" t="-100000"/>
                </a:gradFill>
                <a:latin typeface="微软雅黑" panose="020B0503020204020204" pitchFamily="34" charset="-122"/>
                <a:ea typeface="微软雅黑" panose="020B0503020204020204" pitchFamily="34" charset="-122"/>
                <a:sym typeface="+mn-ea"/>
              </a:rPr>
              <a:t>储能电池快速准确检测</a:t>
            </a:r>
            <a:r>
              <a:rPr lang="zh-CN" altLang="en-US" sz="2800" b="1" dirty="0">
                <a:solidFill>
                  <a:schemeClr val="bg1"/>
                </a:solidFill>
                <a:latin typeface="微软雅黑" panose="020B0503020204020204" pitchFamily="34" charset="-122"/>
                <a:ea typeface="微软雅黑" panose="020B0503020204020204" pitchFamily="34" charset="-122"/>
                <a:sym typeface="+mn-ea"/>
              </a:rPr>
              <a:t>同时兼顾</a:t>
            </a:r>
            <a:r>
              <a:rPr lang="zh-CN" altLang="en-US" sz="2800" b="1" dirty="0">
                <a:solidFill>
                  <a:srgbClr val="FEA402"/>
                </a:solidFill>
                <a:latin typeface="微软雅黑" panose="020B0503020204020204" pitchFamily="34" charset="-122"/>
                <a:ea typeface="微软雅黑" panose="020B0503020204020204" pitchFamily="34" charset="-122"/>
                <a:sym typeface="+mn-ea"/>
              </a:rPr>
              <a:t>小型化、轻量化</a:t>
            </a:r>
            <a:r>
              <a:rPr lang="zh-CN" altLang="en-US" sz="2800" b="1" dirty="0">
                <a:solidFill>
                  <a:schemeClr val="bg1"/>
                </a:solidFill>
                <a:latin typeface="微软雅黑" panose="020B0503020204020204" pitchFamily="34" charset="-122"/>
                <a:ea typeface="微软雅黑" panose="020B0503020204020204" pitchFamily="34" charset="-122"/>
                <a:sym typeface="+mn-ea"/>
              </a:rPr>
              <a:t>设计</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8618"/>
                                        </p:tgtEl>
                                        <p:attrNameLst>
                                          <p:attrName>style.visibility</p:attrName>
                                        </p:attrNameLst>
                                      </p:cBhvr>
                                      <p:to>
                                        <p:strVal val="visible"/>
                                      </p:to>
                                    </p:set>
                                    <p:animEffect transition="in" filter="fade">
                                      <p:cBhvr>
                                        <p:cTn id="7" dur="500"/>
                                        <p:tgtEl>
                                          <p:spTgt spid="1048618"/>
                                        </p:tgtEl>
                                      </p:cBhvr>
                                    </p:animEffect>
                                    <p:anim calcmode="lin" valueType="num">
                                      <p:cBhvr>
                                        <p:cTn id="8" dur="500" fill="hold"/>
                                        <p:tgtEl>
                                          <p:spTgt spid="1048618"/>
                                        </p:tgtEl>
                                        <p:attrNameLst>
                                          <p:attrName>ppt_x</p:attrName>
                                        </p:attrNameLst>
                                      </p:cBhvr>
                                      <p:tavLst>
                                        <p:tav tm="0">
                                          <p:val>
                                            <p:strVal val="#ppt_x"/>
                                          </p:val>
                                        </p:tav>
                                        <p:tav tm="100000">
                                          <p:val>
                                            <p:strVal val="#ppt_x"/>
                                          </p:val>
                                        </p:tav>
                                      </p:tavLst>
                                    </p:anim>
                                    <p:anim calcmode="lin" valueType="num">
                                      <p:cBhvr>
                                        <p:cTn id="9" dur="500" fill="hold"/>
                                        <p:tgtEl>
                                          <p:spTgt spid="104861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500"/>
                                        <p:tgtEl>
                                          <p:spTgt spid="42"/>
                                        </p:tgtEl>
                                      </p:cBhvr>
                                    </p:animEffect>
                                    <p:anim calcmode="lin" valueType="num">
                                      <p:cBhvr>
                                        <p:cTn id="13" dur="500" fill="hold"/>
                                        <p:tgtEl>
                                          <p:spTgt spid="42"/>
                                        </p:tgtEl>
                                        <p:attrNameLst>
                                          <p:attrName>ppt_x</p:attrName>
                                        </p:attrNameLst>
                                      </p:cBhvr>
                                      <p:tavLst>
                                        <p:tav tm="0">
                                          <p:val>
                                            <p:strVal val="#ppt_x"/>
                                          </p:val>
                                        </p:tav>
                                        <p:tav tm="100000">
                                          <p:val>
                                            <p:strVal val="#ppt_x"/>
                                          </p:val>
                                        </p:tav>
                                      </p:tavLst>
                                    </p:anim>
                                    <p:anim calcmode="lin" valueType="num">
                                      <p:cBhvr>
                                        <p:cTn id="14" dur="500" fill="hold"/>
                                        <p:tgtEl>
                                          <p:spTgt spid="42"/>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2" presetClass="entr" presetSubtype="8" fill="hold" grpId="0" nodeType="afterEffect">
                                  <p:stCondLst>
                                    <p:cond delay="0"/>
                                  </p:stCondLst>
                                  <p:childTnLst>
                                    <p:set>
                                      <p:cBhvr>
                                        <p:cTn id="17" dur="1" fill="hold">
                                          <p:stCondLst>
                                            <p:cond delay="0"/>
                                          </p:stCondLst>
                                        </p:cTn>
                                        <p:tgtEl>
                                          <p:spTgt spid="1048617"/>
                                        </p:tgtEl>
                                        <p:attrNameLst>
                                          <p:attrName>style.visibility</p:attrName>
                                        </p:attrNameLst>
                                      </p:cBhvr>
                                      <p:to>
                                        <p:strVal val="visible"/>
                                      </p:to>
                                    </p:set>
                                    <p:anim calcmode="lin" valueType="num">
                                      <p:cBhvr additive="base">
                                        <p:cTn id="18" dur="500" fill="hold"/>
                                        <p:tgtEl>
                                          <p:spTgt spid="1048617"/>
                                        </p:tgtEl>
                                        <p:attrNameLst>
                                          <p:attrName>ppt_x</p:attrName>
                                        </p:attrNameLst>
                                      </p:cBhvr>
                                      <p:tavLst>
                                        <p:tav tm="0">
                                          <p:val>
                                            <p:strVal val="0-#ppt_w/2"/>
                                          </p:val>
                                        </p:tav>
                                        <p:tav tm="100000">
                                          <p:val>
                                            <p:strVal val="#ppt_x"/>
                                          </p:val>
                                        </p:tav>
                                      </p:tavLst>
                                    </p:anim>
                                    <p:anim calcmode="lin" valueType="num">
                                      <p:cBhvr additive="base">
                                        <p:cTn id="19" dur="500" fill="hold"/>
                                        <p:tgtEl>
                                          <p:spTgt spid="1048617"/>
                                        </p:tgtEl>
                                        <p:attrNameLst>
                                          <p:attrName>ppt_y</p:attrName>
                                        </p:attrNameLst>
                                      </p:cBhvr>
                                      <p:tavLst>
                                        <p:tav tm="0">
                                          <p:val>
                                            <p:strVal val="#ppt_y"/>
                                          </p:val>
                                        </p:tav>
                                        <p:tav tm="100000">
                                          <p:val>
                                            <p:strVal val="#ppt_y"/>
                                          </p:val>
                                        </p:tav>
                                      </p:tavLst>
                                    </p:anim>
                                  </p:childTnLst>
                                </p:cTn>
                              </p:par>
                              <p:par>
                                <p:cTn id="20" presetID="42" presetClass="entr" presetSubtype="0" fill="hold" nodeType="withEffect">
                                  <p:stCondLst>
                                    <p:cond delay="0"/>
                                  </p:stCondLst>
                                  <p:childTnLst>
                                    <p:set>
                                      <p:cBhvr>
                                        <p:cTn id="21" dur="500" fill="hold">
                                          <p:stCondLst>
                                            <p:cond delay="0"/>
                                          </p:stCondLst>
                                        </p:cTn>
                                        <p:tgtEl>
                                          <p:spTgt spid="43"/>
                                        </p:tgtEl>
                                        <p:attrNameLst>
                                          <p:attrName>style.visibility</p:attrName>
                                        </p:attrNameLst>
                                      </p:cBhvr>
                                      <p:to>
                                        <p:strVal val="visible"/>
                                      </p:to>
                                    </p:set>
                                    <p:animEffect transition="in" filter="fade">
                                      <p:cBhvr>
                                        <p:cTn id="22" dur="500"/>
                                        <p:tgtEl>
                                          <p:spTgt spid="43"/>
                                        </p:tgtEl>
                                      </p:cBhvr>
                                    </p:animEffect>
                                    <p:anim calcmode="lin" valueType="num">
                                      <p:cBhvr>
                                        <p:cTn id="23" dur="500" fill="hold"/>
                                        <p:tgtEl>
                                          <p:spTgt spid="43"/>
                                        </p:tgtEl>
                                        <p:attrNameLst>
                                          <p:attrName>ppt_x</p:attrName>
                                        </p:attrNameLst>
                                      </p:cBhvr>
                                      <p:tavLst>
                                        <p:tav tm="0">
                                          <p:val>
                                            <p:strVal val="#ppt_x"/>
                                          </p:val>
                                        </p:tav>
                                        <p:tav tm="100000">
                                          <p:val>
                                            <p:strVal val="#ppt_x"/>
                                          </p:val>
                                        </p:tav>
                                      </p:tavLst>
                                    </p:anim>
                                    <p:anim calcmode="lin" valueType="num">
                                      <p:cBhvr>
                                        <p:cTn id="24" dur="500" fill="hold"/>
                                        <p:tgtEl>
                                          <p:spTgt spid="43"/>
                                        </p:tgtEl>
                                        <p:attrNameLst>
                                          <p:attrName>ppt_y</p:attrName>
                                        </p:attrNameLst>
                                      </p:cBhvr>
                                      <p:tavLst>
                                        <p:tav tm="0">
                                          <p:val>
                                            <p:strVal val="#ppt_y+.1"/>
                                          </p:val>
                                        </p:tav>
                                        <p:tav tm="100000">
                                          <p:val>
                                            <p:strVal val="#ppt_y"/>
                                          </p:val>
                                        </p:tav>
                                      </p:tavLst>
                                    </p:anim>
                                  </p:childTnLst>
                                </p:cTn>
                              </p:par>
                            </p:childTnLst>
                          </p:cTn>
                        </p:par>
                        <p:par>
                          <p:cTn id="25" fill="hold">
                            <p:stCondLst>
                              <p:cond delay="1000"/>
                            </p:stCondLst>
                            <p:childTnLst>
                              <p:par>
                                <p:cTn id="26" presetID="2" presetClass="entr" presetSubtype="4" fill="hold" grpId="0" nodeType="afterEffect">
                                  <p:stCondLst>
                                    <p:cond delay="0"/>
                                  </p:stCondLst>
                                  <p:childTnLst>
                                    <p:set>
                                      <p:cBhvr>
                                        <p:cTn id="27" dur="1" fill="hold">
                                          <p:stCondLst>
                                            <p:cond delay="0"/>
                                          </p:stCondLst>
                                        </p:cTn>
                                        <p:tgtEl>
                                          <p:spTgt spid="1048610"/>
                                        </p:tgtEl>
                                        <p:attrNameLst>
                                          <p:attrName>style.visibility</p:attrName>
                                        </p:attrNameLst>
                                      </p:cBhvr>
                                      <p:to>
                                        <p:strVal val="visible"/>
                                      </p:to>
                                    </p:set>
                                    <p:anim calcmode="lin" valueType="num">
                                      <p:cBhvr additive="base">
                                        <p:cTn id="28" dur="500" fill="hold"/>
                                        <p:tgtEl>
                                          <p:spTgt spid="1048610"/>
                                        </p:tgtEl>
                                        <p:attrNameLst>
                                          <p:attrName>ppt_x</p:attrName>
                                        </p:attrNameLst>
                                      </p:cBhvr>
                                      <p:tavLst>
                                        <p:tav tm="0">
                                          <p:val>
                                            <p:strVal val="#ppt_x"/>
                                          </p:val>
                                        </p:tav>
                                        <p:tav tm="100000">
                                          <p:val>
                                            <p:strVal val="#ppt_x"/>
                                          </p:val>
                                        </p:tav>
                                      </p:tavLst>
                                    </p:anim>
                                    <p:anim calcmode="lin" valueType="num">
                                      <p:cBhvr additive="base">
                                        <p:cTn id="29" dur="500" fill="hold"/>
                                        <p:tgtEl>
                                          <p:spTgt spid="1048610"/>
                                        </p:tgtEl>
                                        <p:attrNameLst>
                                          <p:attrName>ppt_y</p:attrName>
                                        </p:attrNameLst>
                                      </p:cBhvr>
                                      <p:tavLst>
                                        <p:tav tm="0">
                                          <p:val>
                                            <p:strVal val="1+#ppt_h/2"/>
                                          </p:val>
                                        </p:tav>
                                        <p:tav tm="100000">
                                          <p:val>
                                            <p:strVal val="#ppt_y"/>
                                          </p:val>
                                        </p:tav>
                                      </p:tavLst>
                                    </p:anim>
                                  </p:childTnLst>
                                </p:cTn>
                              </p:par>
                            </p:childTnLst>
                          </p:cTn>
                        </p:par>
                        <p:par>
                          <p:cTn id="30" fill="hold">
                            <p:stCondLst>
                              <p:cond delay="1500"/>
                            </p:stCondLst>
                            <p:childTnLst>
                              <p:par>
                                <p:cTn id="31" presetID="42" presetClass="entr" presetSubtype="0" fill="hold" grpId="0" nodeType="afterEffect">
                                  <p:stCondLst>
                                    <p:cond delay="0"/>
                                  </p:stCondLst>
                                  <p:childTnLst>
                                    <p:set>
                                      <p:cBhvr>
                                        <p:cTn id="32" dur="1" fill="hold">
                                          <p:stCondLst>
                                            <p:cond delay="0"/>
                                          </p:stCondLst>
                                        </p:cTn>
                                        <p:tgtEl>
                                          <p:spTgt spid="1048616"/>
                                        </p:tgtEl>
                                        <p:attrNameLst>
                                          <p:attrName>style.visibility</p:attrName>
                                        </p:attrNameLst>
                                      </p:cBhvr>
                                      <p:to>
                                        <p:strVal val="visible"/>
                                      </p:to>
                                    </p:set>
                                    <p:animEffect transition="in" filter="fade">
                                      <p:cBhvr>
                                        <p:cTn id="33" dur="500"/>
                                        <p:tgtEl>
                                          <p:spTgt spid="1048616"/>
                                        </p:tgtEl>
                                      </p:cBhvr>
                                    </p:animEffect>
                                    <p:anim calcmode="lin" valueType="num">
                                      <p:cBhvr>
                                        <p:cTn id="34" dur="500" fill="hold"/>
                                        <p:tgtEl>
                                          <p:spTgt spid="1048616"/>
                                        </p:tgtEl>
                                        <p:attrNameLst>
                                          <p:attrName>ppt_x</p:attrName>
                                        </p:attrNameLst>
                                      </p:cBhvr>
                                      <p:tavLst>
                                        <p:tav tm="0">
                                          <p:val>
                                            <p:strVal val="#ppt_x"/>
                                          </p:val>
                                        </p:tav>
                                        <p:tav tm="100000">
                                          <p:val>
                                            <p:strVal val="#ppt_x"/>
                                          </p:val>
                                        </p:tav>
                                      </p:tavLst>
                                    </p:anim>
                                    <p:anim calcmode="lin" valueType="num">
                                      <p:cBhvr>
                                        <p:cTn id="35" dur="500" fill="hold"/>
                                        <p:tgtEl>
                                          <p:spTgt spid="1048616"/>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fade">
                                      <p:cBhvr>
                                        <p:cTn id="38" dur="500"/>
                                        <p:tgtEl>
                                          <p:spTgt spid="40"/>
                                        </p:tgtEl>
                                      </p:cBhvr>
                                    </p:animEffect>
                                    <p:anim calcmode="lin" valueType="num">
                                      <p:cBhvr>
                                        <p:cTn id="39" dur="500" fill="hold"/>
                                        <p:tgtEl>
                                          <p:spTgt spid="40"/>
                                        </p:tgtEl>
                                        <p:attrNameLst>
                                          <p:attrName>ppt_x</p:attrName>
                                        </p:attrNameLst>
                                      </p:cBhvr>
                                      <p:tavLst>
                                        <p:tav tm="0">
                                          <p:val>
                                            <p:strVal val="#ppt_x"/>
                                          </p:val>
                                        </p:tav>
                                        <p:tav tm="100000">
                                          <p:val>
                                            <p:strVal val="#ppt_x"/>
                                          </p:val>
                                        </p:tav>
                                      </p:tavLst>
                                    </p:anim>
                                    <p:anim calcmode="lin" valueType="num">
                                      <p:cBhvr>
                                        <p:cTn id="40" dur="500" fill="hold"/>
                                        <p:tgtEl>
                                          <p:spTgt spid="40"/>
                                        </p:tgtEl>
                                        <p:attrNameLst>
                                          <p:attrName>ppt_y</p:attrName>
                                        </p:attrNameLst>
                                      </p:cBhvr>
                                      <p:tavLst>
                                        <p:tav tm="0">
                                          <p:val>
                                            <p:strVal val="#ppt_y+.1"/>
                                          </p:val>
                                        </p:tav>
                                        <p:tav tm="100000">
                                          <p:val>
                                            <p:strVal val="#ppt_y"/>
                                          </p:val>
                                        </p:tav>
                                      </p:tavLst>
                                    </p:anim>
                                  </p:childTnLst>
                                </p:cTn>
                              </p:par>
                            </p:childTnLst>
                          </p:cTn>
                        </p:par>
                        <p:par>
                          <p:cTn id="41" fill="hold">
                            <p:stCondLst>
                              <p:cond delay="2000"/>
                            </p:stCondLst>
                            <p:childTnLst>
                              <p:par>
                                <p:cTn id="42" presetID="2" presetClass="entr" presetSubtype="8" fill="hold" grpId="0" nodeType="afterEffect">
                                  <p:stCondLst>
                                    <p:cond delay="0"/>
                                  </p:stCondLst>
                                  <p:childTnLst>
                                    <p:set>
                                      <p:cBhvr>
                                        <p:cTn id="43" dur="1" fill="hold">
                                          <p:stCondLst>
                                            <p:cond delay="0"/>
                                          </p:stCondLst>
                                        </p:cTn>
                                        <p:tgtEl>
                                          <p:spTgt spid="1048611"/>
                                        </p:tgtEl>
                                        <p:attrNameLst>
                                          <p:attrName>style.visibility</p:attrName>
                                        </p:attrNameLst>
                                      </p:cBhvr>
                                      <p:to>
                                        <p:strVal val="visible"/>
                                      </p:to>
                                    </p:set>
                                    <p:anim calcmode="lin" valueType="num">
                                      <p:cBhvr additive="base">
                                        <p:cTn id="44" dur="500" fill="hold"/>
                                        <p:tgtEl>
                                          <p:spTgt spid="1048611"/>
                                        </p:tgtEl>
                                        <p:attrNameLst>
                                          <p:attrName>ppt_x</p:attrName>
                                        </p:attrNameLst>
                                      </p:cBhvr>
                                      <p:tavLst>
                                        <p:tav tm="0">
                                          <p:val>
                                            <p:strVal val="0-#ppt_w/2"/>
                                          </p:val>
                                        </p:tav>
                                        <p:tav tm="100000">
                                          <p:val>
                                            <p:strVal val="#ppt_x"/>
                                          </p:val>
                                        </p:tav>
                                      </p:tavLst>
                                    </p:anim>
                                    <p:anim calcmode="lin" valueType="num">
                                      <p:cBhvr additive="base">
                                        <p:cTn id="45" dur="500" fill="hold"/>
                                        <p:tgtEl>
                                          <p:spTgt spid="10486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0" grpId="0" bldLvl="0" animBg="1"/>
      <p:bldP spid="1048611" grpId="0" bldLvl="0" animBg="1"/>
      <p:bldP spid="1048616" grpId="0"/>
      <p:bldP spid="1048617" grpId="0" bldLvl="0" animBg="1"/>
      <p:bldP spid="10486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9" name="矩形 65"/>
          <p:cNvSpPr>
            <a:spLocks noChangeArrowheads="1"/>
          </p:cNvSpPr>
          <p:nvPr/>
        </p:nvSpPr>
        <p:spPr bwMode="auto">
          <a:xfrm>
            <a:off x="55880" y="45085"/>
            <a:ext cx="8174990" cy="583565"/>
          </a:xfrm>
          <a:prstGeom prst="rect">
            <a:avLst/>
          </a:prstGeom>
          <a:no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685800" eaLnBrk="1" fontAlgn="auto" hangingPunct="1">
              <a:spcBef>
                <a:spcPct val="0"/>
              </a:spcBef>
              <a:spcAft>
                <a:spcPts val="0"/>
              </a:spcAft>
              <a:buFont typeface="Arial" panose="020B0604020202020204" pitchFamily="34" charset="0"/>
              <a:buNone/>
            </a:pPr>
            <a:r>
              <a:rPr lang="en-US" altLang="zh-CN" b="1" spc="600" dirty="0">
                <a:solidFill>
                  <a:schemeClr val="bg1"/>
                </a:solidFill>
                <a:latin typeface="微软雅黑" panose="020B0503020204020204" pitchFamily="34" charset="-122"/>
                <a:ea typeface="微软雅黑" panose="020B0503020204020204" pitchFamily="34" charset="-122"/>
              </a:rPr>
              <a:t>02</a:t>
            </a:r>
            <a:r>
              <a:rPr lang="zh-CN" altLang="en-US" b="1" spc="600" dirty="0">
                <a:solidFill>
                  <a:schemeClr val="bg1"/>
                </a:solidFill>
                <a:latin typeface="微软雅黑" panose="020B0503020204020204" pitchFamily="34" charset="-122"/>
                <a:ea typeface="微软雅黑" panose="020B0503020204020204" pitchFamily="34" charset="-122"/>
              </a:rPr>
              <a:t>实施方案 </a:t>
            </a:r>
            <a:r>
              <a:rPr lang="zh-CN" altLang="en-US" sz="2000" b="1" spc="600" dirty="0">
                <a:solidFill>
                  <a:schemeClr val="bg1"/>
                </a:solidFill>
                <a:latin typeface="微软雅黑" panose="020B0503020204020204" pitchFamily="34" charset="-122"/>
                <a:ea typeface="微软雅黑" panose="020B0503020204020204" pitchFamily="34" charset="-122"/>
              </a:rPr>
              <a:t>项目总体概述</a:t>
            </a:r>
            <a:endParaRPr lang="zh-CN" altLang="en-US" b="1" spc="600" dirty="0">
              <a:solidFill>
                <a:schemeClr val="bg1"/>
              </a:solidFill>
              <a:latin typeface="微软雅黑" panose="020B0503020204020204" pitchFamily="34" charset="-122"/>
              <a:ea typeface="微软雅黑" panose="020B0503020204020204" pitchFamily="34" charset="-122"/>
            </a:endParaRPr>
          </a:p>
        </p:txBody>
      </p:sp>
      <p:sp>
        <p:nvSpPr>
          <p:cNvPr id="1048650" name="矩形 21"/>
          <p:cNvSpPr/>
          <p:nvPr/>
        </p:nvSpPr>
        <p:spPr bwMode="auto">
          <a:xfrm>
            <a:off x="470414" y="2149671"/>
            <a:ext cx="4147686" cy="1629333"/>
          </a:xfrm>
          <a:prstGeom prst="rect">
            <a:avLst/>
          </a:prstGeom>
          <a:solidFill>
            <a:srgbClr val="FBB505">
              <a:alpha val="3000"/>
            </a:srgbClr>
          </a:solidFill>
          <a:ln w="28575" cap="flat" cmpd="sng" algn="ctr">
            <a:solidFill>
              <a:schemeClr val="tx1"/>
            </a:solidFill>
            <a:prstDash val="sysDash"/>
            <a:round/>
            <a:headEnd type="none" w="med" len="med"/>
            <a:tailEnd type="none" w="med" len="med"/>
          </a:ln>
          <a:effectLst/>
        </p:spPr>
        <p:txBody>
          <a:bodyPr vert="horz" wrap="square" lIns="0" tIns="0" rIns="0" bIns="0" numCol="1" rtlCol="0" anchor="t" anchorCtr="0" compatLnSpc="1">
            <a:noAutofit/>
          </a:bodyPr>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4400" b="0" i="0" u="none" strike="noStrike" cap="none" normalizeH="0" baseline="0" dirty="0">
              <a:ln>
                <a:noFill/>
              </a:ln>
              <a:solidFill>
                <a:srgbClr val="FFC000"/>
              </a:solidFill>
              <a:effectLst/>
              <a:latin typeface="Arial" panose="020B0604020202020204" pitchFamily="34" charset="0"/>
              <a:ea typeface="黑体" panose="02010609060101010101" charset="-122"/>
            </a:endParaRPr>
          </a:p>
        </p:txBody>
      </p:sp>
      <p:sp>
        <p:nvSpPr>
          <p:cNvPr id="1048651" name="矩形 8"/>
          <p:cNvSpPr/>
          <p:nvPr/>
        </p:nvSpPr>
        <p:spPr bwMode="auto">
          <a:xfrm>
            <a:off x="5179197" y="3941197"/>
            <a:ext cx="6474882" cy="1726817"/>
          </a:xfrm>
          <a:prstGeom prst="rect">
            <a:avLst/>
          </a:prstGeom>
          <a:solidFill>
            <a:srgbClr val="FBB505">
              <a:alpha val="3000"/>
            </a:srgbClr>
          </a:solidFill>
          <a:ln w="28575" cap="flat" cmpd="sng" algn="ctr">
            <a:solidFill>
              <a:srgbClr val="FBB505"/>
            </a:solidFill>
            <a:prstDash val="sysDash"/>
            <a:round/>
            <a:headEnd type="none" w="med" len="med"/>
            <a:tailEnd type="none" w="med" len="med"/>
          </a:ln>
          <a:effectLst/>
        </p:spPr>
        <p:txBody>
          <a:bodyPr vert="horz" wrap="square" lIns="0" tIns="0" rIns="0" bIns="0" numCol="1" rtlCol="0" anchor="t" anchorCtr="0" compatLnSpc="1">
            <a:noAutofit/>
          </a:bodyPr>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4400" b="0" i="0" u="none" strike="noStrike" cap="none" normalizeH="0" baseline="0" dirty="0">
              <a:ln>
                <a:noFill/>
              </a:ln>
              <a:solidFill>
                <a:schemeClr val="accent2"/>
              </a:solidFill>
              <a:effectLst/>
              <a:latin typeface="Arial" panose="020B0604020202020204" pitchFamily="34" charset="0"/>
              <a:ea typeface="黑体" panose="02010609060101010101" charset="-122"/>
            </a:endParaRPr>
          </a:p>
        </p:txBody>
      </p:sp>
      <p:sp>
        <p:nvSpPr>
          <p:cNvPr id="1048652" name="矩形 9"/>
          <p:cNvSpPr/>
          <p:nvPr/>
        </p:nvSpPr>
        <p:spPr bwMode="auto">
          <a:xfrm>
            <a:off x="468288" y="3945663"/>
            <a:ext cx="2713627" cy="1717886"/>
          </a:xfrm>
          <a:prstGeom prst="rect">
            <a:avLst/>
          </a:prstGeom>
          <a:solidFill>
            <a:srgbClr val="FBB505">
              <a:alpha val="3000"/>
            </a:srgbClr>
          </a:solidFill>
          <a:ln w="28575" cap="flat" cmpd="sng" algn="ctr">
            <a:solidFill>
              <a:schemeClr val="tx1"/>
            </a:solidFill>
            <a:prstDash val="sysDash"/>
            <a:round/>
            <a:headEnd type="none" w="med" len="med"/>
            <a:tailEnd type="none" w="med" len="med"/>
          </a:ln>
          <a:effectLst/>
        </p:spPr>
        <p:txBody>
          <a:bodyPr vert="horz" wrap="square" lIns="0" tIns="0" rIns="0" bIns="0" numCol="1" rtlCol="0" anchor="t" anchorCtr="0" compatLnSpc="1">
            <a:noAutofit/>
          </a:bodyPr>
          <a:lstStyle/>
          <a:p>
            <a:pPr defTabSz="914400"/>
            <a:endParaRPr lang="zh-CN" altLang="en-US" sz="4400" dirty="0">
              <a:latin typeface="Arial" panose="020B0604020202020204" pitchFamily="34" charset="0"/>
              <a:ea typeface="黑体" panose="02010609060101010101" charset="-122"/>
            </a:endParaRPr>
          </a:p>
        </p:txBody>
      </p:sp>
      <p:sp>
        <p:nvSpPr>
          <p:cNvPr id="1048653" name="矩形 10"/>
          <p:cNvSpPr/>
          <p:nvPr/>
        </p:nvSpPr>
        <p:spPr bwMode="auto">
          <a:xfrm>
            <a:off x="3284210" y="3945664"/>
            <a:ext cx="1333890" cy="1725470"/>
          </a:xfrm>
          <a:prstGeom prst="rect">
            <a:avLst/>
          </a:prstGeom>
          <a:solidFill>
            <a:srgbClr val="FBB505">
              <a:alpha val="3000"/>
            </a:srgbClr>
          </a:solidFill>
          <a:ln w="28575" cap="flat" cmpd="sng" algn="ctr">
            <a:solidFill>
              <a:schemeClr val="tx1"/>
            </a:solidFill>
            <a:prstDash val="sysDash"/>
            <a:round/>
            <a:headEnd type="none" w="med" len="med"/>
            <a:tailEnd type="none" w="med" len="med"/>
          </a:ln>
          <a:effectLst/>
        </p:spPr>
        <p:txBody>
          <a:bodyPr vert="horz" wrap="square" lIns="0" tIns="0" rIns="0" bIns="0" numCol="1" rtlCol="0" anchor="t" anchorCtr="0" compatLnSpc="1">
            <a:noAutofit/>
          </a:bodyPr>
          <a:lstStyle/>
          <a:p>
            <a:pPr defTabSz="914400"/>
            <a:endParaRPr lang="zh-CN" altLang="en-US" sz="4400" dirty="0">
              <a:solidFill>
                <a:srgbClr val="FFC000"/>
              </a:solidFill>
              <a:latin typeface="Arial" panose="020B0604020202020204" pitchFamily="34" charset="0"/>
              <a:ea typeface="黑体" panose="02010609060101010101" charset="-122"/>
            </a:endParaRPr>
          </a:p>
        </p:txBody>
      </p:sp>
      <p:sp>
        <p:nvSpPr>
          <p:cNvPr id="1048654" name="文本框 11"/>
          <p:cNvSpPr txBox="1"/>
          <p:nvPr/>
        </p:nvSpPr>
        <p:spPr>
          <a:xfrm>
            <a:off x="55880" y="786130"/>
            <a:ext cx="12063730" cy="829945"/>
          </a:xfrm>
          <a:prstGeom prst="rect">
            <a:avLst/>
          </a:prstGeom>
          <a:noFill/>
        </p:spPr>
        <p:txBody>
          <a:bodyPr wrap="square">
            <a:spAutoFit/>
          </a:bodyPr>
          <a:lstStyle/>
          <a:p>
            <a:pPr marL="342900" indent="-342900" algn="just">
              <a:lnSpc>
                <a:spcPct val="120000"/>
              </a:lnSpc>
              <a:buFont typeface="Wingdings" panose="05000000000000000000" charset="0"/>
              <a:buChar char="u"/>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本项目将电池的</a:t>
            </a:r>
            <a:r>
              <a:rPr lang="zh-CN" altLang="en-US" sz="2000"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电化学阻抗测试</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装置集成，在解决了针对</a:t>
            </a: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储能电池早期故障</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常规手段</a:t>
            </a:r>
            <a:r>
              <a:rPr lang="zh-CN" altLang="en-US" sz="2000"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难检测、检测慢、检测不准等</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问题的基础上，提出了储能电池</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集成化、小型化、便携式快速精确检测</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的解决方案。</a:t>
            </a:r>
          </a:p>
        </p:txBody>
      </p:sp>
      <p:sp>
        <p:nvSpPr>
          <p:cNvPr id="1048655" name="文本框 12" descr="7b0a202020202262756c6c6574223a20227b5c2263617465676f727949645c223a5c225c222c5c2274656d706c61746549645c223a32303233313536337d220a7d0a"/>
          <p:cNvSpPr txBox="1"/>
          <p:nvPr/>
        </p:nvSpPr>
        <p:spPr>
          <a:xfrm>
            <a:off x="467995" y="1718310"/>
            <a:ext cx="4394835" cy="460375"/>
          </a:xfrm>
          <a:prstGeom prst="rect">
            <a:avLst/>
          </a:prstGeom>
          <a:noFill/>
        </p:spPr>
        <p:txBody>
          <a:bodyPr wrap="square">
            <a:spAutoFit/>
          </a:bodyPr>
          <a:lstStyle>
            <a:defPPr>
              <a:defRPr lang="zh-CN"/>
            </a:defPPr>
            <a:lvl1pPr algn="just" fontAlgn="auto">
              <a:lnSpc>
                <a:spcPct val="120000"/>
              </a:lnSpc>
              <a:spcBef>
                <a:spcPts val="0"/>
              </a:spcBef>
              <a:spcAft>
                <a:spcPts val="0"/>
              </a:spcAft>
              <a:defRPr sz="1800" b="0" kern="100">
                <a:solidFill>
                  <a:prstClr val="black"/>
                </a:solidFill>
                <a:latin typeface="微软雅黑" panose="020B0503020204020204" pitchFamily="34" charset="-122"/>
                <a:ea typeface="微软雅黑" panose="020B0503020204020204" pitchFamily="34" charset="-122"/>
              </a:defRPr>
            </a:lvl1pPr>
          </a:lstStyle>
          <a:p>
            <a:pPr marR="0" lvl="0" indent="0" algn="just" defTabSz="914400" eaLnBrk="1" fontAlgn="auto" latinLnBrk="0" hangingPunct="1">
              <a:lnSpc>
                <a:spcPct val="120000"/>
              </a:lnSpc>
              <a:spcBef>
                <a:spcPts val="0"/>
              </a:spcBef>
              <a:spcAft>
                <a:spcPts val="0"/>
              </a:spcAft>
              <a:buClrTx/>
              <a:buSzTx/>
              <a:buFont typeface="Wingdings" panose="05000000000000000000" pitchFamily="2" charset="2"/>
              <a:buBlip>
                <a:blip r:embed="rId2"/>
              </a:buBlip>
            </a:pPr>
            <a:r>
              <a:rPr lang="en-US" altLang="zh-CN" sz="2000" b="1" dirty="0">
                <a:solidFill>
                  <a:schemeClr val="tx1"/>
                </a:solidFill>
              </a:rPr>
              <a:t> </a:t>
            </a:r>
            <a:r>
              <a:rPr lang="zh-CN" altLang="en-US" sz="2000" b="1" dirty="0">
                <a:solidFill>
                  <a:schemeClr val="tx1"/>
                </a:solidFill>
              </a:rPr>
              <a:t>电池检测常规手段</a:t>
            </a:r>
            <a:r>
              <a:rPr lang="en-US" altLang="zh-CN" sz="2000" b="1" dirty="0">
                <a:solidFill>
                  <a:schemeClr val="tx1"/>
                </a:solidFill>
              </a:rPr>
              <a:t>—</a:t>
            </a:r>
            <a:r>
              <a:rPr lang="zh-CN" altLang="en-US" sz="2000" b="1" dirty="0">
                <a:solidFill>
                  <a:schemeClr val="tx1"/>
                </a:solidFill>
              </a:rPr>
              <a:t>电化学工作站</a:t>
            </a:r>
            <a:endParaRPr kumimoji="0" lang="zh-CN" altLang="en-US" sz="2000" b="1" i="0" u="none" strike="noStrike" kern="100" cap="none" spc="0" normalizeH="0" baseline="0" noProof="0" dirty="0">
              <a:ln>
                <a:noFill/>
              </a:ln>
              <a:solidFill>
                <a:schemeClr val="tx1"/>
              </a:solidFill>
              <a:effectLst/>
              <a:uLnTx/>
              <a:uFillTx/>
            </a:endParaRPr>
          </a:p>
        </p:txBody>
      </p:sp>
      <p:sp>
        <p:nvSpPr>
          <p:cNvPr id="1048656" name="文本框 13"/>
          <p:cNvSpPr txBox="1"/>
          <p:nvPr/>
        </p:nvSpPr>
        <p:spPr>
          <a:xfrm>
            <a:off x="490338" y="5277739"/>
            <a:ext cx="1322611" cy="369332"/>
          </a:xfrm>
          <a:prstGeom prst="rect">
            <a:avLst/>
          </a:prstGeom>
          <a:noFill/>
        </p:spPr>
        <p:txBody>
          <a:bodyPr wrap="square" rtlCol="0">
            <a:spAutoFit/>
          </a:bodyPr>
          <a:lstStyle/>
          <a:p>
            <a:pPr algn="ctr"/>
            <a:r>
              <a:rPr lang="en-US" altLang="zh-CN" b="1" dirty="0"/>
              <a:t>PARSTAT</a:t>
            </a:r>
            <a:endParaRPr lang="zh-CN" altLang="en-US" b="1" dirty="0"/>
          </a:p>
        </p:txBody>
      </p:sp>
      <p:sp>
        <p:nvSpPr>
          <p:cNvPr id="1048657" name="文本框 14"/>
          <p:cNvSpPr txBox="1"/>
          <p:nvPr/>
        </p:nvSpPr>
        <p:spPr>
          <a:xfrm>
            <a:off x="1817194" y="5301801"/>
            <a:ext cx="1324740" cy="369332"/>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微通道板</a:t>
            </a:r>
          </a:p>
        </p:txBody>
      </p:sp>
      <p:sp>
        <p:nvSpPr>
          <p:cNvPr id="1048658" name="文本框 15"/>
          <p:cNvSpPr txBox="1"/>
          <p:nvPr/>
        </p:nvSpPr>
        <p:spPr>
          <a:xfrm>
            <a:off x="3290592" y="5301801"/>
            <a:ext cx="1335111" cy="369332"/>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三电极系统</a:t>
            </a:r>
          </a:p>
        </p:txBody>
      </p:sp>
      <p:pic>
        <p:nvPicPr>
          <p:cNvPr id="2097167" name="图片 16"/>
          <p:cNvPicPr>
            <a:picLocks noChangeAspect="1"/>
          </p:cNvPicPr>
          <p:nvPr/>
        </p:nvPicPr>
        <p:blipFill rotWithShape="1">
          <a:blip r:embed="rId3"/>
          <a:srcRect t="10550" r="-581"/>
          <a:stretch>
            <a:fillRect/>
          </a:stretch>
        </p:blipFill>
        <p:spPr>
          <a:xfrm>
            <a:off x="1309222" y="2179796"/>
            <a:ext cx="3308878" cy="1559574"/>
          </a:xfrm>
          <a:prstGeom prst="rect">
            <a:avLst/>
          </a:prstGeom>
        </p:spPr>
      </p:pic>
      <p:pic>
        <p:nvPicPr>
          <p:cNvPr id="2097168" name="图片 17"/>
          <p:cNvPicPr>
            <a:picLocks noChangeAspect="1"/>
          </p:cNvPicPr>
          <p:nvPr/>
        </p:nvPicPr>
        <p:blipFill>
          <a:blip r:embed="rId4" cstate="print"/>
          <a:stretch>
            <a:fillRect/>
          </a:stretch>
        </p:blipFill>
        <p:spPr>
          <a:xfrm>
            <a:off x="1832959" y="3998893"/>
            <a:ext cx="1321390" cy="1272067"/>
          </a:xfrm>
          <a:prstGeom prst="rect">
            <a:avLst/>
          </a:prstGeom>
        </p:spPr>
      </p:pic>
      <p:pic>
        <p:nvPicPr>
          <p:cNvPr id="2097169" name="图片 19"/>
          <p:cNvPicPr>
            <a:picLocks noChangeAspect="1"/>
          </p:cNvPicPr>
          <p:nvPr/>
        </p:nvPicPr>
        <p:blipFill>
          <a:blip r:embed="rId5" cstate="print"/>
          <a:stretch>
            <a:fillRect/>
          </a:stretch>
        </p:blipFill>
        <p:spPr>
          <a:xfrm>
            <a:off x="3404352" y="4196799"/>
            <a:ext cx="1093605" cy="1016861"/>
          </a:xfrm>
          <a:prstGeom prst="rect">
            <a:avLst/>
          </a:prstGeom>
        </p:spPr>
      </p:pic>
      <p:pic>
        <p:nvPicPr>
          <p:cNvPr id="2097170" name="图片 20"/>
          <p:cNvPicPr>
            <a:picLocks noChangeAspect="1"/>
          </p:cNvPicPr>
          <p:nvPr/>
        </p:nvPicPr>
        <p:blipFill>
          <a:blip r:embed="rId6" cstate="print"/>
          <a:stretch>
            <a:fillRect/>
          </a:stretch>
        </p:blipFill>
        <p:spPr>
          <a:xfrm>
            <a:off x="494660" y="4004947"/>
            <a:ext cx="1324741" cy="1290799"/>
          </a:xfrm>
          <a:prstGeom prst="rect">
            <a:avLst/>
          </a:prstGeom>
        </p:spPr>
      </p:pic>
      <p:sp>
        <p:nvSpPr>
          <p:cNvPr id="1048659" name="文本框 24" descr="7b0a202020202262756c6c6574223a20227b5c2263617465676f727949645c223a5c225c222c5c2274656d706c61746549645c223a32303233313439347d220a7d0a"/>
          <p:cNvSpPr txBox="1"/>
          <p:nvPr/>
        </p:nvSpPr>
        <p:spPr>
          <a:xfrm>
            <a:off x="5177155" y="1722120"/>
            <a:ext cx="6301740" cy="460375"/>
          </a:xfrm>
          <a:prstGeom prst="rect">
            <a:avLst/>
          </a:prstGeom>
          <a:noFill/>
        </p:spPr>
        <p:txBody>
          <a:bodyPr wrap="square">
            <a:spAutoFit/>
          </a:bodyPr>
          <a:lstStyle>
            <a:defPPr>
              <a:defRPr lang="zh-CN"/>
            </a:defPPr>
            <a:lvl1pPr algn="just" fontAlgn="auto">
              <a:lnSpc>
                <a:spcPct val="120000"/>
              </a:lnSpc>
              <a:spcBef>
                <a:spcPts val="0"/>
              </a:spcBef>
              <a:spcAft>
                <a:spcPts val="0"/>
              </a:spcAft>
              <a:defRPr sz="1800" b="0" kern="100">
                <a:solidFill>
                  <a:prstClr val="black"/>
                </a:solidFill>
                <a:latin typeface="微软雅黑" panose="020B0503020204020204" pitchFamily="34" charset="-122"/>
                <a:ea typeface="微软雅黑" panose="020B0503020204020204" pitchFamily="34" charset="-122"/>
              </a:defRPr>
            </a:lvl1pPr>
          </a:lstStyle>
          <a:p>
            <a:pPr marL="342900" marR="0" lvl="0" indent="-342900" algn="just" defTabSz="914400" eaLnBrk="1" fontAlgn="auto" latinLnBrk="0" hangingPunct="1">
              <a:lnSpc>
                <a:spcPct val="120000"/>
              </a:lnSpc>
              <a:spcBef>
                <a:spcPts val="0"/>
              </a:spcBef>
              <a:spcAft>
                <a:spcPts val="0"/>
              </a:spcAft>
              <a:buClrTx/>
              <a:buSzTx/>
              <a:buFont typeface="Wingdings" panose="05000000000000000000" charset="0"/>
              <a:buChar char="ü"/>
            </a:pPr>
            <a:r>
              <a:rPr lang="zh-CN" altLang="en-US" sz="2000" b="1" dirty="0">
                <a:solidFill>
                  <a:schemeClr val="accent1"/>
                </a:solidFill>
              </a:rPr>
              <a:t>基于电化学阻抗谱的储能电池高精度快速检测系统</a:t>
            </a:r>
            <a:endParaRPr kumimoji="0" lang="zh-CN" altLang="en-US" sz="2000" b="1" i="0" u="none" strike="noStrike" kern="100" cap="none" spc="0" normalizeH="0" baseline="0" noProof="0" dirty="0">
              <a:ln>
                <a:noFill/>
              </a:ln>
              <a:solidFill>
                <a:schemeClr val="accent1"/>
              </a:solidFill>
              <a:effectLst/>
              <a:uLnTx/>
              <a:uFillTx/>
            </a:endParaRPr>
          </a:p>
        </p:txBody>
      </p:sp>
      <p:sp>
        <p:nvSpPr>
          <p:cNvPr id="1048660" name="矩形 25"/>
          <p:cNvSpPr/>
          <p:nvPr/>
        </p:nvSpPr>
        <p:spPr bwMode="auto">
          <a:xfrm>
            <a:off x="5176841" y="2142558"/>
            <a:ext cx="6477239" cy="1636446"/>
          </a:xfrm>
          <a:prstGeom prst="rect">
            <a:avLst/>
          </a:prstGeom>
          <a:solidFill>
            <a:srgbClr val="FBB505">
              <a:alpha val="3000"/>
            </a:srgbClr>
          </a:solidFill>
          <a:ln w="28575" cap="flat" cmpd="sng" algn="ctr">
            <a:solidFill>
              <a:srgbClr val="FBB505"/>
            </a:solidFill>
            <a:prstDash val="sysDash"/>
            <a:round/>
            <a:headEnd type="none" w="med" len="med"/>
            <a:tailEnd type="none" w="med" len="med"/>
          </a:ln>
          <a:effectLst/>
        </p:spPr>
        <p:txBody>
          <a:bodyPr vert="horz" wrap="square" lIns="0" tIns="0" rIns="0" bIns="0" numCol="1" rtlCol="0" anchor="t" anchorCtr="0" compatLnSpc="1">
            <a:noAutofit/>
          </a:bodyPr>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4400" b="0" i="0" u="none" strike="noStrike" cap="none" normalizeH="0" baseline="0" dirty="0">
              <a:ln>
                <a:noFill/>
              </a:ln>
              <a:solidFill>
                <a:schemeClr val="accent2"/>
              </a:solidFill>
              <a:effectLst/>
              <a:latin typeface="Arial" panose="020B0604020202020204" pitchFamily="34" charset="0"/>
              <a:ea typeface="黑体" panose="02010609060101010101" charset="-122"/>
            </a:endParaRPr>
          </a:p>
        </p:txBody>
      </p:sp>
      <p:cxnSp>
        <p:nvCxnSpPr>
          <p:cNvPr id="3145729" name="直接箭头连接符 26"/>
          <p:cNvCxnSpPr/>
          <p:nvPr/>
        </p:nvCxnSpPr>
        <p:spPr>
          <a:xfrm flipH="1">
            <a:off x="8547538" y="4795885"/>
            <a:ext cx="340523" cy="0"/>
          </a:xfrm>
          <a:prstGeom prst="straightConnector1">
            <a:avLst/>
          </a:prstGeom>
          <a:ln w="57150">
            <a:solidFill>
              <a:srgbClr val="406328"/>
            </a:solidFill>
            <a:tailEnd type="triangle"/>
          </a:ln>
        </p:spPr>
        <p:style>
          <a:lnRef idx="1">
            <a:schemeClr val="accent1"/>
          </a:lnRef>
          <a:fillRef idx="0">
            <a:schemeClr val="accent1"/>
          </a:fillRef>
          <a:effectRef idx="0">
            <a:schemeClr val="accent1"/>
          </a:effectRef>
          <a:fontRef idx="minor">
            <a:schemeClr val="tx1"/>
          </a:fontRef>
        </p:style>
      </p:cxnSp>
      <p:sp>
        <p:nvSpPr>
          <p:cNvPr id="1048661" name="TextBox 1"/>
          <p:cNvSpPr txBox="1">
            <a:spLocks noChangeArrowheads="1"/>
          </p:cNvSpPr>
          <p:nvPr/>
        </p:nvSpPr>
        <p:spPr bwMode="auto">
          <a:xfrm>
            <a:off x="6296917" y="5363073"/>
            <a:ext cx="1117533" cy="237440"/>
          </a:xfrm>
          <a:prstGeom prst="rect">
            <a:avLst/>
          </a:prstGeom>
          <a:noFill/>
          <a:ln>
            <a:noFill/>
          </a:ln>
        </p:spPr>
        <p:txBody>
          <a:bodyPr wrap="square" anchor="ctr">
            <a:noAutofit/>
          </a:bodyPr>
          <a:lstStyle>
            <a:lvl1pPr>
              <a:spcBef>
                <a:spcPct val="20000"/>
              </a:spcBef>
              <a:buChar char="•"/>
              <a:defRPr sz="3200">
                <a:solidFill>
                  <a:schemeClr val="bg2"/>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2"/>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2"/>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9pPr>
          </a:lstStyle>
          <a:p>
            <a:pPr algn="r">
              <a:spcBef>
                <a:spcPct val="0"/>
              </a:spcBef>
              <a:buNone/>
            </a:pPr>
            <a:r>
              <a:rPr lang="zh-CN" altLang="en-US" sz="1800" b="1" dirty="0">
                <a:solidFill>
                  <a:schemeClr val="tx1"/>
                </a:solidFill>
                <a:latin typeface="微软雅黑" panose="020B0503020204020204" pitchFamily="34" charset="-122"/>
                <a:ea typeface="微软雅黑" panose="020B0503020204020204" pitchFamily="34" charset="-122"/>
              </a:rPr>
              <a:t>集成结果</a:t>
            </a:r>
          </a:p>
        </p:txBody>
      </p:sp>
      <p:grpSp>
        <p:nvGrpSpPr>
          <p:cNvPr id="63" name="组合 28"/>
          <p:cNvGrpSpPr/>
          <p:nvPr/>
        </p:nvGrpSpPr>
        <p:grpSpPr>
          <a:xfrm>
            <a:off x="5248720" y="4081444"/>
            <a:ext cx="3212822" cy="1192667"/>
            <a:chOff x="5248720" y="4453288"/>
            <a:chExt cx="3212822" cy="1192667"/>
          </a:xfrm>
          <a:effectLst>
            <a:glow rad="63500">
              <a:schemeClr val="accent2">
                <a:satMod val="175000"/>
                <a:alpha val="40000"/>
              </a:schemeClr>
            </a:glow>
          </a:effectLst>
        </p:grpSpPr>
        <p:pic>
          <p:nvPicPr>
            <p:cNvPr id="2097171" name="Picture 5"/>
            <p:cNvPicPr>
              <a:picLocks noChangeAspect="1" noChangeArrowheads="1"/>
            </p:cNvPicPr>
            <p:nvPr/>
          </p:nvPicPr>
          <p:blipFill>
            <a:blip r:embed="rId7" cstate="print"/>
            <a:srcRect/>
            <a:stretch>
              <a:fillRect/>
            </a:stretch>
          </p:blipFill>
          <p:spPr bwMode="auto">
            <a:xfrm>
              <a:off x="6875285" y="4453288"/>
              <a:ext cx="1586257" cy="1192664"/>
            </a:xfrm>
            <a:prstGeom prst="rect">
              <a:avLst/>
            </a:prstGeom>
            <a:noFill/>
            <a:ln>
              <a:noFill/>
            </a:ln>
          </p:spPr>
        </p:pic>
        <p:pic>
          <p:nvPicPr>
            <p:cNvPr id="2097172" name="图片 30"/>
            <p:cNvPicPr>
              <a:picLocks noChangeAspect="1"/>
            </p:cNvPicPr>
            <p:nvPr/>
          </p:nvPicPr>
          <p:blipFill>
            <a:blip r:embed="rId8"/>
            <a:stretch>
              <a:fillRect/>
            </a:stretch>
          </p:blipFill>
          <p:spPr>
            <a:xfrm>
              <a:off x="5248720" y="4453288"/>
              <a:ext cx="1590003" cy="1192667"/>
            </a:xfrm>
            <a:prstGeom prst="rect">
              <a:avLst/>
            </a:prstGeom>
          </p:spPr>
        </p:pic>
      </p:grpSp>
      <p:pic>
        <p:nvPicPr>
          <p:cNvPr id="2097173" name="图片 31"/>
          <p:cNvPicPr>
            <a:picLocks noChangeAspect="1"/>
          </p:cNvPicPr>
          <p:nvPr/>
        </p:nvPicPr>
        <p:blipFill>
          <a:blip r:embed="rId9"/>
          <a:stretch>
            <a:fillRect/>
          </a:stretch>
        </p:blipFill>
        <p:spPr>
          <a:xfrm>
            <a:off x="8976087" y="4039121"/>
            <a:ext cx="2502446" cy="1530968"/>
          </a:xfrm>
          <a:prstGeom prst="rect">
            <a:avLst/>
          </a:prstGeom>
          <a:effectLst>
            <a:glow rad="63500">
              <a:schemeClr val="accent2">
                <a:satMod val="175000"/>
                <a:alpha val="40000"/>
              </a:schemeClr>
            </a:glow>
          </a:effectLst>
        </p:spPr>
      </p:pic>
      <p:sp>
        <p:nvSpPr>
          <p:cNvPr id="1048662" name="文本框 32"/>
          <p:cNvSpPr txBox="1"/>
          <p:nvPr/>
        </p:nvSpPr>
        <p:spPr>
          <a:xfrm>
            <a:off x="449767" y="4611219"/>
            <a:ext cx="2739268" cy="369332"/>
          </a:xfrm>
          <a:prstGeom prst="rect">
            <a:avLst/>
          </a:prstGeom>
          <a:gradFill flip="none" rotWithShape="1">
            <a:gsLst>
              <a:gs pos="0">
                <a:schemeClr val="bg1">
                  <a:alpha val="75000"/>
                </a:schemeClr>
              </a:gs>
              <a:gs pos="100000">
                <a:schemeClr val="bg2">
                  <a:lumMod val="75000"/>
                  <a:shade val="67500"/>
                  <a:satMod val="115000"/>
                </a:schemeClr>
              </a:gs>
            </a:gsLst>
            <a:path path="circle">
              <a:fillToRect l="50000" t="50000" r="50000" b="50000"/>
            </a:path>
          </a:gradFill>
        </p:spPr>
        <p:txBody>
          <a:bodyPr wrap="square" rtlCol="0">
            <a:spAutoFit/>
          </a:bodyPr>
          <a:lstStyle/>
          <a:p>
            <a:pPr algn="dist"/>
            <a:r>
              <a:rPr lang="zh-CN" altLang="en-US" b="1" dirty="0">
                <a:solidFill>
                  <a:srgbClr val="E44C1C"/>
                </a:solidFill>
                <a:latin typeface="微软雅黑" panose="020B0503020204020204" pitchFamily="34" charset="-122"/>
                <a:ea typeface="微软雅黑" panose="020B0503020204020204" pitchFamily="34" charset="-122"/>
              </a:rPr>
              <a:t>尺寸大</a:t>
            </a:r>
            <a:r>
              <a:rPr lang="en-US" altLang="zh-CN" b="1" dirty="0">
                <a:solidFill>
                  <a:srgbClr val="E44C1C"/>
                </a:solidFill>
                <a:latin typeface="微软雅黑" panose="020B0503020204020204" pitchFamily="34" charset="-122"/>
                <a:ea typeface="微软雅黑" panose="020B0503020204020204" pitchFamily="34" charset="-122"/>
              </a:rPr>
              <a:t>  </a:t>
            </a:r>
            <a:r>
              <a:rPr lang="zh-CN" altLang="en-US" b="1" dirty="0">
                <a:solidFill>
                  <a:srgbClr val="E44C1C"/>
                </a:solidFill>
                <a:latin typeface="微软雅黑" panose="020B0503020204020204" pitchFamily="34" charset="-122"/>
                <a:ea typeface="微软雅黑" panose="020B0503020204020204" pitchFamily="34" charset="-122"/>
              </a:rPr>
              <a:t>成本高</a:t>
            </a:r>
          </a:p>
        </p:txBody>
      </p:sp>
      <p:sp>
        <p:nvSpPr>
          <p:cNvPr id="1048663" name="文本框 33"/>
          <p:cNvSpPr txBox="1"/>
          <p:nvPr/>
        </p:nvSpPr>
        <p:spPr>
          <a:xfrm>
            <a:off x="3281108" y="4611219"/>
            <a:ext cx="1352881" cy="369332"/>
          </a:xfrm>
          <a:prstGeom prst="rect">
            <a:avLst/>
          </a:prstGeom>
          <a:gradFill flip="none" rotWithShape="1">
            <a:gsLst>
              <a:gs pos="0">
                <a:schemeClr val="bg1">
                  <a:alpha val="75000"/>
                </a:schemeClr>
              </a:gs>
              <a:gs pos="100000">
                <a:schemeClr val="bg2">
                  <a:lumMod val="75000"/>
                  <a:shade val="67500"/>
                  <a:satMod val="115000"/>
                </a:schemeClr>
              </a:gs>
            </a:gsLst>
            <a:path path="circle">
              <a:fillToRect l="50000" t="50000" r="50000" b="50000"/>
            </a:path>
          </a:gradFill>
        </p:spPr>
        <p:txBody>
          <a:bodyPr wrap="square" rtlCol="0">
            <a:spAutoFit/>
          </a:bodyPr>
          <a:lstStyle/>
          <a:p>
            <a:pPr algn="dist"/>
            <a:r>
              <a:rPr lang="zh-CN" altLang="en-US" b="1" dirty="0">
                <a:solidFill>
                  <a:srgbClr val="E44C1C"/>
                </a:solidFill>
                <a:latin typeface="微软雅黑" panose="020B0503020204020204" pitchFamily="34" charset="-122"/>
                <a:ea typeface="微软雅黑" panose="020B0503020204020204" pitchFamily="34" charset="-122"/>
              </a:rPr>
              <a:t>扫频测量</a:t>
            </a:r>
          </a:p>
        </p:txBody>
      </p:sp>
      <p:grpSp>
        <p:nvGrpSpPr>
          <p:cNvPr id="64" name="组合 34"/>
          <p:cNvGrpSpPr/>
          <p:nvPr/>
        </p:nvGrpSpPr>
        <p:grpSpPr>
          <a:xfrm>
            <a:off x="5169282" y="2336902"/>
            <a:ext cx="6473370" cy="1405666"/>
            <a:chOff x="5169282" y="2665886"/>
            <a:chExt cx="6473370" cy="1405666"/>
          </a:xfrm>
        </p:grpSpPr>
        <p:grpSp>
          <p:nvGrpSpPr>
            <p:cNvPr id="65" name="组合 35"/>
            <p:cNvGrpSpPr/>
            <p:nvPr/>
          </p:nvGrpSpPr>
          <p:grpSpPr>
            <a:xfrm>
              <a:off x="5169282" y="2668301"/>
              <a:ext cx="1235767" cy="1400194"/>
              <a:chOff x="5100702" y="2653061"/>
              <a:chExt cx="1235767" cy="1400194"/>
            </a:xfrm>
          </p:grpSpPr>
          <p:sp>
            <p:nvSpPr>
              <p:cNvPr id="1048664" name="文本框 46"/>
              <p:cNvSpPr txBox="1"/>
              <p:nvPr/>
            </p:nvSpPr>
            <p:spPr>
              <a:xfrm>
                <a:off x="5100702" y="3683923"/>
                <a:ext cx="1235767" cy="369332"/>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电池</a:t>
                </a:r>
              </a:p>
            </p:txBody>
          </p:sp>
          <p:pic>
            <p:nvPicPr>
              <p:cNvPr id="2097174" name="图片 3"/>
              <p:cNvPicPr>
                <a:picLocks noChangeAspect="1" noChangeArrowheads="1"/>
              </p:cNvPicPr>
              <p:nvPr/>
            </p:nvPicPr>
            <p:blipFill>
              <a:blip r:embed="rId10" cstate="print"/>
              <a:srcRect/>
              <a:stretch>
                <a:fillRect/>
              </a:stretch>
            </p:blipFill>
            <p:spPr bwMode="auto">
              <a:xfrm>
                <a:off x="5246857" y="2653061"/>
                <a:ext cx="943455" cy="1018829"/>
              </a:xfrm>
              <a:prstGeom prst="rect">
                <a:avLst/>
              </a:prstGeom>
              <a:solidFill>
                <a:srgbClr val="1D67AF"/>
              </a:solidFill>
              <a:ln>
                <a:noFill/>
              </a:ln>
              <a:effectLst>
                <a:glow rad="63500">
                  <a:schemeClr val="accent2">
                    <a:satMod val="175000"/>
                    <a:alpha val="40000"/>
                  </a:schemeClr>
                </a:glow>
              </a:effectLst>
            </p:spPr>
          </p:pic>
        </p:grpSp>
        <p:cxnSp>
          <p:nvCxnSpPr>
            <p:cNvPr id="3145730" name="直接箭头连接符 36"/>
            <p:cNvCxnSpPr/>
            <p:nvPr/>
          </p:nvCxnSpPr>
          <p:spPr>
            <a:xfrm>
              <a:off x="6336766" y="3199783"/>
              <a:ext cx="385945" cy="0"/>
            </a:xfrm>
            <a:prstGeom prst="straightConnector1">
              <a:avLst/>
            </a:prstGeom>
            <a:ln w="57150">
              <a:solidFill>
                <a:srgbClr val="406328"/>
              </a:solidFill>
              <a:tailEnd type="triangle"/>
            </a:ln>
          </p:spPr>
          <p:style>
            <a:lnRef idx="1">
              <a:schemeClr val="accent1"/>
            </a:lnRef>
            <a:fillRef idx="0">
              <a:schemeClr val="accent1"/>
            </a:fillRef>
            <a:effectRef idx="0">
              <a:schemeClr val="accent1"/>
            </a:effectRef>
            <a:fontRef idx="minor">
              <a:schemeClr val="tx1"/>
            </a:fontRef>
          </p:style>
        </p:cxnSp>
        <p:cxnSp>
          <p:nvCxnSpPr>
            <p:cNvPr id="3145731" name="直接箭头连接符 37"/>
            <p:cNvCxnSpPr/>
            <p:nvPr/>
          </p:nvCxnSpPr>
          <p:spPr>
            <a:xfrm>
              <a:off x="9633857" y="3199783"/>
              <a:ext cx="385945" cy="0"/>
            </a:xfrm>
            <a:prstGeom prst="straightConnector1">
              <a:avLst/>
            </a:prstGeom>
            <a:ln w="57150">
              <a:solidFill>
                <a:srgbClr val="406328"/>
              </a:solidFill>
              <a:tailEnd type="triangle"/>
            </a:ln>
          </p:spPr>
          <p:style>
            <a:lnRef idx="1">
              <a:schemeClr val="accent1"/>
            </a:lnRef>
            <a:fillRef idx="0">
              <a:schemeClr val="accent1"/>
            </a:fillRef>
            <a:effectRef idx="0">
              <a:schemeClr val="accent1"/>
            </a:effectRef>
            <a:fontRef idx="minor">
              <a:schemeClr val="tx1"/>
            </a:fontRef>
          </p:style>
        </p:cxnSp>
        <p:grpSp>
          <p:nvGrpSpPr>
            <p:cNvPr id="66" name="组合 38"/>
            <p:cNvGrpSpPr/>
            <p:nvPr/>
          </p:nvGrpSpPr>
          <p:grpSpPr>
            <a:xfrm>
              <a:off x="6756020" y="2670398"/>
              <a:ext cx="2804441" cy="1398097"/>
              <a:chOff x="6687440" y="2655158"/>
              <a:chExt cx="2804441" cy="1398097"/>
            </a:xfrm>
          </p:grpSpPr>
          <p:sp>
            <p:nvSpPr>
              <p:cNvPr id="1048665" name="文本框 42"/>
              <p:cNvSpPr txBox="1"/>
              <p:nvPr/>
            </p:nvSpPr>
            <p:spPr>
              <a:xfrm>
                <a:off x="7194342" y="3683923"/>
                <a:ext cx="1774971" cy="369332"/>
              </a:xfrm>
              <a:prstGeom prst="rect">
                <a:avLst/>
              </a:prstGeom>
              <a:noFill/>
            </p:spPr>
            <p:txBody>
              <a:bodyPr wrap="square" rtlCol="0">
                <a:spAutoFit/>
              </a:bodyPr>
              <a:lstStyle/>
              <a:p>
                <a:pPr algn="ctr"/>
                <a:r>
                  <a:rPr lang="en-US" altLang="zh-CN" b="1" dirty="0">
                    <a:latin typeface="微软雅黑" panose="020B0503020204020204" pitchFamily="34" charset="-122"/>
                    <a:ea typeface="微软雅黑" panose="020B0503020204020204" pitchFamily="34" charset="-122"/>
                  </a:rPr>
                  <a:t>DDS</a:t>
                </a:r>
                <a:r>
                  <a:rPr lang="zh-CN" altLang="en-US" b="1" dirty="0">
                    <a:latin typeface="微软雅黑" panose="020B0503020204020204" pitchFamily="34" charset="-122"/>
                    <a:ea typeface="微软雅黑" panose="020B0503020204020204" pitchFamily="34" charset="-122"/>
                  </a:rPr>
                  <a:t>扰动注入</a:t>
                </a:r>
              </a:p>
            </p:txBody>
          </p:sp>
          <p:grpSp>
            <p:nvGrpSpPr>
              <p:cNvPr id="67" name="组合 43"/>
              <p:cNvGrpSpPr/>
              <p:nvPr/>
            </p:nvGrpSpPr>
            <p:grpSpPr>
              <a:xfrm>
                <a:off x="6687440" y="2655158"/>
                <a:ext cx="2804441" cy="1018829"/>
                <a:chOff x="12769106" y="2963353"/>
                <a:chExt cx="4605739" cy="1673225"/>
              </a:xfrm>
            </p:grpSpPr>
            <p:pic>
              <p:nvPicPr>
                <p:cNvPr id="2097175" name="Picture 1"/>
                <p:cNvPicPr>
                  <a:picLocks noChangeAspect="1" noChangeArrowheads="1"/>
                </p:cNvPicPr>
                <p:nvPr/>
              </p:nvPicPr>
              <p:blipFill>
                <a:blip r:embed="rId11" cstate="print"/>
                <a:srcRect l="1952" t="1556" r="1219" b="3078"/>
                <a:stretch>
                  <a:fillRect/>
                </a:stretch>
              </p:blipFill>
              <p:spPr bwMode="auto">
                <a:xfrm>
                  <a:off x="12769106" y="2963353"/>
                  <a:ext cx="2268538" cy="1673225"/>
                </a:xfrm>
                <a:prstGeom prst="rect">
                  <a:avLst/>
                </a:prstGeom>
                <a:noFill/>
                <a:effectLst>
                  <a:glow rad="63500">
                    <a:schemeClr val="accent2">
                      <a:satMod val="175000"/>
                      <a:alpha val="40000"/>
                    </a:schemeClr>
                  </a:glow>
                </a:effectLst>
              </p:spPr>
            </p:pic>
            <p:pic>
              <p:nvPicPr>
                <p:cNvPr id="2097176" name="Picture 3"/>
                <p:cNvPicPr>
                  <a:picLocks noChangeAspect="1" noChangeArrowheads="1"/>
                </p:cNvPicPr>
                <p:nvPr/>
              </p:nvPicPr>
              <p:blipFill>
                <a:blip r:embed="rId12" cstate="print"/>
                <a:srcRect l="29811" t="32054" r="31802" b="31303"/>
                <a:stretch>
                  <a:fillRect/>
                </a:stretch>
              </p:blipFill>
              <p:spPr bwMode="auto">
                <a:xfrm>
                  <a:off x="15041136" y="2963353"/>
                  <a:ext cx="2333709" cy="1673225"/>
                </a:xfrm>
                <a:prstGeom prst="rect">
                  <a:avLst/>
                </a:prstGeom>
                <a:noFill/>
                <a:ln>
                  <a:noFill/>
                </a:ln>
                <a:effectLst>
                  <a:glow rad="63500">
                    <a:schemeClr val="accent2">
                      <a:satMod val="175000"/>
                      <a:alpha val="40000"/>
                    </a:schemeClr>
                  </a:glow>
                </a:effectLst>
              </p:spPr>
            </p:pic>
          </p:grpSp>
        </p:grpSp>
        <p:grpSp>
          <p:nvGrpSpPr>
            <p:cNvPr id="68" name="组合 39"/>
            <p:cNvGrpSpPr/>
            <p:nvPr/>
          </p:nvGrpSpPr>
          <p:grpSpPr>
            <a:xfrm>
              <a:off x="10049392" y="2665886"/>
              <a:ext cx="1593260" cy="1405666"/>
              <a:chOff x="10194172" y="2650646"/>
              <a:chExt cx="1593260" cy="1405666"/>
            </a:xfrm>
          </p:grpSpPr>
          <p:sp>
            <p:nvSpPr>
              <p:cNvPr id="1048666" name="文本框 40"/>
              <p:cNvSpPr txBox="1"/>
              <p:nvPr/>
            </p:nvSpPr>
            <p:spPr>
              <a:xfrm>
                <a:off x="10194172" y="3686980"/>
                <a:ext cx="1593260" cy="369332"/>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电化学阻抗谱</a:t>
                </a:r>
              </a:p>
            </p:txBody>
          </p:sp>
          <p:pic>
            <p:nvPicPr>
              <p:cNvPr id="2097177" name="Picture 4"/>
              <p:cNvPicPr>
                <a:picLocks noChangeAspect="1" noChangeArrowheads="1"/>
              </p:cNvPicPr>
              <p:nvPr/>
            </p:nvPicPr>
            <p:blipFill>
              <a:blip r:embed="rId13" cstate="print"/>
              <a:srcRect/>
              <a:stretch>
                <a:fillRect/>
              </a:stretch>
            </p:blipFill>
            <p:spPr bwMode="auto">
              <a:xfrm>
                <a:off x="10287014" y="2650646"/>
                <a:ext cx="1304616" cy="1021244"/>
              </a:xfrm>
              <a:prstGeom prst="rect">
                <a:avLst/>
              </a:prstGeom>
              <a:noFill/>
              <a:ln>
                <a:noFill/>
              </a:ln>
              <a:effectLst>
                <a:glow rad="63500">
                  <a:schemeClr val="accent2">
                    <a:satMod val="175000"/>
                    <a:alpha val="40000"/>
                  </a:schemeClr>
                </a:glow>
              </a:effectLst>
            </p:spPr>
          </p:pic>
        </p:grpSp>
      </p:grpSp>
      <p:sp>
        <p:nvSpPr>
          <p:cNvPr id="1048667" name="文本框 48"/>
          <p:cNvSpPr txBox="1"/>
          <p:nvPr/>
        </p:nvSpPr>
        <p:spPr>
          <a:xfrm>
            <a:off x="5184061" y="2674126"/>
            <a:ext cx="6484797" cy="584775"/>
          </a:xfrm>
          <a:prstGeom prst="rect">
            <a:avLst/>
          </a:prstGeom>
          <a:gradFill flip="none" rotWithShape="1">
            <a:gsLst>
              <a:gs pos="0">
                <a:schemeClr val="bg1"/>
              </a:gs>
              <a:gs pos="50000">
                <a:schemeClr val="accent1"/>
              </a:gs>
              <a:gs pos="100000">
                <a:schemeClr val="bg1">
                  <a:lumMod val="95000"/>
                </a:schemeClr>
              </a:gs>
            </a:gsLst>
            <a:lin ang="0" scaled="1"/>
          </a:gradFill>
        </p:spPr>
        <p:txBody>
          <a:bodyPr wrap="square">
            <a:spAutoFit/>
          </a:bodyPr>
          <a:lstStyle/>
          <a:p>
            <a:pPr algn="dist"/>
            <a:r>
              <a:rPr lang="zh-CN" altLang="en-US" sz="3200" b="1" dirty="0">
                <a:solidFill>
                  <a:srgbClr val="FEA402"/>
                </a:solidFill>
                <a:latin typeface="微软雅黑" panose="020B0503020204020204" pitchFamily="34" charset="-122"/>
                <a:ea typeface="微软雅黑" panose="020B0503020204020204" pitchFamily="34" charset="-122"/>
              </a:rPr>
              <a:t>易于集成 实时监测</a:t>
            </a:r>
            <a:endParaRPr lang="en-US" altLang="zh-CN" sz="3200" b="1" dirty="0">
              <a:solidFill>
                <a:srgbClr val="FEA402"/>
              </a:solidFill>
              <a:latin typeface="微软雅黑" panose="020B0503020204020204" pitchFamily="34" charset="-122"/>
              <a:ea typeface="微软雅黑" panose="020B0503020204020204" pitchFamily="34" charset="-122"/>
            </a:endParaRPr>
          </a:p>
        </p:txBody>
      </p:sp>
      <p:sp>
        <p:nvSpPr>
          <p:cNvPr id="1048668" name="文本框 49"/>
          <p:cNvSpPr txBox="1"/>
          <p:nvPr/>
        </p:nvSpPr>
        <p:spPr>
          <a:xfrm>
            <a:off x="5176841" y="4609339"/>
            <a:ext cx="6484797" cy="368300"/>
          </a:xfrm>
          <a:prstGeom prst="rect">
            <a:avLst/>
          </a:prstGeom>
          <a:gradFill flip="none" rotWithShape="1">
            <a:gsLst>
              <a:gs pos="0">
                <a:schemeClr val="bg1">
                  <a:alpha val="75000"/>
                </a:schemeClr>
              </a:gs>
              <a:gs pos="50000">
                <a:schemeClr val="accent1">
                  <a:lumMod val="75000"/>
                </a:schemeClr>
              </a:gs>
              <a:gs pos="100000">
                <a:schemeClr val="bg1">
                  <a:lumMod val="95000"/>
                </a:schemeClr>
              </a:gs>
            </a:gsLst>
            <a:lin ang="0" scaled="1"/>
          </a:gradFill>
        </p:spPr>
        <p:txBody>
          <a:bodyPr wrap="square">
            <a:spAutoFit/>
          </a:bodyPr>
          <a:lstStyle/>
          <a:p>
            <a:pPr algn="dist"/>
            <a:r>
              <a:rPr lang="zh-CN" altLang="en-US" b="1" dirty="0">
                <a:solidFill>
                  <a:srgbClr val="FEA402"/>
                </a:solidFill>
                <a:latin typeface="微软雅黑" panose="020B0503020204020204" pitchFamily="34" charset="-122"/>
                <a:ea typeface="微软雅黑" panose="020B0503020204020204" pitchFamily="34" charset="-122"/>
              </a:rPr>
              <a:t>轻便廉价，实现单体</a:t>
            </a:r>
            <a:r>
              <a:rPr lang="en-US" altLang="zh-CN" b="1" dirty="0">
                <a:solidFill>
                  <a:srgbClr val="FEA402"/>
                </a:solidFill>
                <a:latin typeface="微软雅黑" panose="020B0503020204020204" pitchFamily="34" charset="-122"/>
                <a:ea typeface="微软雅黑" panose="020B0503020204020204" pitchFamily="34" charset="-122"/>
              </a:rPr>
              <a:t>/</a:t>
            </a:r>
            <a:r>
              <a:rPr lang="zh-CN" altLang="en-US" b="1" dirty="0">
                <a:solidFill>
                  <a:srgbClr val="FEA402"/>
                </a:solidFill>
                <a:latin typeface="微软雅黑" panose="020B0503020204020204" pitchFamily="34" charset="-122"/>
                <a:ea typeface="微软雅黑" panose="020B0503020204020204" pitchFamily="34" charset="-122"/>
              </a:rPr>
              <a:t>集成储能电池快速准确检测</a:t>
            </a:r>
          </a:p>
        </p:txBody>
      </p:sp>
      <p:sp>
        <p:nvSpPr>
          <p:cNvPr id="1048670" name="文本框 22"/>
          <p:cNvSpPr txBox="1"/>
          <p:nvPr/>
        </p:nvSpPr>
        <p:spPr>
          <a:xfrm>
            <a:off x="663761" y="2363193"/>
            <a:ext cx="474191" cy="1158240"/>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工作原理</a:t>
            </a:r>
          </a:p>
        </p:txBody>
      </p:sp>
      <p:sp>
        <p:nvSpPr>
          <p:cNvPr id="1048671" name="文本框 23"/>
          <p:cNvSpPr txBox="1"/>
          <p:nvPr/>
        </p:nvSpPr>
        <p:spPr>
          <a:xfrm>
            <a:off x="463322" y="2671668"/>
            <a:ext cx="4170667" cy="584775"/>
          </a:xfrm>
          <a:prstGeom prst="rect">
            <a:avLst/>
          </a:prstGeom>
          <a:gradFill flip="none" rotWithShape="1">
            <a:gsLst>
              <a:gs pos="0">
                <a:schemeClr val="bg1">
                  <a:alpha val="75000"/>
                </a:schemeClr>
              </a:gs>
              <a:gs pos="100000">
                <a:schemeClr val="bg2">
                  <a:lumMod val="75000"/>
                  <a:shade val="67500"/>
                  <a:satMod val="115000"/>
                </a:schemeClr>
              </a:gs>
            </a:gsLst>
            <a:path path="circle">
              <a:fillToRect l="50000" t="50000" r="50000" b="50000"/>
            </a:path>
          </a:gradFill>
        </p:spPr>
        <p:txBody>
          <a:bodyPr wrap="square" rtlCol="0">
            <a:spAutoFit/>
          </a:bodyPr>
          <a:lstStyle/>
          <a:p>
            <a:pPr algn="dist"/>
            <a:r>
              <a:rPr lang="zh-CN" altLang="en-US" sz="3200" b="1" dirty="0">
                <a:solidFill>
                  <a:srgbClr val="E44C1C"/>
                </a:solidFill>
                <a:latin typeface="微软雅黑" panose="020B0503020204020204" pitchFamily="34" charset="-122"/>
                <a:ea typeface="微软雅黑" panose="020B0503020204020204" pitchFamily="34" charset="-122"/>
              </a:rPr>
              <a:t>频率范围固定</a:t>
            </a:r>
          </a:p>
        </p:txBody>
      </p:sp>
      <p:sp>
        <p:nvSpPr>
          <p:cNvPr id="1048672" name="圆角矩形 3"/>
          <p:cNvSpPr/>
          <p:nvPr/>
        </p:nvSpPr>
        <p:spPr>
          <a:xfrm>
            <a:off x="23495" y="815340"/>
            <a:ext cx="12121515" cy="846455"/>
          </a:xfrm>
          <a:prstGeom prst="roundRect">
            <a:avLst/>
          </a:prstGeom>
          <a:noFill/>
          <a:ln w="38100"/>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48673" name="文本框 1"/>
          <p:cNvSpPr txBox="1"/>
          <p:nvPr/>
        </p:nvSpPr>
        <p:spPr>
          <a:xfrm>
            <a:off x="11852910" y="6513195"/>
            <a:ext cx="339090" cy="275590"/>
          </a:xfrm>
          <a:prstGeom prst="rect">
            <a:avLst/>
          </a:prstGeom>
          <a:noFill/>
        </p:spPr>
        <p:txBody>
          <a:bodyPr wrap="square" rtlCol="0">
            <a:spAutoFit/>
          </a:bodyPr>
          <a:lstStyle/>
          <a:p>
            <a:r>
              <a:rPr lang="en-US" altLang="zh-CN" sz="1200" b="1">
                <a:solidFill>
                  <a:schemeClr val="bg1"/>
                </a:solidFill>
              </a:rPr>
              <a:t>4</a:t>
            </a:r>
          </a:p>
        </p:txBody>
      </p:sp>
      <p:sp>
        <p:nvSpPr>
          <p:cNvPr id="1048674" name="矩形 2"/>
          <p:cNvSpPr/>
          <p:nvPr/>
        </p:nvSpPr>
        <p:spPr bwMode="auto">
          <a:xfrm>
            <a:off x="135192" y="657012"/>
            <a:ext cx="4748213" cy="45719"/>
          </a:xfrm>
          <a:prstGeom prst="rect">
            <a:avLst/>
          </a:prstGeom>
          <a:gradFill flip="none" rotWithShape="1">
            <a:gsLst>
              <a:gs pos="4000">
                <a:schemeClr val="bg1"/>
              </a:gs>
              <a:gs pos="72000">
                <a:schemeClr val="bg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dirty="0">
              <a:solidFill>
                <a:srgbClr val="1B69B4"/>
              </a:solidFill>
            </a:endParaRPr>
          </a:p>
        </p:txBody>
      </p:sp>
      <p:grpSp>
        <p:nvGrpSpPr>
          <p:cNvPr id="8196" name="组合 1"/>
          <p:cNvGrpSpPr/>
          <p:nvPr/>
        </p:nvGrpSpPr>
        <p:grpSpPr bwMode="auto">
          <a:xfrm>
            <a:off x="268288" y="103188"/>
            <a:ext cx="4747591" cy="891540"/>
            <a:chOff x="267858" y="102478"/>
            <a:chExt cx="3025443" cy="892891"/>
          </a:xfrm>
        </p:grpSpPr>
        <p:sp>
          <p:nvSpPr>
            <p:cNvPr id="3" name="矩形 65"/>
            <p:cNvSpPr>
              <a:spLocks noChangeArrowheads="1"/>
            </p:cNvSpPr>
            <p:nvPr/>
          </p:nvSpPr>
          <p:spPr bwMode="auto">
            <a:xfrm>
              <a:off x="267858" y="102478"/>
              <a:ext cx="3025443" cy="892891"/>
            </a:xfrm>
            <a:prstGeom prst="rect">
              <a:avLst/>
            </a:prstGeom>
            <a:no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685800" eaLnBrk="1" fontAlgn="auto" hangingPunct="1">
                <a:spcBef>
                  <a:spcPct val="0"/>
                </a:spcBef>
                <a:spcAft>
                  <a:spcPts val="0"/>
                </a:spcAft>
                <a:buFont typeface="Arial" panose="020B0604020202020204" pitchFamily="34" charset="0"/>
                <a:buNone/>
                <a:defRPr/>
              </a:pPr>
              <a:r>
                <a:rPr lang="en-US" altLang="zh-CN" b="1" spc="300" dirty="0">
                  <a:ln w="6350">
                    <a:noFill/>
                  </a:ln>
                  <a:solidFill>
                    <a:srgbClr val="1B69B4"/>
                  </a:solidFill>
                  <a:latin typeface="微软雅黑" panose="020B0503020204020204" pitchFamily="34" charset="-122"/>
                  <a:ea typeface="微软雅黑" panose="020B0503020204020204" pitchFamily="34" charset="-122"/>
                </a:rPr>
                <a:t>04</a:t>
              </a:r>
              <a:r>
                <a:rPr lang="zh-CN" altLang="en-US" b="1" spc="300" dirty="0">
                  <a:ln w="6350">
                    <a:noFill/>
                  </a:ln>
                  <a:solidFill>
                    <a:srgbClr val="1B69B4"/>
                  </a:solidFill>
                  <a:latin typeface="微软雅黑" panose="020B0503020204020204" pitchFamily="34" charset="-122"/>
                  <a:ea typeface="微软雅黑" panose="020B0503020204020204" pitchFamily="34" charset="-122"/>
                </a:rPr>
                <a:t>项目总体概述</a:t>
              </a:r>
              <a:endParaRPr lang="zh-CN" altLang="en-US" sz="2000" b="1" spc="300" dirty="0">
                <a:ln w="6350">
                  <a:noFill/>
                </a:ln>
                <a:solidFill>
                  <a:srgbClr val="1B69B4"/>
                </a:solidFill>
                <a:latin typeface="微软雅黑" panose="020B0503020204020204" pitchFamily="34" charset="-122"/>
                <a:ea typeface="微软雅黑" panose="020B0503020204020204" pitchFamily="34" charset="-122"/>
              </a:endParaRPr>
            </a:p>
            <a:p>
              <a:pPr defTabSz="685800" eaLnBrk="1" fontAlgn="auto" hangingPunct="1">
                <a:spcBef>
                  <a:spcPct val="0"/>
                </a:spcBef>
                <a:spcAft>
                  <a:spcPts val="0"/>
                </a:spcAft>
                <a:buFont typeface="Arial" panose="020B0604020202020204" pitchFamily="34" charset="0"/>
                <a:buNone/>
                <a:defRPr/>
              </a:pPr>
              <a:endParaRPr lang="zh-CN" altLang="en-US" sz="2000" b="1" spc="300" dirty="0">
                <a:ln w="6350">
                  <a:noFill/>
                </a:ln>
                <a:solidFill>
                  <a:srgbClr val="1B69B4"/>
                </a:solidFill>
                <a:latin typeface="微软雅黑" panose="020B0503020204020204" pitchFamily="34" charset="-122"/>
                <a:ea typeface="微软雅黑" panose="020B0503020204020204" pitchFamily="34" charset="-122"/>
              </a:endParaRPr>
            </a:p>
          </p:txBody>
        </p:sp>
        <p:sp>
          <p:nvSpPr>
            <p:cNvPr id="4" name="矩形 3"/>
            <p:cNvSpPr/>
            <p:nvPr/>
          </p:nvSpPr>
          <p:spPr>
            <a:xfrm>
              <a:off x="333094" y="659333"/>
              <a:ext cx="2653687" cy="45719"/>
            </a:xfrm>
            <a:prstGeom prst="rect">
              <a:avLst/>
            </a:prstGeom>
            <a:gradFill flip="none" rotWithShape="1">
              <a:gsLst>
                <a:gs pos="100000">
                  <a:schemeClr val="bg1">
                    <a:alpha val="0"/>
                  </a:schemeClr>
                </a:gs>
                <a:gs pos="4000">
                  <a:srgbClr val="1B69B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1B69B4"/>
                </a:solidFill>
              </a:endParaRPr>
            </a:p>
          </p:txBody>
        </p:sp>
      </p:grpSp>
      <p:sp>
        <p:nvSpPr>
          <p:cNvPr id="2" name="文本框 0"/>
          <p:cNvSpPr txBox="1"/>
          <p:nvPr/>
        </p:nvSpPr>
        <p:spPr>
          <a:xfrm>
            <a:off x="0" y="6027420"/>
            <a:ext cx="12192000" cy="761365"/>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3500000" scaled="1"/>
            <a:tileRect/>
          </a:gradFill>
        </p:spPr>
        <p:txBody>
          <a:bodyPr wrap="square" rtlCol="0" anchor="ctr" anchorCtr="1">
            <a:noAutofit/>
          </a:bodyPr>
          <a:lstStyle/>
          <a:p>
            <a:pPr algn="ctr"/>
            <a:r>
              <a:rPr lang="zh-CN" altLang="en-US" sz="2400" b="1" spc="300" dirty="0">
                <a:ln w="6350">
                  <a:noFill/>
                </a:ln>
                <a:solidFill>
                  <a:schemeClr val="bg1"/>
                </a:solidFill>
                <a:latin typeface="微软雅黑" panose="020B0503020204020204" pitchFamily="34" charset="-122"/>
                <a:ea typeface="微软雅黑" panose="020B0503020204020204" pitchFamily="34" charset="-122"/>
                <a:sym typeface="+mn-ea"/>
              </a:rPr>
              <a:t>基于电化学阻抗谱的</a:t>
            </a:r>
            <a:r>
              <a:rPr lang="zh-CN" altLang="en-US" sz="2400" b="1" spc="300" dirty="0">
                <a:ln w="6350">
                  <a:noFill/>
                </a:ln>
                <a:solidFill>
                  <a:srgbClr val="FEA402"/>
                </a:solidFill>
                <a:latin typeface="微软雅黑" panose="020B0503020204020204" pitchFamily="34" charset="-122"/>
                <a:ea typeface="微软雅黑" panose="020B0503020204020204" pitchFamily="34" charset="-122"/>
                <a:sym typeface="+mn-ea"/>
              </a:rPr>
              <a:t>高精度快速检测系统</a:t>
            </a:r>
            <a:r>
              <a:rPr lang="zh-CN" altLang="en-US" sz="2400" b="1" spc="300" dirty="0">
                <a:ln w="6350">
                  <a:noFill/>
                </a:ln>
                <a:solidFill>
                  <a:schemeClr val="bg1"/>
                </a:solidFill>
                <a:latin typeface="微软雅黑" panose="020B0503020204020204" pitchFamily="34" charset="-122"/>
                <a:ea typeface="微软雅黑" panose="020B0503020204020204" pitchFamily="34" charset="-122"/>
                <a:sym typeface="+mn-ea"/>
              </a:rPr>
              <a:t>提供了解决</a:t>
            </a:r>
            <a:r>
              <a:rPr lang="zh-CN" altLang="en-US" sz="2400" b="1" spc="300" dirty="0">
                <a:ln w="6350">
                  <a:noFill/>
                </a:ln>
                <a:solidFill>
                  <a:srgbClr val="C00000"/>
                </a:solidFill>
                <a:latin typeface="微软雅黑" panose="020B0503020204020204" pitchFamily="34" charset="-122"/>
                <a:ea typeface="微软雅黑" panose="020B0503020204020204" pitchFamily="34" charset="-122"/>
                <a:sym typeface="+mn-ea"/>
              </a:rPr>
              <a:t>储能电池检测</a:t>
            </a:r>
            <a:r>
              <a:rPr lang="zh-CN" altLang="en-US" sz="2400" b="1" spc="300" dirty="0">
                <a:ln w="6350">
                  <a:noFill/>
                </a:ln>
                <a:solidFill>
                  <a:schemeClr val="bg1"/>
                </a:solidFill>
                <a:latin typeface="微软雅黑" panose="020B0503020204020204" pitchFamily="34" charset="-122"/>
                <a:ea typeface="微软雅黑" panose="020B0503020204020204" pitchFamily="34" charset="-122"/>
                <a:sym typeface="+mn-ea"/>
              </a:rPr>
              <a:t>的成熟</a:t>
            </a:r>
            <a:r>
              <a:rPr lang="zh-CN" altLang="en-US" sz="2400" b="1" spc="300" dirty="0">
                <a:ln w="6350">
                  <a:noFill/>
                </a:ln>
                <a:solidFill>
                  <a:srgbClr val="FEA402"/>
                </a:solidFill>
                <a:latin typeface="微软雅黑" panose="020B0503020204020204" pitchFamily="34" charset="-122"/>
                <a:ea typeface="微软雅黑" panose="020B0503020204020204" pitchFamily="34" charset="-122"/>
                <a:sym typeface="+mn-ea"/>
              </a:rPr>
              <a:t>方案</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000" fill="hold">
                                          <p:stCondLst>
                                            <p:cond delay="0"/>
                                          </p:stCondLst>
                                        </p:cTn>
                                        <p:tgtEl>
                                          <p:spTgt spid="1048654"/>
                                        </p:tgtEl>
                                        <p:attrNameLst>
                                          <p:attrName>style.visibility</p:attrName>
                                        </p:attrNameLst>
                                      </p:cBhvr>
                                      <p:to>
                                        <p:strVal val="visible"/>
                                      </p:to>
                                    </p:set>
                                    <p:anim calcmode="lin" valueType="num">
                                      <p:cBhvr additive="base">
                                        <p:cTn id="7" dur="1000" fill="hold"/>
                                        <p:tgtEl>
                                          <p:spTgt spid="1048654"/>
                                        </p:tgtEl>
                                        <p:attrNameLst>
                                          <p:attrName>ppt_x</p:attrName>
                                        </p:attrNameLst>
                                      </p:cBhvr>
                                      <p:tavLst>
                                        <p:tav tm="0">
                                          <p:val>
                                            <p:strVal val="#ppt_x"/>
                                          </p:val>
                                        </p:tav>
                                        <p:tav tm="100000">
                                          <p:val>
                                            <p:strVal val="#ppt_x"/>
                                          </p:val>
                                        </p:tav>
                                      </p:tavLst>
                                    </p:anim>
                                    <p:anim calcmode="lin" valueType="num">
                                      <p:cBhvr additive="base">
                                        <p:cTn id="8" dur="1000" fill="hold"/>
                                        <p:tgtEl>
                                          <p:spTgt spid="104865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000" fill="hold">
                                          <p:stCondLst>
                                            <p:cond delay="0"/>
                                          </p:stCondLst>
                                        </p:cTn>
                                        <p:tgtEl>
                                          <p:spTgt spid="1048672"/>
                                        </p:tgtEl>
                                        <p:attrNameLst>
                                          <p:attrName>style.visibility</p:attrName>
                                        </p:attrNameLst>
                                      </p:cBhvr>
                                      <p:to>
                                        <p:strVal val="visible"/>
                                      </p:to>
                                    </p:set>
                                    <p:anim calcmode="lin" valueType="num">
                                      <p:cBhvr additive="base">
                                        <p:cTn id="11" dur="1000" fill="hold"/>
                                        <p:tgtEl>
                                          <p:spTgt spid="1048672"/>
                                        </p:tgtEl>
                                        <p:attrNameLst>
                                          <p:attrName>ppt_x</p:attrName>
                                        </p:attrNameLst>
                                      </p:cBhvr>
                                      <p:tavLst>
                                        <p:tav tm="0">
                                          <p:val>
                                            <p:strVal val="#ppt_x"/>
                                          </p:val>
                                        </p:tav>
                                        <p:tav tm="100000">
                                          <p:val>
                                            <p:strVal val="#ppt_x"/>
                                          </p:val>
                                        </p:tav>
                                      </p:tavLst>
                                    </p:anim>
                                    <p:anim calcmode="lin" valueType="num">
                                      <p:cBhvr additive="base">
                                        <p:cTn id="12" dur="1000" fill="hold"/>
                                        <p:tgtEl>
                                          <p:spTgt spid="1048672"/>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1048650"/>
                                        </p:tgtEl>
                                        <p:attrNameLst>
                                          <p:attrName>style.visibility</p:attrName>
                                        </p:attrNameLst>
                                      </p:cBhvr>
                                      <p:to>
                                        <p:strVal val="visible"/>
                                      </p:to>
                                    </p:set>
                                    <p:anim calcmode="lin" valueType="num">
                                      <p:cBhvr additive="base">
                                        <p:cTn id="16" dur="500" fill="hold"/>
                                        <p:tgtEl>
                                          <p:spTgt spid="1048650"/>
                                        </p:tgtEl>
                                        <p:attrNameLst>
                                          <p:attrName>ppt_x</p:attrName>
                                        </p:attrNameLst>
                                      </p:cBhvr>
                                      <p:tavLst>
                                        <p:tav tm="0">
                                          <p:val>
                                            <p:strVal val="#ppt_x"/>
                                          </p:val>
                                        </p:tav>
                                        <p:tav tm="100000">
                                          <p:val>
                                            <p:strVal val="#ppt_x"/>
                                          </p:val>
                                        </p:tav>
                                      </p:tavLst>
                                    </p:anim>
                                    <p:anim calcmode="lin" valueType="num">
                                      <p:cBhvr additive="base">
                                        <p:cTn id="17" dur="500" fill="hold"/>
                                        <p:tgtEl>
                                          <p:spTgt spid="1048650"/>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1048655"/>
                                        </p:tgtEl>
                                        <p:attrNameLst>
                                          <p:attrName>style.visibility</p:attrName>
                                        </p:attrNameLst>
                                      </p:cBhvr>
                                      <p:to>
                                        <p:strVal val="visible"/>
                                      </p:to>
                                    </p:set>
                                    <p:anim calcmode="lin" valueType="num">
                                      <p:cBhvr additive="base">
                                        <p:cTn id="20" dur="500" fill="hold"/>
                                        <p:tgtEl>
                                          <p:spTgt spid="1048655"/>
                                        </p:tgtEl>
                                        <p:attrNameLst>
                                          <p:attrName>ppt_x</p:attrName>
                                        </p:attrNameLst>
                                      </p:cBhvr>
                                      <p:tavLst>
                                        <p:tav tm="0">
                                          <p:val>
                                            <p:strVal val="#ppt_x"/>
                                          </p:val>
                                        </p:tav>
                                        <p:tav tm="100000">
                                          <p:val>
                                            <p:strVal val="#ppt_x"/>
                                          </p:val>
                                        </p:tav>
                                      </p:tavLst>
                                    </p:anim>
                                    <p:anim calcmode="lin" valueType="num">
                                      <p:cBhvr additive="base">
                                        <p:cTn id="21" dur="500" fill="hold"/>
                                        <p:tgtEl>
                                          <p:spTgt spid="1048655"/>
                                        </p:tgtEl>
                                        <p:attrNameLst>
                                          <p:attrName>ppt_y</p:attrName>
                                        </p:attrNameLst>
                                      </p:cBhvr>
                                      <p:tavLst>
                                        <p:tav tm="0">
                                          <p:val>
                                            <p:strVal val="1+#ppt_h/2"/>
                                          </p:val>
                                        </p:tav>
                                        <p:tav tm="100000">
                                          <p:val>
                                            <p:strVal val="#ppt_y"/>
                                          </p:val>
                                        </p:tav>
                                      </p:tavLst>
                                    </p:anim>
                                  </p:childTnLst>
                                </p:cTn>
                              </p:par>
                            </p:childTnLst>
                          </p:cTn>
                        </p:par>
                        <p:par>
                          <p:cTn id="22" fill="hold">
                            <p:stCondLst>
                              <p:cond delay="1500"/>
                            </p:stCondLst>
                            <p:childTnLst>
                              <p:par>
                                <p:cTn id="23" presetID="10" presetClass="entr" presetSubtype="0" fill="hold" nodeType="afterEffect">
                                  <p:stCondLst>
                                    <p:cond delay="0"/>
                                  </p:stCondLst>
                                  <p:childTnLst>
                                    <p:set>
                                      <p:cBhvr>
                                        <p:cTn id="24" dur="1" fill="hold">
                                          <p:stCondLst>
                                            <p:cond delay="0"/>
                                          </p:stCondLst>
                                        </p:cTn>
                                        <p:tgtEl>
                                          <p:spTgt spid="2097167"/>
                                        </p:tgtEl>
                                        <p:attrNameLst>
                                          <p:attrName>style.visibility</p:attrName>
                                        </p:attrNameLst>
                                      </p:cBhvr>
                                      <p:to>
                                        <p:strVal val="visible"/>
                                      </p:to>
                                    </p:set>
                                    <p:animEffect transition="in" filter="fade">
                                      <p:cBhvr>
                                        <p:cTn id="25" dur="500"/>
                                        <p:tgtEl>
                                          <p:spTgt spid="209716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48670"/>
                                        </p:tgtEl>
                                        <p:attrNameLst>
                                          <p:attrName>style.visibility</p:attrName>
                                        </p:attrNameLst>
                                      </p:cBhvr>
                                      <p:to>
                                        <p:strVal val="visible"/>
                                      </p:to>
                                    </p:set>
                                    <p:animEffect transition="in" filter="fade">
                                      <p:cBhvr>
                                        <p:cTn id="28" dur="500"/>
                                        <p:tgtEl>
                                          <p:spTgt spid="1048670"/>
                                        </p:tgtEl>
                                      </p:cBhvr>
                                    </p:animEffect>
                                  </p:childTnLst>
                                </p:cTn>
                              </p:par>
                              <p:par>
                                <p:cTn id="29" presetID="42" presetClass="entr" presetSubtype="0" fill="hold" grpId="0" nodeType="withEffect">
                                  <p:stCondLst>
                                    <p:cond delay="0"/>
                                  </p:stCondLst>
                                  <p:childTnLst>
                                    <p:set>
                                      <p:cBhvr>
                                        <p:cTn id="30" dur="1" fill="hold">
                                          <p:stCondLst>
                                            <p:cond delay="0"/>
                                          </p:stCondLst>
                                        </p:cTn>
                                        <p:tgtEl>
                                          <p:spTgt spid="1048671"/>
                                        </p:tgtEl>
                                        <p:attrNameLst>
                                          <p:attrName>style.visibility</p:attrName>
                                        </p:attrNameLst>
                                      </p:cBhvr>
                                      <p:to>
                                        <p:strVal val="visible"/>
                                      </p:to>
                                    </p:set>
                                    <p:animEffect transition="in" filter="fade">
                                      <p:cBhvr>
                                        <p:cTn id="31" dur="500"/>
                                        <p:tgtEl>
                                          <p:spTgt spid="1048671"/>
                                        </p:tgtEl>
                                      </p:cBhvr>
                                    </p:animEffect>
                                    <p:anim calcmode="lin" valueType="num">
                                      <p:cBhvr>
                                        <p:cTn id="32" dur="500" fill="hold"/>
                                        <p:tgtEl>
                                          <p:spTgt spid="1048671"/>
                                        </p:tgtEl>
                                        <p:attrNameLst>
                                          <p:attrName>ppt_x</p:attrName>
                                        </p:attrNameLst>
                                      </p:cBhvr>
                                      <p:tavLst>
                                        <p:tav tm="0">
                                          <p:val>
                                            <p:strVal val="#ppt_x"/>
                                          </p:val>
                                        </p:tav>
                                        <p:tav tm="100000">
                                          <p:val>
                                            <p:strVal val="#ppt_x"/>
                                          </p:val>
                                        </p:tav>
                                      </p:tavLst>
                                    </p:anim>
                                    <p:anim calcmode="lin" valueType="num">
                                      <p:cBhvr>
                                        <p:cTn id="33" dur="500" fill="hold"/>
                                        <p:tgtEl>
                                          <p:spTgt spid="1048671"/>
                                        </p:tgtEl>
                                        <p:attrNameLst>
                                          <p:attrName>ppt_y</p:attrName>
                                        </p:attrNameLst>
                                      </p:cBhvr>
                                      <p:tavLst>
                                        <p:tav tm="0">
                                          <p:val>
                                            <p:strVal val="#ppt_y+.1"/>
                                          </p:val>
                                        </p:tav>
                                        <p:tav tm="100000">
                                          <p:val>
                                            <p:strVal val="#ppt_y"/>
                                          </p:val>
                                        </p:tav>
                                      </p:tavLst>
                                    </p:anim>
                                  </p:childTnLst>
                                </p:cTn>
                              </p:par>
                              <p:par>
                                <p:cTn id="34" presetID="10" presetClass="entr" presetSubtype="0" fill="hold" grpId="0" nodeType="withEffect">
                                  <p:stCondLst>
                                    <p:cond delay="0"/>
                                  </p:stCondLst>
                                  <p:childTnLst>
                                    <p:set>
                                      <p:cBhvr>
                                        <p:cTn id="35" dur="1" fill="hold">
                                          <p:stCondLst>
                                            <p:cond delay="0"/>
                                          </p:stCondLst>
                                        </p:cTn>
                                        <p:tgtEl>
                                          <p:spTgt spid="1048652"/>
                                        </p:tgtEl>
                                        <p:attrNameLst>
                                          <p:attrName>style.visibility</p:attrName>
                                        </p:attrNameLst>
                                      </p:cBhvr>
                                      <p:to>
                                        <p:strVal val="visible"/>
                                      </p:to>
                                    </p:set>
                                    <p:animEffect transition="in" filter="fade">
                                      <p:cBhvr>
                                        <p:cTn id="36" dur="500"/>
                                        <p:tgtEl>
                                          <p:spTgt spid="1048652"/>
                                        </p:tgtEl>
                                      </p:cBhvr>
                                    </p:animEffect>
                                  </p:childTnLst>
                                </p:cTn>
                              </p:par>
                              <p:par>
                                <p:cTn id="37" presetID="2" presetClass="entr" presetSubtype="4" fill="hold" nodeType="withEffect">
                                  <p:stCondLst>
                                    <p:cond delay="0"/>
                                  </p:stCondLst>
                                  <p:childTnLst>
                                    <p:set>
                                      <p:cBhvr>
                                        <p:cTn id="38" dur="1" fill="hold">
                                          <p:stCondLst>
                                            <p:cond delay="0"/>
                                          </p:stCondLst>
                                        </p:cTn>
                                        <p:tgtEl>
                                          <p:spTgt spid="2097170"/>
                                        </p:tgtEl>
                                        <p:attrNameLst>
                                          <p:attrName>style.visibility</p:attrName>
                                        </p:attrNameLst>
                                      </p:cBhvr>
                                      <p:to>
                                        <p:strVal val="visible"/>
                                      </p:to>
                                    </p:set>
                                    <p:anim calcmode="lin" valueType="num">
                                      <p:cBhvr additive="base">
                                        <p:cTn id="39" dur="500" fill="hold"/>
                                        <p:tgtEl>
                                          <p:spTgt spid="2097170"/>
                                        </p:tgtEl>
                                        <p:attrNameLst>
                                          <p:attrName>ppt_x</p:attrName>
                                        </p:attrNameLst>
                                      </p:cBhvr>
                                      <p:tavLst>
                                        <p:tav tm="0">
                                          <p:val>
                                            <p:strVal val="#ppt_x"/>
                                          </p:val>
                                        </p:tav>
                                        <p:tav tm="100000">
                                          <p:val>
                                            <p:strVal val="#ppt_x"/>
                                          </p:val>
                                        </p:tav>
                                      </p:tavLst>
                                    </p:anim>
                                    <p:anim calcmode="lin" valueType="num">
                                      <p:cBhvr additive="base">
                                        <p:cTn id="40" dur="500" fill="hold"/>
                                        <p:tgtEl>
                                          <p:spTgt spid="2097170"/>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2097168"/>
                                        </p:tgtEl>
                                        <p:attrNameLst>
                                          <p:attrName>style.visibility</p:attrName>
                                        </p:attrNameLst>
                                      </p:cBhvr>
                                      <p:to>
                                        <p:strVal val="visible"/>
                                      </p:to>
                                    </p:set>
                                    <p:anim calcmode="lin" valueType="num">
                                      <p:cBhvr additive="base">
                                        <p:cTn id="43" dur="500" fill="hold"/>
                                        <p:tgtEl>
                                          <p:spTgt spid="2097168"/>
                                        </p:tgtEl>
                                        <p:attrNameLst>
                                          <p:attrName>ppt_x</p:attrName>
                                        </p:attrNameLst>
                                      </p:cBhvr>
                                      <p:tavLst>
                                        <p:tav tm="0">
                                          <p:val>
                                            <p:strVal val="#ppt_x"/>
                                          </p:val>
                                        </p:tav>
                                        <p:tav tm="100000">
                                          <p:val>
                                            <p:strVal val="#ppt_x"/>
                                          </p:val>
                                        </p:tav>
                                      </p:tavLst>
                                    </p:anim>
                                    <p:anim calcmode="lin" valueType="num">
                                      <p:cBhvr additive="base">
                                        <p:cTn id="44" dur="500" fill="hold"/>
                                        <p:tgtEl>
                                          <p:spTgt spid="209716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048656"/>
                                        </p:tgtEl>
                                        <p:attrNameLst>
                                          <p:attrName>style.visibility</p:attrName>
                                        </p:attrNameLst>
                                      </p:cBhvr>
                                      <p:to>
                                        <p:strVal val="visible"/>
                                      </p:to>
                                    </p:set>
                                    <p:anim calcmode="lin" valueType="num">
                                      <p:cBhvr additive="base">
                                        <p:cTn id="47" dur="500" fill="hold"/>
                                        <p:tgtEl>
                                          <p:spTgt spid="1048656"/>
                                        </p:tgtEl>
                                        <p:attrNameLst>
                                          <p:attrName>ppt_x</p:attrName>
                                        </p:attrNameLst>
                                      </p:cBhvr>
                                      <p:tavLst>
                                        <p:tav tm="0">
                                          <p:val>
                                            <p:strVal val="#ppt_x"/>
                                          </p:val>
                                        </p:tav>
                                        <p:tav tm="100000">
                                          <p:val>
                                            <p:strVal val="#ppt_x"/>
                                          </p:val>
                                        </p:tav>
                                      </p:tavLst>
                                    </p:anim>
                                    <p:anim calcmode="lin" valueType="num">
                                      <p:cBhvr additive="base">
                                        <p:cTn id="48" dur="500" fill="hold"/>
                                        <p:tgtEl>
                                          <p:spTgt spid="1048656"/>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048657"/>
                                        </p:tgtEl>
                                        <p:attrNameLst>
                                          <p:attrName>style.visibility</p:attrName>
                                        </p:attrNameLst>
                                      </p:cBhvr>
                                      <p:to>
                                        <p:strVal val="visible"/>
                                      </p:to>
                                    </p:set>
                                    <p:anim calcmode="lin" valueType="num">
                                      <p:cBhvr additive="base">
                                        <p:cTn id="51" dur="500" fill="hold"/>
                                        <p:tgtEl>
                                          <p:spTgt spid="1048657"/>
                                        </p:tgtEl>
                                        <p:attrNameLst>
                                          <p:attrName>ppt_x</p:attrName>
                                        </p:attrNameLst>
                                      </p:cBhvr>
                                      <p:tavLst>
                                        <p:tav tm="0">
                                          <p:val>
                                            <p:strVal val="#ppt_x"/>
                                          </p:val>
                                        </p:tav>
                                        <p:tav tm="100000">
                                          <p:val>
                                            <p:strVal val="#ppt_x"/>
                                          </p:val>
                                        </p:tav>
                                      </p:tavLst>
                                    </p:anim>
                                    <p:anim calcmode="lin" valueType="num">
                                      <p:cBhvr additive="base">
                                        <p:cTn id="52" dur="500" fill="hold"/>
                                        <p:tgtEl>
                                          <p:spTgt spid="1048657"/>
                                        </p:tgtEl>
                                        <p:attrNameLst>
                                          <p:attrName>ppt_y</p:attrName>
                                        </p:attrNameLst>
                                      </p:cBhvr>
                                      <p:tavLst>
                                        <p:tav tm="0">
                                          <p:val>
                                            <p:strVal val="1+#ppt_h/2"/>
                                          </p:val>
                                        </p:tav>
                                        <p:tav tm="100000">
                                          <p:val>
                                            <p:strVal val="#ppt_y"/>
                                          </p:val>
                                        </p:tav>
                                      </p:tavLst>
                                    </p:anim>
                                  </p:childTnLst>
                                </p:cTn>
                              </p:par>
                            </p:childTnLst>
                          </p:cTn>
                        </p:par>
                        <p:par>
                          <p:cTn id="53" fill="hold">
                            <p:stCondLst>
                              <p:cond delay="2000"/>
                            </p:stCondLst>
                            <p:childTnLst>
                              <p:par>
                                <p:cTn id="54" presetID="42" presetClass="entr" presetSubtype="0" fill="hold" grpId="0" nodeType="afterEffect">
                                  <p:stCondLst>
                                    <p:cond delay="0"/>
                                  </p:stCondLst>
                                  <p:childTnLst>
                                    <p:set>
                                      <p:cBhvr>
                                        <p:cTn id="55" dur="1" fill="hold">
                                          <p:stCondLst>
                                            <p:cond delay="0"/>
                                          </p:stCondLst>
                                        </p:cTn>
                                        <p:tgtEl>
                                          <p:spTgt spid="1048662"/>
                                        </p:tgtEl>
                                        <p:attrNameLst>
                                          <p:attrName>style.visibility</p:attrName>
                                        </p:attrNameLst>
                                      </p:cBhvr>
                                      <p:to>
                                        <p:strVal val="visible"/>
                                      </p:to>
                                    </p:set>
                                    <p:animEffect transition="in" filter="fade">
                                      <p:cBhvr>
                                        <p:cTn id="56" dur="500"/>
                                        <p:tgtEl>
                                          <p:spTgt spid="1048662"/>
                                        </p:tgtEl>
                                      </p:cBhvr>
                                    </p:animEffect>
                                    <p:anim calcmode="lin" valueType="num">
                                      <p:cBhvr>
                                        <p:cTn id="57" dur="500" fill="hold"/>
                                        <p:tgtEl>
                                          <p:spTgt spid="1048662"/>
                                        </p:tgtEl>
                                        <p:attrNameLst>
                                          <p:attrName>ppt_x</p:attrName>
                                        </p:attrNameLst>
                                      </p:cBhvr>
                                      <p:tavLst>
                                        <p:tav tm="0">
                                          <p:val>
                                            <p:strVal val="#ppt_x"/>
                                          </p:val>
                                        </p:tav>
                                        <p:tav tm="100000">
                                          <p:val>
                                            <p:strVal val="#ppt_x"/>
                                          </p:val>
                                        </p:tav>
                                      </p:tavLst>
                                    </p:anim>
                                    <p:anim calcmode="lin" valueType="num">
                                      <p:cBhvr>
                                        <p:cTn id="58" dur="500" fill="hold"/>
                                        <p:tgtEl>
                                          <p:spTgt spid="1048662"/>
                                        </p:tgtEl>
                                        <p:attrNameLst>
                                          <p:attrName>ppt_y</p:attrName>
                                        </p:attrNameLst>
                                      </p:cBhvr>
                                      <p:tavLst>
                                        <p:tav tm="0">
                                          <p:val>
                                            <p:strVal val="#ppt_y+.1"/>
                                          </p:val>
                                        </p:tav>
                                        <p:tav tm="100000">
                                          <p:val>
                                            <p:strVal val="#ppt_y"/>
                                          </p:val>
                                        </p:tav>
                                      </p:tavLst>
                                    </p:anim>
                                  </p:childTnLst>
                                </p:cTn>
                              </p:par>
                              <p:par>
                                <p:cTn id="59" presetID="10" presetClass="entr" presetSubtype="0" fill="hold" grpId="0" nodeType="withEffect">
                                  <p:stCondLst>
                                    <p:cond delay="0"/>
                                  </p:stCondLst>
                                  <p:childTnLst>
                                    <p:set>
                                      <p:cBhvr>
                                        <p:cTn id="60" dur="1" fill="hold">
                                          <p:stCondLst>
                                            <p:cond delay="0"/>
                                          </p:stCondLst>
                                        </p:cTn>
                                        <p:tgtEl>
                                          <p:spTgt spid="1048653"/>
                                        </p:tgtEl>
                                        <p:attrNameLst>
                                          <p:attrName>style.visibility</p:attrName>
                                        </p:attrNameLst>
                                      </p:cBhvr>
                                      <p:to>
                                        <p:strVal val="visible"/>
                                      </p:to>
                                    </p:set>
                                    <p:animEffect transition="in" filter="fade">
                                      <p:cBhvr>
                                        <p:cTn id="61" dur="500"/>
                                        <p:tgtEl>
                                          <p:spTgt spid="1048653"/>
                                        </p:tgtEl>
                                      </p:cBhvr>
                                    </p:animEffect>
                                  </p:childTnLst>
                                </p:cTn>
                              </p:par>
                              <p:par>
                                <p:cTn id="62" presetID="6" presetClass="entr" presetSubtype="16" fill="hold" nodeType="withEffect">
                                  <p:stCondLst>
                                    <p:cond delay="0"/>
                                  </p:stCondLst>
                                  <p:childTnLst>
                                    <p:set>
                                      <p:cBhvr>
                                        <p:cTn id="63" dur="1" fill="hold">
                                          <p:stCondLst>
                                            <p:cond delay="0"/>
                                          </p:stCondLst>
                                        </p:cTn>
                                        <p:tgtEl>
                                          <p:spTgt spid="2097169"/>
                                        </p:tgtEl>
                                        <p:attrNameLst>
                                          <p:attrName>style.visibility</p:attrName>
                                        </p:attrNameLst>
                                      </p:cBhvr>
                                      <p:to>
                                        <p:strVal val="visible"/>
                                      </p:to>
                                    </p:set>
                                    <p:animEffect transition="in" filter="circle(in)">
                                      <p:cBhvr>
                                        <p:cTn id="64" dur="500"/>
                                        <p:tgtEl>
                                          <p:spTgt spid="2097169"/>
                                        </p:tgtEl>
                                      </p:cBhvr>
                                    </p:animEffect>
                                  </p:childTnLst>
                                </p:cTn>
                              </p:par>
                              <p:par>
                                <p:cTn id="65" presetID="6" presetClass="entr" presetSubtype="16" fill="hold" grpId="0" nodeType="withEffect">
                                  <p:stCondLst>
                                    <p:cond delay="0"/>
                                  </p:stCondLst>
                                  <p:childTnLst>
                                    <p:set>
                                      <p:cBhvr>
                                        <p:cTn id="66" dur="1" fill="hold">
                                          <p:stCondLst>
                                            <p:cond delay="0"/>
                                          </p:stCondLst>
                                        </p:cTn>
                                        <p:tgtEl>
                                          <p:spTgt spid="1048658"/>
                                        </p:tgtEl>
                                        <p:attrNameLst>
                                          <p:attrName>style.visibility</p:attrName>
                                        </p:attrNameLst>
                                      </p:cBhvr>
                                      <p:to>
                                        <p:strVal val="visible"/>
                                      </p:to>
                                    </p:set>
                                    <p:animEffect transition="in" filter="circle(in)">
                                      <p:cBhvr>
                                        <p:cTn id="67" dur="500"/>
                                        <p:tgtEl>
                                          <p:spTgt spid="1048658"/>
                                        </p:tgtEl>
                                      </p:cBhvr>
                                    </p:animEffect>
                                  </p:childTnLst>
                                </p:cTn>
                              </p:par>
                            </p:childTnLst>
                          </p:cTn>
                        </p:par>
                        <p:par>
                          <p:cTn id="68" fill="hold">
                            <p:stCondLst>
                              <p:cond delay="2500"/>
                            </p:stCondLst>
                            <p:childTnLst>
                              <p:par>
                                <p:cTn id="69" presetID="42" presetClass="entr" presetSubtype="0" fill="hold" grpId="0" nodeType="afterEffect">
                                  <p:stCondLst>
                                    <p:cond delay="0"/>
                                  </p:stCondLst>
                                  <p:childTnLst>
                                    <p:set>
                                      <p:cBhvr>
                                        <p:cTn id="70" dur="1" fill="hold">
                                          <p:stCondLst>
                                            <p:cond delay="0"/>
                                          </p:stCondLst>
                                        </p:cTn>
                                        <p:tgtEl>
                                          <p:spTgt spid="1048663"/>
                                        </p:tgtEl>
                                        <p:attrNameLst>
                                          <p:attrName>style.visibility</p:attrName>
                                        </p:attrNameLst>
                                      </p:cBhvr>
                                      <p:to>
                                        <p:strVal val="visible"/>
                                      </p:to>
                                    </p:set>
                                    <p:animEffect transition="in" filter="fade">
                                      <p:cBhvr>
                                        <p:cTn id="71" dur="500"/>
                                        <p:tgtEl>
                                          <p:spTgt spid="1048663"/>
                                        </p:tgtEl>
                                      </p:cBhvr>
                                    </p:animEffect>
                                    <p:anim calcmode="lin" valueType="num">
                                      <p:cBhvr>
                                        <p:cTn id="72" dur="500" fill="hold"/>
                                        <p:tgtEl>
                                          <p:spTgt spid="1048663"/>
                                        </p:tgtEl>
                                        <p:attrNameLst>
                                          <p:attrName>ppt_x</p:attrName>
                                        </p:attrNameLst>
                                      </p:cBhvr>
                                      <p:tavLst>
                                        <p:tav tm="0">
                                          <p:val>
                                            <p:strVal val="#ppt_x"/>
                                          </p:val>
                                        </p:tav>
                                        <p:tav tm="100000">
                                          <p:val>
                                            <p:strVal val="#ppt_x"/>
                                          </p:val>
                                        </p:tav>
                                      </p:tavLst>
                                    </p:anim>
                                    <p:anim calcmode="lin" valueType="num">
                                      <p:cBhvr>
                                        <p:cTn id="73" dur="500" fill="hold"/>
                                        <p:tgtEl>
                                          <p:spTgt spid="1048663"/>
                                        </p:tgtEl>
                                        <p:attrNameLst>
                                          <p:attrName>ppt_y</p:attrName>
                                        </p:attrNameLst>
                                      </p:cBhvr>
                                      <p:tavLst>
                                        <p:tav tm="0">
                                          <p:val>
                                            <p:strVal val="#ppt_y+.1"/>
                                          </p:val>
                                        </p:tav>
                                        <p:tav tm="100000">
                                          <p:val>
                                            <p:strVal val="#ppt_y"/>
                                          </p:val>
                                        </p:tav>
                                      </p:tavLst>
                                    </p:anim>
                                  </p:childTnLst>
                                </p:cTn>
                              </p:par>
                            </p:childTnLst>
                          </p:cTn>
                        </p:par>
                        <p:par>
                          <p:cTn id="74" fill="hold">
                            <p:stCondLst>
                              <p:cond delay="3000"/>
                            </p:stCondLst>
                            <p:childTnLst>
                              <p:par>
                                <p:cTn id="75" presetID="10" presetClass="entr" presetSubtype="0" fill="hold" grpId="0" nodeType="afterEffect">
                                  <p:stCondLst>
                                    <p:cond delay="0"/>
                                  </p:stCondLst>
                                  <p:childTnLst>
                                    <p:set>
                                      <p:cBhvr>
                                        <p:cTn id="76" dur="1" fill="hold">
                                          <p:stCondLst>
                                            <p:cond delay="0"/>
                                          </p:stCondLst>
                                        </p:cTn>
                                        <p:tgtEl>
                                          <p:spTgt spid="1048659"/>
                                        </p:tgtEl>
                                        <p:attrNameLst>
                                          <p:attrName>style.visibility</p:attrName>
                                        </p:attrNameLst>
                                      </p:cBhvr>
                                      <p:to>
                                        <p:strVal val="visible"/>
                                      </p:to>
                                    </p:set>
                                    <p:animEffect transition="in" filter="fade">
                                      <p:cBhvr>
                                        <p:cTn id="77" dur="500"/>
                                        <p:tgtEl>
                                          <p:spTgt spid="1048659"/>
                                        </p:tgtEl>
                                      </p:cBhvr>
                                    </p:animEffect>
                                  </p:childTnLst>
                                </p:cTn>
                              </p:par>
                            </p:childTnLst>
                          </p:cTn>
                        </p:par>
                        <p:par>
                          <p:cTn id="78" fill="hold">
                            <p:stCondLst>
                              <p:cond delay="3500"/>
                            </p:stCondLst>
                            <p:childTnLst>
                              <p:par>
                                <p:cTn id="79" presetID="6" presetClass="entr" presetSubtype="16" fill="hold" grpId="0" nodeType="afterEffect">
                                  <p:stCondLst>
                                    <p:cond delay="0"/>
                                  </p:stCondLst>
                                  <p:childTnLst>
                                    <p:set>
                                      <p:cBhvr>
                                        <p:cTn id="80" dur="1" fill="hold">
                                          <p:stCondLst>
                                            <p:cond delay="0"/>
                                          </p:stCondLst>
                                        </p:cTn>
                                        <p:tgtEl>
                                          <p:spTgt spid="1048660"/>
                                        </p:tgtEl>
                                        <p:attrNameLst>
                                          <p:attrName>style.visibility</p:attrName>
                                        </p:attrNameLst>
                                      </p:cBhvr>
                                      <p:to>
                                        <p:strVal val="visible"/>
                                      </p:to>
                                    </p:set>
                                    <p:animEffect transition="in" filter="circle(in)">
                                      <p:cBhvr>
                                        <p:cTn id="81" dur="500"/>
                                        <p:tgtEl>
                                          <p:spTgt spid="1048660"/>
                                        </p:tgtEl>
                                      </p:cBhvr>
                                    </p:animEffect>
                                  </p:childTnLst>
                                </p:cTn>
                              </p:par>
                            </p:childTnLst>
                          </p:cTn>
                        </p:par>
                        <p:par>
                          <p:cTn id="82" fill="hold">
                            <p:stCondLst>
                              <p:cond delay="4000"/>
                            </p:stCondLst>
                            <p:childTnLst>
                              <p:par>
                                <p:cTn id="83" presetID="10" presetClass="entr" presetSubtype="0" fill="hold" nodeType="afterEffect">
                                  <p:stCondLst>
                                    <p:cond delay="0"/>
                                  </p:stCondLst>
                                  <p:childTnLst>
                                    <p:set>
                                      <p:cBhvr>
                                        <p:cTn id="84" dur="1" fill="hold">
                                          <p:stCondLst>
                                            <p:cond delay="0"/>
                                          </p:stCondLst>
                                        </p:cTn>
                                        <p:tgtEl>
                                          <p:spTgt spid="64"/>
                                        </p:tgtEl>
                                        <p:attrNameLst>
                                          <p:attrName>style.visibility</p:attrName>
                                        </p:attrNameLst>
                                      </p:cBhvr>
                                      <p:to>
                                        <p:strVal val="visible"/>
                                      </p:to>
                                    </p:set>
                                    <p:animEffect transition="in" filter="fade">
                                      <p:cBhvr>
                                        <p:cTn id="85" dur="500"/>
                                        <p:tgtEl>
                                          <p:spTgt spid="64"/>
                                        </p:tgtEl>
                                      </p:cBhvr>
                                    </p:animEffect>
                                  </p:childTnLst>
                                </p:cTn>
                              </p:par>
                            </p:childTnLst>
                          </p:cTn>
                        </p:par>
                        <p:par>
                          <p:cTn id="86" fill="hold">
                            <p:stCondLst>
                              <p:cond delay="4500"/>
                            </p:stCondLst>
                            <p:childTnLst>
                              <p:par>
                                <p:cTn id="87" presetID="42" presetClass="entr" presetSubtype="0" fill="hold" grpId="0" nodeType="afterEffect">
                                  <p:stCondLst>
                                    <p:cond delay="0"/>
                                  </p:stCondLst>
                                  <p:childTnLst>
                                    <p:set>
                                      <p:cBhvr>
                                        <p:cTn id="88" dur="1" fill="hold">
                                          <p:stCondLst>
                                            <p:cond delay="0"/>
                                          </p:stCondLst>
                                        </p:cTn>
                                        <p:tgtEl>
                                          <p:spTgt spid="1048667"/>
                                        </p:tgtEl>
                                        <p:attrNameLst>
                                          <p:attrName>style.visibility</p:attrName>
                                        </p:attrNameLst>
                                      </p:cBhvr>
                                      <p:to>
                                        <p:strVal val="visible"/>
                                      </p:to>
                                    </p:set>
                                    <p:animEffect transition="in" filter="fade">
                                      <p:cBhvr>
                                        <p:cTn id="89" dur="500"/>
                                        <p:tgtEl>
                                          <p:spTgt spid="1048667"/>
                                        </p:tgtEl>
                                      </p:cBhvr>
                                    </p:animEffect>
                                    <p:anim calcmode="lin" valueType="num">
                                      <p:cBhvr>
                                        <p:cTn id="90" dur="500" fill="hold"/>
                                        <p:tgtEl>
                                          <p:spTgt spid="1048667"/>
                                        </p:tgtEl>
                                        <p:attrNameLst>
                                          <p:attrName>ppt_x</p:attrName>
                                        </p:attrNameLst>
                                      </p:cBhvr>
                                      <p:tavLst>
                                        <p:tav tm="0">
                                          <p:val>
                                            <p:strVal val="#ppt_x"/>
                                          </p:val>
                                        </p:tav>
                                        <p:tav tm="100000">
                                          <p:val>
                                            <p:strVal val="#ppt_x"/>
                                          </p:val>
                                        </p:tav>
                                      </p:tavLst>
                                    </p:anim>
                                    <p:anim calcmode="lin" valueType="num">
                                      <p:cBhvr>
                                        <p:cTn id="91" dur="500" fill="hold"/>
                                        <p:tgtEl>
                                          <p:spTgt spid="1048667"/>
                                        </p:tgtEl>
                                        <p:attrNameLst>
                                          <p:attrName>ppt_y</p:attrName>
                                        </p:attrNameLst>
                                      </p:cBhvr>
                                      <p:tavLst>
                                        <p:tav tm="0">
                                          <p:val>
                                            <p:strVal val="#ppt_y+.1"/>
                                          </p:val>
                                        </p:tav>
                                        <p:tav tm="100000">
                                          <p:val>
                                            <p:strVal val="#ppt_y"/>
                                          </p:val>
                                        </p:tav>
                                      </p:tavLst>
                                    </p:anim>
                                  </p:childTnLst>
                                </p:cTn>
                              </p:par>
                            </p:childTnLst>
                          </p:cTn>
                        </p:par>
                        <p:par>
                          <p:cTn id="92" fill="hold">
                            <p:stCondLst>
                              <p:cond delay="5000"/>
                            </p:stCondLst>
                            <p:childTnLst>
                              <p:par>
                                <p:cTn id="93" presetID="10" presetClass="entr" presetSubtype="0" fill="hold" grpId="0" nodeType="afterEffect">
                                  <p:stCondLst>
                                    <p:cond delay="0"/>
                                  </p:stCondLst>
                                  <p:childTnLst>
                                    <p:set>
                                      <p:cBhvr>
                                        <p:cTn id="94" dur="1" fill="hold">
                                          <p:stCondLst>
                                            <p:cond delay="0"/>
                                          </p:stCondLst>
                                        </p:cTn>
                                        <p:tgtEl>
                                          <p:spTgt spid="1048651"/>
                                        </p:tgtEl>
                                        <p:attrNameLst>
                                          <p:attrName>style.visibility</p:attrName>
                                        </p:attrNameLst>
                                      </p:cBhvr>
                                      <p:to>
                                        <p:strVal val="visible"/>
                                      </p:to>
                                    </p:set>
                                    <p:animEffect transition="in" filter="fade">
                                      <p:cBhvr>
                                        <p:cTn id="95" dur="500"/>
                                        <p:tgtEl>
                                          <p:spTgt spid="1048651"/>
                                        </p:tgtEl>
                                      </p:cBhvr>
                                    </p:animEffect>
                                  </p:childTnLst>
                                </p:cTn>
                              </p:par>
                            </p:childTnLst>
                          </p:cTn>
                        </p:par>
                        <p:par>
                          <p:cTn id="96" fill="hold">
                            <p:stCondLst>
                              <p:cond delay="5500"/>
                            </p:stCondLst>
                            <p:childTnLst>
                              <p:par>
                                <p:cTn id="97" presetID="2" presetClass="entr" presetSubtype="4" fill="hold" nodeType="afterEffect">
                                  <p:stCondLst>
                                    <p:cond delay="0"/>
                                  </p:stCondLst>
                                  <p:childTnLst>
                                    <p:set>
                                      <p:cBhvr>
                                        <p:cTn id="98" dur="1" fill="hold">
                                          <p:stCondLst>
                                            <p:cond delay="0"/>
                                          </p:stCondLst>
                                        </p:cTn>
                                        <p:tgtEl>
                                          <p:spTgt spid="63"/>
                                        </p:tgtEl>
                                        <p:attrNameLst>
                                          <p:attrName>style.visibility</p:attrName>
                                        </p:attrNameLst>
                                      </p:cBhvr>
                                      <p:to>
                                        <p:strVal val="visible"/>
                                      </p:to>
                                    </p:set>
                                    <p:anim calcmode="lin" valueType="num">
                                      <p:cBhvr additive="base">
                                        <p:cTn id="99" dur="500" fill="hold"/>
                                        <p:tgtEl>
                                          <p:spTgt spid="63"/>
                                        </p:tgtEl>
                                        <p:attrNameLst>
                                          <p:attrName>ppt_x</p:attrName>
                                        </p:attrNameLst>
                                      </p:cBhvr>
                                      <p:tavLst>
                                        <p:tav tm="0">
                                          <p:val>
                                            <p:strVal val="#ppt_x"/>
                                          </p:val>
                                        </p:tav>
                                        <p:tav tm="100000">
                                          <p:val>
                                            <p:strVal val="#ppt_x"/>
                                          </p:val>
                                        </p:tav>
                                      </p:tavLst>
                                    </p:anim>
                                    <p:anim calcmode="lin" valueType="num">
                                      <p:cBhvr additive="base">
                                        <p:cTn id="100" dur="500" fill="hold"/>
                                        <p:tgtEl>
                                          <p:spTgt spid="63"/>
                                        </p:tgtEl>
                                        <p:attrNameLst>
                                          <p:attrName>ppt_y</p:attrName>
                                        </p:attrNameLst>
                                      </p:cBhvr>
                                      <p:tavLst>
                                        <p:tav tm="0">
                                          <p:val>
                                            <p:strVal val="1+#ppt_h/2"/>
                                          </p:val>
                                        </p:tav>
                                        <p:tav tm="100000">
                                          <p:val>
                                            <p:strVal val="#ppt_y"/>
                                          </p:val>
                                        </p:tav>
                                      </p:tavLst>
                                    </p:anim>
                                  </p:childTnLst>
                                </p:cTn>
                              </p:par>
                              <p:par>
                                <p:cTn id="101" presetID="2" presetClass="entr" presetSubtype="4" fill="hold" nodeType="withEffect">
                                  <p:stCondLst>
                                    <p:cond delay="0"/>
                                  </p:stCondLst>
                                  <p:childTnLst>
                                    <p:set>
                                      <p:cBhvr>
                                        <p:cTn id="102" dur="1" fill="hold">
                                          <p:stCondLst>
                                            <p:cond delay="0"/>
                                          </p:stCondLst>
                                        </p:cTn>
                                        <p:tgtEl>
                                          <p:spTgt spid="2097173"/>
                                        </p:tgtEl>
                                        <p:attrNameLst>
                                          <p:attrName>style.visibility</p:attrName>
                                        </p:attrNameLst>
                                      </p:cBhvr>
                                      <p:to>
                                        <p:strVal val="visible"/>
                                      </p:to>
                                    </p:set>
                                    <p:anim calcmode="lin" valueType="num">
                                      <p:cBhvr additive="base">
                                        <p:cTn id="103" dur="500" fill="hold"/>
                                        <p:tgtEl>
                                          <p:spTgt spid="2097173"/>
                                        </p:tgtEl>
                                        <p:attrNameLst>
                                          <p:attrName>ppt_x</p:attrName>
                                        </p:attrNameLst>
                                      </p:cBhvr>
                                      <p:tavLst>
                                        <p:tav tm="0">
                                          <p:val>
                                            <p:strVal val="#ppt_x"/>
                                          </p:val>
                                        </p:tav>
                                        <p:tav tm="100000">
                                          <p:val>
                                            <p:strVal val="#ppt_x"/>
                                          </p:val>
                                        </p:tav>
                                      </p:tavLst>
                                    </p:anim>
                                    <p:anim calcmode="lin" valueType="num">
                                      <p:cBhvr additive="base">
                                        <p:cTn id="104" dur="500" fill="hold"/>
                                        <p:tgtEl>
                                          <p:spTgt spid="2097173"/>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1048661"/>
                                        </p:tgtEl>
                                        <p:attrNameLst>
                                          <p:attrName>style.visibility</p:attrName>
                                        </p:attrNameLst>
                                      </p:cBhvr>
                                      <p:to>
                                        <p:strVal val="visible"/>
                                      </p:to>
                                    </p:set>
                                    <p:anim calcmode="lin" valueType="num">
                                      <p:cBhvr additive="base">
                                        <p:cTn id="107" dur="500" fill="hold"/>
                                        <p:tgtEl>
                                          <p:spTgt spid="1048661"/>
                                        </p:tgtEl>
                                        <p:attrNameLst>
                                          <p:attrName>ppt_x</p:attrName>
                                        </p:attrNameLst>
                                      </p:cBhvr>
                                      <p:tavLst>
                                        <p:tav tm="0">
                                          <p:val>
                                            <p:strVal val="#ppt_x"/>
                                          </p:val>
                                        </p:tav>
                                        <p:tav tm="100000">
                                          <p:val>
                                            <p:strVal val="#ppt_x"/>
                                          </p:val>
                                        </p:tav>
                                      </p:tavLst>
                                    </p:anim>
                                    <p:anim calcmode="lin" valueType="num">
                                      <p:cBhvr additive="base">
                                        <p:cTn id="108" dur="500" fill="hold"/>
                                        <p:tgtEl>
                                          <p:spTgt spid="1048661"/>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3145729"/>
                                        </p:tgtEl>
                                        <p:attrNameLst>
                                          <p:attrName>style.visibility</p:attrName>
                                        </p:attrNameLst>
                                      </p:cBhvr>
                                      <p:to>
                                        <p:strVal val="visible"/>
                                      </p:to>
                                    </p:set>
                                    <p:anim calcmode="lin" valueType="num">
                                      <p:cBhvr additive="base">
                                        <p:cTn id="111" dur="500" fill="hold"/>
                                        <p:tgtEl>
                                          <p:spTgt spid="3145729"/>
                                        </p:tgtEl>
                                        <p:attrNameLst>
                                          <p:attrName>ppt_x</p:attrName>
                                        </p:attrNameLst>
                                      </p:cBhvr>
                                      <p:tavLst>
                                        <p:tav tm="0">
                                          <p:val>
                                            <p:strVal val="#ppt_x"/>
                                          </p:val>
                                        </p:tav>
                                        <p:tav tm="100000">
                                          <p:val>
                                            <p:strVal val="#ppt_x"/>
                                          </p:val>
                                        </p:tav>
                                      </p:tavLst>
                                    </p:anim>
                                    <p:anim calcmode="lin" valueType="num">
                                      <p:cBhvr additive="base">
                                        <p:cTn id="112" dur="500" fill="hold"/>
                                        <p:tgtEl>
                                          <p:spTgt spid="3145729"/>
                                        </p:tgtEl>
                                        <p:attrNameLst>
                                          <p:attrName>ppt_y</p:attrName>
                                        </p:attrNameLst>
                                      </p:cBhvr>
                                      <p:tavLst>
                                        <p:tav tm="0">
                                          <p:val>
                                            <p:strVal val="1+#ppt_h/2"/>
                                          </p:val>
                                        </p:tav>
                                        <p:tav tm="100000">
                                          <p:val>
                                            <p:strVal val="#ppt_y"/>
                                          </p:val>
                                        </p:tav>
                                      </p:tavLst>
                                    </p:anim>
                                  </p:childTnLst>
                                </p:cTn>
                              </p:par>
                            </p:childTnLst>
                          </p:cTn>
                        </p:par>
                        <p:par>
                          <p:cTn id="113" fill="hold">
                            <p:stCondLst>
                              <p:cond delay="6000"/>
                            </p:stCondLst>
                            <p:childTnLst>
                              <p:par>
                                <p:cTn id="114" presetID="42" presetClass="entr" presetSubtype="0" fill="hold" grpId="0" nodeType="afterEffect">
                                  <p:stCondLst>
                                    <p:cond delay="0"/>
                                  </p:stCondLst>
                                  <p:childTnLst>
                                    <p:set>
                                      <p:cBhvr>
                                        <p:cTn id="115" dur="1" fill="hold">
                                          <p:stCondLst>
                                            <p:cond delay="0"/>
                                          </p:stCondLst>
                                        </p:cTn>
                                        <p:tgtEl>
                                          <p:spTgt spid="1048668"/>
                                        </p:tgtEl>
                                        <p:attrNameLst>
                                          <p:attrName>style.visibility</p:attrName>
                                        </p:attrNameLst>
                                      </p:cBhvr>
                                      <p:to>
                                        <p:strVal val="visible"/>
                                      </p:to>
                                    </p:set>
                                    <p:animEffect transition="in" filter="fade">
                                      <p:cBhvr>
                                        <p:cTn id="116" dur="500"/>
                                        <p:tgtEl>
                                          <p:spTgt spid="1048668"/>
                                        </p:tgtEl>
                                      </p:cBhvr>
                                    </p:animEffect>
                                    <p:anim calcmode="lin" valueType="num">
                                      <p:cBhvr>
                                        <p:cTn id="117" dur="500" fill="hold"/>
                                        <p:tgtEl>
                                          <p:spTgt spid="1048668"/>
                                        </p:tgtEl>
                                        <p:attrNameLst>
                                          <p:attrName>ppt_x</p:attrName>
                                        </p:attrNameLst>
                                      </p:cBhvr>
                                      <p:tavLst>
                                        <p:tav tm="0">
                                          <p:val>
                                            <p:strVal val="#ppt_x"/>
                                          </p:val>
                                        </p:tav>
                                        <p:tav tm="100000">
                                          <p:val>
                                            <p:strVal val="#ppt_x"/>
                                          </p:val>
                                        </p:tav>
                                      </p:tavLst>
                                    </p:anim>
                                    <p:anim calcmode="lin" valueType="num">
                                      <p:cBhvr>
                                        <p:cTn id="118" dur="500" fill="hold"/>
                                        <p:tgtEl>
                                          <p:spTgt spid="104866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50" grpId="0" bldLvl="0" animBg="1"/>
      <p:bldP spid="1048651" grpId="0" bldLvl="0" animBg="1"/>
      <p:bldP spid="1048652" grpId="0" bldLvl="0" animBg="1"/>
      <p:bldP spid="1048653" grpId="0" bldLvl="0" animBg="1"/>
      <p:bldP spid="1048654" grpId="0"/>
      <p:bldP spid="1048655" grpId="0"/>
      <p:bldP spid="1048656" grpId="0"/>
      <p:bldP spid="1048657" grpId="0"/>
      <p:bldP spid="1048658" grpId="0"/>
      <p:bldP spid="1048659" grpId="0"/>
      <p:bldP spid="1048660" grpId="0" bldLvl="0" animBg="1"/>
      <p:bldP spid="1048661" grpId="0"/>
      <p:bldP spid="1048662" grpId="0" bldLvl="0" animBg="1"/>
      <p:bldP spid="1048663" grpId="0" bldLvl="0" animBg="1"/>
      <p:bldP spid="1048667" grpId="0" bldLvl="0" animBg="1"/>
      <p:bldP spid="1048668" grpId="0" bldLvl="0" animBg="1"/>
      <p:bldP spid="1048670" grpId="0"/>
      <p:bldP spid="1048671" grpId="0" bldLvl="0" animBg="1"/>
      <p:bldP spid="1048672"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图片 90"/>
          <p:cNvPicPr/>
          <p:nvPr/>
        </p:nvPicPr>
        <p:blipFill rotWithShape="1">
          <a:blip r:embed="rId3">
            <a:extLst>
              <a:ext uri="{28A0092B-C50C-407E-A947-70E740481C1C}">
                <a14:useLocalDpi xmlns:a14="http://schemas.microsoft.com/office/drawing/2010/main" val="0"/>
              </a:ext>
            </a:extLst>
          </a:blip>
          <a:srcRect t="4644"/>
          <a:stretch>
            <a:fillRect/>
          </a:stretch>
        </p:blipFill>
        <p:spPr bwMode="auto">
          <a:xfrm>
            <a:off x="8616280" y="4005064"/>
            <a:ext cx="2934459" cy="2082365"/>
          </a:xfrm>
          <a:prstGeom prst="rect">
            <a:avLst/>
          </a:prstGeom>
          <a:noFill/>
          <a:ln>
            <a:noFill/>
          </a:ln>
        </p:spPr>
      </p:pic>
      <p:sp>
        <p:nvSpPr>
          <p:cNvPr id="7" name="矩形: 圆顶角 6"/>
          <p:cNvSpPr/>
          <p:nvPr/>
        </p:nvSpPr>
        <p:spPr>
          <a:xfrm rot="5400000">
            <a:off x="1608653" y="2108176"/>
            <a:ext cx="2541476" cy="5758783"/>
          </a:xfrm>
          <a:prstGeom prst="round2SameRect">
            <a:avLst>
              <a:gd name="adj1" fmla="val 0"/>
              <a:gd name="adj2" fmla="val 0"/>
            </a:avLst>
          </a:prstGeom>
          <a:gradFill flip="none" rotWithShape="1">
            <a:gsLst>
              <a:gs pos="23000">
                <a:srgbClr val="F2FCFF"/>
              </a:gs>
              <a:gs pos="100000">
                <a:srgbClr val="FFFFFF">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矩形: 圆顶角 7"/>
          <p:cNvSpPr/>
          <p:nvPr/>
        </p:nvSpPr>
        <p:spPr>
          <a:xfrm rot="16200000">
            <a:off x="7704655" y="1890993"/>
            <a:ext cx="2541474" cy="6433217"/>
          </a:xfrm>
          <a:prstGeom prst="round2SameRect">
            <a:avLst>
              <a:gd name="adj1" fmla="val 0"/>
              <a:gd name="adj2" fmla="val 0"/>
            </a:avLst>
          </a:prstGeom>
          <a:gradFill flip="none" rotWithShape="1">
            <a:gsLst>
              <a:gs pos="19000">
                <a:srgbClr val="F2FCFF"/>
              </a:gs>
              <a:gs pos="100000">
                <a:srgbClr val="FFFFFF">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grpSp>
        <p:nvGrpSpPr>
          <p:cNvPr id="8196" name="组合 1"/>
          <p:cNvGrpSpPr/>
          <p:nvPr/>
        </p:nvGrpSpPr>
        <p:grpSpPr bwMode="auto">
          <a:xfrm>
            <a:off x="268288" y="103188"/>
            <a:ext cx="4747591" cy="601662"/>
            <a:chOff x="267858" y="102478"/>
            <a:chExt cx="3025443" cy="602574"/>
          </a:xfrm>
        </p:grpSpPr>
        <p:sp>
          <p:nvSpPr>
            <p:cNvPr id="3" name="矩形 65"/>
            <p:cNvSpPr>
              <a:spLocks noChangeArrowheads="1"/>
            </p:cNvSpPr>
            <p:nvPr/>
          </p:nvSpPr>
          <p:spPr bwMode="auto">
            <a:xfrm>
              <a:off x="267858" y="102478"/>
              <a:ext cx="3025443" cy="584450"/>
            </a:xfrm>
            <a:prstGeom prst="rect">
              <a:avLst/>
            </a:prstGeom>
            <a:no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685800" eaLnBrk="1" fontAlgn="auto" hangingPunct="1">
                <a:spcBef>
                  <a:spcPct val="0"/>
                </a:spcBef>
                <a:spcAft>
                  <a:spcPts val="0"/>
                </a:spcAft>
                <a:buFont typeface="Arial" panose="020B0604020202020204" pitchFamily="34" charset="0"/>
                <a:buNone/>
                <a:defRPr/>
              </a:pPr>
              <a:r>
                <a:rPr lang="en-US" altLang="zh-CN" b="1" spc="300" dirty="0">
                  <a:ln w="6350">
                    <a:noFill/>
                  </a:ln>
                  <a:solidFill>
                    <a:srgbClr val="1B69B4"/>
                  </a:solidFill>
                  <a:latin typeface="微软雅黑" panose="020B0503020204020204" pitchFamily="34" charset="-122"/>
                  <a:ea typeface="微软雅黑" panose="020B0503020204020204" pitchFamily="34" charset="-122"/>
                </a:rPr>
                <a:t>05</a:t>
              </a:r>
              <a:r>
                <a:rPr lang="zh-CN" altLang="en-US" b="1" spc="300" dirty="0">
                  <a:ln w="6350">
                    <a:noFill/>
                  </a:ln>
                  <a:solidFill>
                    <a:srgbClr val="1B69B4"/>
                  </a:solidFill>
                  <a:latin typeface="微软雅黑" panose="020B0503020204020204" pitchFamily="34" charset="-122"/>
                  <a:ea typeface="微软雅黑" panose="020B0503020204020204" pitchFamily="34" charset="-122"/>
                </a:rPr>
                <a:t>技术原理</a:t>
              </a:r>
            </a:p>
          </p:txBody>
        </p:sp>
        <p:sp>
          <p:nvSpPr>
            <p:cNvPr id="4" name="矩形 3"/>
            <p:cNvSpPr/>
            <p:nvPr/>
          </p:nvSpPr>
          <p:spPr>
            <a:xfrm>
              <a:off x="333094" y="659333"/>
              <a:ext cx="2653687" cy="45719"/>
            </a:xfrm>
            <a:prstGeom prst="rect">
              <a:avLst/>
            </a:prstGeom>
            <a:gradFill flip="none" rotWithShape="1">
              <a:gsLst>
                <a:gs pos="100000">
                  <a:schemeClr val="bg1">
                    <a:alpha val="0"/>
                  </a:schemeClr>
                </a:gs>
                <a:gs pos="4000">
                  <a:srgbClr val="1B69B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1B69B4"/>
                </a:solidFill>
              </a:endParaRPr>
            </a:p>
          </p:txBody>
        </p:sp>
      </p:grpSp>
      <p:sp>
        <p:nvSpPr>
          <p:cNvPr id="5" name="矩形: 圆顶角 4"/>
          <p:cNvSpPr/>
          <p:nvPr/>
        </p:nvSpPr>
        <p:spPr>
          <a:xfrm rot="5400000">
            <a:off x="1417899" y="-624052"/>
            <a:ext cx="2922983" cy="5758784"/>
          </a:xfrm>
          <a:prstGeom prst="round2SameRect">
            <a:avLst>
              <a:gd name="adj1" fmla="val 0"/>
              <a:gd name="adj2" fmla="val 0"/>
            </a:avLst>
          </a:prstGeom>
          <a:gradFill flip="none" rotWithShape="1">
            <a:gsLst>
              <a:gs pos="25000">
                <a:srgbClr val="F2FCFF"/>
              </a:gs>
              <a:gs pos="100000">
                <a:srgbClr val="FFFFFF">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 name="矩形: 圆顶角 5"/>
          <p:cNvSpPr/>
          <p:nvPr/>
        </p:nvSpPr>
        <p:spPr>
          <a:xfrm rot="16200000">
            <a:off x="7515510" y="-887450"/>
            <a:ext cx="2919763" cy="6433217"/>
          </a:xfrm>
          <a:prstGeom prst="round2SameRect">
            <a:avLst>
              <a:gd name="adj1" fmla="val 0"/>
              <a:gd name="adj2" fmla="val 0"/>
            </a:avLst>
          </a:prstGeom>
          <a:gradFill flip="none" rotWithShape="1">
            <a:gsLst>
              <a:gs pos="34000">
                <a:srgbClr val="F2FCFF"/>
              </a:gs>
              <a:gs pos="100000">
                <a:srgbClr val="FFFFFF">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41" name="矩形 3"/>
          <p:cNvSpPr>
            <a:spLocks noChangeArrowheads="1"/>
          </p:cNvSpPr>
          <p:nvPr/>
        </p:nvSpPr>
        <p:spPr bwMode="auto">
          <a:xfrm>
            <a:off x="82993" y="846474"/>
            <a:ext cx="854206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sym typeface="Calibri" panose="020F0502020204030204" pitchFamily="34" charset="0"/>
              </a:defRPr>
            </a:lvl9pPr>
          </a:lstStyle>
          <a:p>
            <a:pPr eaLnBrk="0" fontAlgn="base" hangingPunct="0">
              <a:spcBef>
                <a:spcPct val="0"/>
              </a:spcBef>
              <a:spcAft>
                <a:spcPct val="0"/>
              </a:spcAft>
              <a:buFont typeface="Arial" panose="020B0604020202020204" pitchFamily="34" charset="0"/>
              <a:buNone/>
            </a:pPr>
            <a:r>
              <a:rPr lang="zh-CN" altLang="en-US" sz="1600" b="1" dirty="0">
                <a:solidFill>
                  <a:srgbClr val="FF0000"/>
                </a:solidFill>
                <a:latin typeface="微软雅黑" panose="020B0503020204020204" pitchFamily="34" charset="-122"/>
                <a:ea typeface="微软雅黑" panose="020B0503020204020204" pitchFamily="34" charset="-122"/>
              </a:rPr>
              <a:t>电化学阻抗谱</a:t>
            </a:r>
            <a:r>
              <a:rPr lang="en-US" altLang="zh-CN"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(electrochemical impedance spectroscopy, EIS)</a:t>
            </a:r>
            <a:endParaRPr lang="zh-CN" altLang="en-US"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2" name="文本框 41"/>
          <p:cNvSpPr txBox="1"/>
          <p:nvPr/>
        </p:nvSpPr>
        <p:spPr>
          <a:xfrm>
            <a:off x="54633" y="1317272"/>
            <a:ext cx="8542068" cy="338554"/>
          </a:xfrm>
          <a:prstGeom prst="rect">
            <a:avLst/>
          </a:prstGeom>
          <a:noFill/>
        </p:spPr>
        <p:txBody>
          <a:bodyPr wrap="square">
            <a:spAutoFit/>
          </a:bodyPr>
          <a:lstStyle/>
          <a:p>
            <a:pPr marL="342900" indent="-342900">
              <a:buFont typeface="Arial" panose="020B0604020202020204" pitchFamily="34" charset="0"/>
              <a:buChar char="•"/>
            </a:pPr>
            <a:r>
              <a:rPr lang="zh-CN" altLang="en-US"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以一系列不同频率的小振幅正弦波电压（电流）为扰动信号，使电极系统产生响应信号。</a:t>
            </a:r>
            <a:endParaRPr lang="zh-CN" altLang="en-US" sz="1600" b="1" dirty="0">
              <a:solidFill>
                <a:srgbClr val="1B69B4"/>
              </a:solidFill>
              <a:latin typeface="微软雅黑" panose="020B0503020204020204" pitchFamily="34" charset="-122"/>
              <a:ea typeface="微软雅黑" panose="020B0503020204020204" pitchFamily="34" charset="-122"/>
            </a:endParaRPr>
          </a:p>
        </p:txBody>
      </p:sp>
      <p:grpSp>
        <p:nvGrpSpPr>
          <p:cNvPr id="49" name="组合 48"/>
          <p:cNvGrpSpPr/>
          <p:nvPr/>
        </p:nvGrpSpPr>
        <p:grpSpPr>
          <a:xfrm>
            <a:off x="366984" y="2338830"/>
            <a:ext cx="4167897" cy="3860622"/>
            <a:chOff x="404000" y="2408557"/>
            <a:chExt cx="4167897" cy="3860622"/>
          </a:xfrm>
        </p:grpSpPr>
        <p:grpSp>
          <p:nvGrpSpPr>
            <p:cNvPr id="51" name="组合 50"/>
            <p:cNvGrpSpPr/>
            <p:nvPr/>
          </p:nvGrpSpPr>
          <p:grpSpPr>
            <a:xfrm>
              <a:off x="404000" y="2871720"/>
              <a:ext cx="1189283" cy="3397459"/>
              <a:chOff x="404000" y="2871720"/>
              <a:chExt cx="1189283" cy="3397459"/>
            </a:xfrm>
          </p:grpSpPr>
          <p:grpSp>
            <p:nvGrpSpPr>
              <p:cNvPr id="55" name="组合 54"/>
              <p:cNvGrpSpPr/>
              <p:nvPr/>
            </p:nvGrpSpPr>
            <p:grpSpPr>
              <a:xfrm>
                <a:off x="404000" y="2871720"/>
                <a:ext cx="1135589" cy="1338532"/>
                <a:chOff x="404000" y="2871720"/>
                <a:chExt cx="1135589" cy="1338532"/>
              </a:xfrm>
            </p:grpSpPr>
            <p:pic>
              <p:nvPicPr>
                <p:cNvPr id="61" name="图片 60"/>
                <p:cNvPicPr>
                  <a:picLocks noChangeAspect="1"/>
                </p:cNvPicPr>
                <p:nvPr/>
              </p:nvPicPr>
              <p:blipFill>
                <a:blip r:embed="rId4"/>
                <a:stretch>
                  <a:fillRect/>
                </a:stretch>
              </p:blipFill>
              <p:spPr>
                <a:xfrm>
                  <a:off x="404000" y="2871720"/>
                  <a:ext cx="1135589" cy="1030995"/>
                </a:xfrm>
                <a:prstGeom prst="rect">
                  <a:avLst/>
                </a:prstGeom>
              </p:spPr>
            </p:pic>
            <p:sp>
              <p:nvSpPr>
                <p:cNvPr id="62" name="右箭头 21"/>
                <p:cNvSpPr/>
                <p:nvPr/>
              </p:nvSpPr>
              <p:spPr>
                <a:xfrm rot="5400000">
                  <a:off x="852026" y="3969822"/>
                  <a:ext cx="316597" cy="164263"/>
                </a:xfrm>
                <a:prstGeom prst="rightArrow">
                  <a:avLst/>
                </a:prstGeom>
                <a:gradFill>
                  <a:gsLst>
                    <a:gs pos="0">
                      <a:srgbClr val="4685C2"/>
                    </a:gs>
                    <a:gs pos="100000">
                      <a:srgbClr val="ECF1F9"/>
                    </a:gs>
                  </a:gsLst>
                  <a:lin ang="81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黑体" panose="02010609060101010101" charset="-122"/>
                    <a:ea typeface="黑体" panose="02010609060101010101" charset="-122"/>
                  </a:endParaRPr>
                </a:p>
              </p:txBody>
            </p:sp>
          </p:grpSp>
          <p:grpSp>
            <p:nvGrpSpPr>
              <p:cNvPr id="58" name="组合 57"/>
              <p:cNvGrpSpPr/>
              <p:nvPr/>
            </p:nvGrpSpPr>
            <p:grpSpPr>
              <a:xfrm>
                <a:off x="458845" y="4891937"/>
                <a:ext cx="1134438" cy="1377242"/>
                <a:chOff x="458845" y="4891937"/>
                <a:chExt cx="1134438" cy="1377242"/>
              </a:xfrm>
            </p:grpSpPr>
            <p:pic>
              <p:nvPicPr>
                <p:cNvPr id="59" name="图片 5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8845" y="5234206"/>
                  <a:ext cx="1134438" cy="1034973"/>
                </a:xfrm>
                <a:prstGeom prst="rect">
                  <a:avLst/>
                </a:prstGeom>
              </p:spPr>
            </p:pic>
            <p:sp>
              <p:nvSpPr>
                <p:cNvPr id="60" name="右箭头 22"/>
                <p:cNvSpPr/>
                <p:nvPr/>
              </p:nvSpPr>
              <p:spPr>
                <a:xfrm rot="5400000">
                  <a:off x="826278" y="5009591"/>
                  <a:ext cx="399571" cy="164263"/>
                </a:xfrm>
                <a:prstGeom prst="rightArrow">
                  <a:avLst/>
                </a:prstGeom>
                <a:gradFill>
                  <a:gsLst>
                    <a:gs pos="0">
                      <a:srgbClr val="6A9DCE"/>
                    </a:gs>
                    <a:gs pos="100000">
                      <a:srgbClr val="F0F4FB"/>
                    </a:gs>
                  </a:gsLst>
                  <a:lin ang="81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黑体" panose="02010609060101010101" charset="-122"/>
                    <a:ea typeface="黑体" panose="02010609060101010101" charset="-122"/>
                  </a:endParaRPr>
                </a:p>
              </p:txBody>
            </p:sp>
          </p:grpSp>
        </p:grpSp>
        <mc:AlternateContent xmlns:mc="http://schemas.openxmlformats.org/markup-compatibility/2006" xmlns:a14="http://schemas.microsoft.com/office/drawing/2010/main">
          <mc:Choice Requires="a14">
            <p:sp>
              <p:nvSpPr>
                <p:cNvPr id="53" name="文本框 52"/>
                <p:cNvSpPr txBox="1"/>
                <p:nvPr/>
              </p:nvSpPr>
              <p:spPr>
                <a:xfrm>
                  <a:off x="421964" y="2408557"/>
                  <a:ext cx="4149933" cy="369332"/>
                </a:xfrm>
                <a:prstGeom prst="rect">
                  <a:avLst/>
                </a:prstGeom>
                <a:noFill/>
              </p:spPr>
              <p:txBody>
                <a:bodyPr wrap="square" rtlCol="0">
                  <a:spAutoFit/>
                </a:bodyPr>
                <a:lstStyle/>
                <a:p>
                  <a:r>
                    <a:rPr lang="zh-CN" altLang="en-US"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在</a:t>
                  </a:r>
                  <a14:m>
                    <m:oMath xmlns:m="http://schemas.openxmlformats.org/officeDocument/2006/math">
                      <m:r>
                        <a:rPr lang="en-US" altLang="zh-CN" b="1" i="1" dirty="0" smtClean="0">
                          <a:solidFill>
                            <a:srgbClr val="1B69B4"/>
                          </a:solidFill>
                          <a:latin typeface="Cambria Math" panose="02040503050406030204" pitchFamily="18" charset="0"/>
                          <a:ea typeface="微软雅黑" panose="020B0503020204020204" pitchFamily="34" charset="-122"/>
                          <a:cs typeface="Times New Roman" panose="02020603050405020304" pitchFamily="18" charset="0"/>
                        </a:rPr>
                        <m:t>𝒎𝑯𝒛</m:t>
                      </m:r>
                      <m:r>
                        <a:rPr lang="en-US" altLang="zh-CN" b="1" i="1" dirty="0">
                          <a:solidFill>
                            <a:srgbClr val="1B69B4"/>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b="1" i="1" dirty="0" smtClean="0">
                          <a:solidFill>
                            <a:srgbClr val="1B69B4"/>
                          </a:solidFill>
                          <a:latin typeface="Cambria Math" panose="02040503050406030204" pitchFamily="18" charset="0"/>
                          <a:ea typeface="微软雅黑" panose="020B0503020204020204" pitchFamily="34" charset="-122"/>
                          <a:cs typeface="Times New Roman" panose="02020603050405020304" pitchFamily="18" charset="0"/>
                        </a:rPr>
                        <m:t>𝒌𝑯𝒛</m:t>
                      </m:r>
                    </m:oMath>
                  </a14:m>
                  <a:r>
                    <a:rPr lang="zh-CN" altLang="en-US"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频率范围内扫描</a:t>
                  </a:r>
                  <a:endParaRPr lang="en-US" altLang="zh-CN"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53" name="文本框 52"/>
                <p:cNvSpPr txBox="1">
                  <a:spLocks noRot="1" noChangeAspect="1" noMove="1" noResize="1" noEditPoints="1" noAdjustHandles="1" noChangeArrowheads="1" noChangeShapeType="1" noTextEdit="1"/>
                </p:cNvSpPr>
                <p:nvPr/>
              </p:nvSpPr>
              <p:spPr>
                <a:xfrm>
                  <a:off x="421964" y="2408557"/>
                  <a:ext cx="4149933" cy="369332"/>
                </a:xfrm>
                <a:prstGeom prst="rect">
                  <a:avLst/>
                </a:prstGeom>
                <a:blipFill>
                  <a:blip r:embed="rId6"/>
                  <a:stretch>
                    <a:fillRect l="-1175" t="-10000" b="-26667"/>
                  </a:stretch>
                </a:blipFill>
              </p:spPr>
              <p:txBody>
                <a:bodyPr/>
                <a:lstStyle/>
                <a:p>
                  <a:r>
                    <a:rPr lang="zh-CN" altLang="en-US">
                      <a:noFill/>
                    </a:rPr>
                    <a:t> </a:t>
                  </a:r>
                </a:p>
              </p:txBody>
            </p:sp>
          </mc:Fallback>
        </mc:AlternateContent>
      </p:grpSp>
      <p:pic>
        <p:nvPicPr>
          <p:cNvPr id="77" name="图片 76"/>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73709" y="4139109"/>
            <a:ext cx="2286242" cy="1838657"/>
          </a:xfrm>
          <a:prstGeom prst="rect">
            <a:avLst/>
          </a:prstGeom>
          <a:noFill/>
          <a:ln>
            <a:noFill/>
          </a:ln>
        </p:spPr>
      </p:pic>
      <p:grpSp>
        <p:nvGrpSpPr>
          <p:cNvPr id="68" name="组合 67"/>
          <p:cNvGrpSpPr/>
          <p:nvPr/>
        </p:nvGrpSpPr>
        <p:grpSpPr>
          <a:xfrm>
            <a:off x="4650226" y="2298673"/>
            <a:ext cx="2987713" cy="937570"/>
            <a:chOff x="5560603" y="2246582"/>
            <a:chExt cx="2987713" cy="937570"/>
          </a:xfrm>
        </p:grpSpPr>
        <p:grpSp>
          <p:nvGrpSpPr>
            <p:cNvPr id="70" name="组合 69"/>
            <p:cNvGrpSpPr/>
            <p:nvPr/>
          </p:nvGrpSpPr>
          <p:grpSpPr>
            <a:xfrm>
              <a:off x="5560603" y="2264206"/>
              <a:ext cx="1527161" cy="875450"/>
              <a:chOff x="5560603" y="2233911"/>
              <a:chExt cx="1527161" cy="875450"/>
            </a:xfrm>
          </p:grpSpPr>
          <p:sp>
            <p:nvSpPr>
              <p:cNvPr id="74" name="文本框 73"/>
              <p:cNvSpPr txBox="1"/>
              <p:nvPr/>
            </p:nvSpPr>
            <p:spPr>
              <a:xfrm>
                <a:off x="5567600" y="2233911"/>
                <a:ext cx="1322101" cy="461665"/>
              </a:xfrm>
              <a:prstGeom prst="rect">
                <a:avLst/>
              </a:prstGeom>
              <a:noFill/>
            </p:spPr>
            <p:txBody>
              <a:bodyPr wrap="square" rtlCol="0">
                <a:spAutoFit/>
              </a:bodyPr>
              <a:lstStyle/>
              <a:p>
                <a:r>
                  <a:rPr lang="zh-CN" altLang="en-US" sz="2400" b="1" dirty="0">
                    <a:solidFill>
                      <a:srgbClr val="1B69B4"/>
                    </a:solidFill>
                    <a:latin typeface="黑体" panose="02010609060101010101" charset="-122"/>
                    <a:ea typeface="黑体" panose="02010609060101010101" charset="-122"/>
                  </a:rPr>
                  <a:t>实部</a:t>
                </a:r>
                <a:r>
                  <a:rPr lang="en-US" altLang="zh-CN" sz="2400" b="1" dirty="0">
                    <a:solidFill>
                      <a:srgbClr val="1B69B4"/>
                    </a:solidFill>
                    <a:latin typeface="Times New Roman" panose="02020603050405020304" pitchFamily="18" charset="0"/>
                    <a:cs typeface="Times New Roman" panose="02020603050405020304" pitchFamily="18" charset="0"/>
                  </a:rPr>
                  <a:t>Z</a:t>
                </a:r>
                <a:r>
                  <a:rPr lang="en-US" altLang="zh-CN" sz="2400" b="1" dirty="0">
                    <a:solidFill>
                      <a:srgbClr val="1B69B4"/>
                    </a:solidFill>
                  </a:rPr>
                  <a:t>’</a:t>
                </a:r>
                <a:endParaRPr lang="zh-CN" altLang="en-US" sz="2400" b="1" dirty="0">
                  <a:solidFill>
                    <a:srgbClr val="1B69B4"/>
                  </a:solidFill>
                </a:endParaRPr>
              </a:p>
            </p:txBody>
          </p:sp>
          <p:sp>
            <p:nvSpPr>
              <p:cNvPr id="75" name="文本框 74"/>
              <p:cNvSpPr txBox="1"/>
              <p:nvPr/>
            </p:nvSpPr>
            <p:spPr>
              <a:xfrm>
                <a:off x="5560603" y="2647696"/>
                <a:ext cx="1527161" cy="461665"/>
              </a:xfrm>
              <a:prstGeom prst="rect">
                <a:avLst/>
              </a:prstGeom>
              <a:noFill/>
            </p:spPr>
            <p:txBody>
              <a:bodyPr wrap="square" rtlCol="0">
                <a:spAutoFit/>
              </a:bodyPr>
              <a:lstStyle/>
              <a:p>
                <a:r>
                  <a:rPr lang="zh-CN" altLang="en-US" sz="2400" b="1" dirty="0">
                    <a:solidFill>
                      <a:srgbClr val="1B69B4"/>
                    </a:solidFill>
                    <a:latin typeface="黑体" panose="02010609060101010101" charset="-122"/>
                    <a:ea typeface="黑体" panose="02010609060101010101" charset="-122"/>
                  </a:rPr>
                  <a:t>模值</a:t>
                </a:r>
                <a:r>
                  <a:rPr lang="en-US" altLang="zh-CN" sz="2400" b="1" dirty="0">
                    <a:solidFill>
                      <a:srgbClr val="1B69B4"/>
                    </a:solidFill>
                  </a:rPr>
                  <a:t>|</a:t>
                </a:r>
                <a:r>
                  <a:rPr lang="en-US" altLang="zh-CN" sz="2400" b="1" dirty="0">
                    <a:solidFill>
                      <a:srgbClr val="1B69B4"/>
                    </a:solidFill>
                    <a:latin typeface="Times New Roman" panose="02020603050405020304" pitchFamily="18" charset="0"/>
                    <a:cs typeface="Times New Roman" panose="02020603050405020304" pitchFamily="18" charset="0"/>
                  </a:rPr>
                  <a:t> Z </a:t>
                </a:r>
                <a:r>
                  <a:rPr lang="en-US" altLang="zh-CN" sz="2400" b="1" dirty="0">
                    <a:solidFill>
                      <a:srgbClr val="1B69B4"/>
                    </a:solidFill>
                  </a:rPr>
                  <a:t>|</a:t>
                </a:r>
                <a:endParaRPr lang="zh-CN" altLang="en-US" sz="2400" b="1" dirty="0">
                  <a:solidFill>
                    <a:srgbClr val="1B69B4"/>
                  </a:solidFill>
                </a:endParaRPr>
              </a:p>
            </p:txBody>
          </p:sp>
        </p:grpSp>
        <p:grpSp>
          <p:nvGrpSpPr>
            <p:cNvPr id="71" name="组合 70"/>
            <p:cNvGrpSpPr/>
            <p:nvPr/>
          </p:nvGrpSpPr>
          <p:grpSpPr>
            <a:xfrm>
              <a:off x="7014948" y="2246582"/>
              <a:ext cx="1533368" cy="937570"/>
              <a:chOff x="7014948" y="2268081"/>
              <a:chExt cx="1533368" cy="937570"/>
            </a:xfrm>
          </p:grpSpPr>
          <p:sp>
            <p:nvSpPr>
              <p:cNvPr id="72" name="文本框 71"/>
              <p:cNvSpPr txBox="1"/>
              <p:nvPr/>
            </p:nvSpPr>
            <p:spPr>
              <a:xfrm>
                <a:off x="7014948" y="2268081"/>
                <a:ext cx="1322101" cy="461665"/>
              </a:xfrm>
              <a:prstGeom prst="rect">
                <a:avLst/>
              </a:prstGeom>
              <a:noFill/>
            </p:spPr>
            <p:txBody>
              <a:bodyPr wrap="square" rtlCol="0">
                <a:spAutoFit/>
              </a:bodyPr>
              <a:lstStyle/>
              <a:p>
                <a:r>
                  <a:rPr lang="zh-CN" altLang="en-US" sz="2400" b="1" dirty="0">
                    <a:solidFill>
                      <a:srgbClr val="1B69B4"/>
                    </a:solidFill>
                    <a:latin typeface="黑体" panose="02010609060101010101" charset="-122"/>
                    <a:ea typeface="黑体" panose="02010609060101010101" charset="-122"/>
                  </a:rPr>
                  <a:t>虚部</a:t>
                </a:r>
                <a:r>
                  <a:rPr lang="en-US" altLang="zh-CN" sz="2400" b="1" dirty="0">
                    <a:solidFill>
                      <a:srgbClr val="1B69B4"/>
                    </a:solidFill>
                    <a:latin typeface="Times New Roman" panose="02020603050405020304" pitchFamily="18" charset="0"/>
                    <a:cs typeface="Times New Roman" panose="02020603050405020304" pitchFamily="18" charset="0"/>
                  </a:rPr>
                  <a:t>Z</a:t>
                </a:r>
                <a:r>
                  <a:rPr lang="en-US" altLang="zh-CN" sz="2400" b="1" dirty="0">
                    <a:solidFill>
                      <a:srgbClr val="1B69B4"/>
                    </a:solidFill>
                  </a:rPr>
                  <a:t>’’</a:t>
                </a:r>
                <a:endParaRPr lang="zh-CN" altLang="en-US" sz="2400" b="1" dirty="0">
                  <a:solidFill>
                    <a:srgbClr val="1B69B4"/>
                  </a:solidFill>
                </a:endParaRPr>
              </a:p>
            </p:txBody>
          </p:sp>
          <p:sp>
            <p:nvSpPr>
              <p:cNvPr id="73" name="文本框 72"/>
              <p:cNvSpPr txBox="1"/>
              <p:nvPr/>
            </p:nvSpPr>
            <p:spPr>
              <a:xfrm>
                <a:off x="7021155" y="2743986"/>
                <a:ext cx="1527161" cy="461665"/>
              </a:xfrm>
              <a:prstGeom prst="rect">
                <a:avLst/>
              </a:prstGeom>
              <a:noFill/>
            </p:spPr>
            <p:txBody>
              <a:bodyPr wrap="square" rtlCol="0">
                <a:spAutoFit/>
              </a:bodyPr>
              <a:lstStyle/>
              <a:p>
                <a:r>
                  <a:rPr lang="zh-CN" altLang="en-US" sz="2400" b="1" dirty="0">
                    <a:solidFill>
                      <a:srgbClr val="1B69B4"/>
                    </a:solidFill>
                    <a:latin typeface="黑体" panose="02010609060101010101" charset="-122"/>
                    <a:ea typeface="黑体" panose="02010609060101010101" charset="-122"/>
                  </a:rPr>
                  <a:t>相位角</a:t>
                </a:r>
                <a:r>
                  <a:rPr lang="en-US" altLang="zh-CN" sz="2400" b="1" i="1" dirty="0">
                    <a:solidFill>
                      <a:srgbClr val="1B69B4"/>
                    </a:solidFill>
                    <a:latin typeface="黑体" panose="02010609060101010101" charset="-122"/>
                    <a:ea typeface="黑体" panose="02010609060101010101" charset="-122"/>
                  </a:rPr>
                  <a:t>φ</a:t>
                </a:r>
                <a:endParaRPr lang="zh-CN" altLang="en-US" sz="2400" b="1" i="1" dirty="0">
                  <a:solidFill>
                    <a:srgbClr val="1B69B4"/>
                  </a:solidFill>
                </a:endParaRPr>
              </a:p>
            </p:txBody>
          </p:sp>
        </p:grpSp>
      </p:grpSp>
      <p:sp>
        <p:nvSpPr>
          <p:cNvPr id="85" name="文本框 84"/>
          <p:cNvSpPr txBox="1"/>
          <p:nvPr/>
        </p:nvSpPr>
        <p:spPr>
          <a:xfrm>
            <a:off x="9272366" y="1663040"/>
            <a:ext cx="2245202" cy="646331"/>
          </a:xfrm>
          <a:prstGeom prst="rect">
            <a:avLst/>
          </a:prstGeom>
          <a:noFill/>
        </p:spPr>
        <p:txBody>
          <a:bodyPr wrap="square">
            <a:spAutoFit/>
          </a:bodyPr>
          <a:lstStyle/>
          <a:p>
            <a:r>
              <a:rPr lang="zh-CN" altLang="en-US"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 电池外在特征</a:t>
            </a:r>
            <a:endParaRPr lang="en-US" altLang="zh-CN"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SOC.SOH</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b="1" dirty="0"/>
          </a:p>
        </p:txBody>
      </p:sp>
      <p:sp>
        <p:nvSpPr>
          <p:cNvPr id="87" name="矩形 86"/>
          <p:cNvSpPr/>
          <p:nvPr/>
        </p:nvSpPr>
        <p:spPr>
          <a:xfrm>
            <a:off x="366985" y="2182641"/>
            <a:ext cx="3305801" cy="4083936"/>
          </a:xfrm>
          <a:prstGeom prst="rect">
            <a:avLst/>
          </a:prstGeom>
          <a:noFill/>
          <a:ln w="38100">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p:cNvSpPr/>
          <p:nvPr/>
        </p:nvSpPr>
        <p:spPr>
          <a:xfrm>
            <a:off x="8414677" y="4091109"/>
            <a:ext cx="3369955" cy="2175468"/>
          </a:xfrm>
          <a:prstGeom prst="rect">
            <a:avLst/>
          </a:prstGeom>
          <a:noFill/>
          <a:ln w="38100">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圆角 88"/>
          <p:cNvSpPr/>
          <p:nvPr/>
        </p:nvSpPr>
        <p:spPr>
          <a:xfrm>
            <a:off x="805313" y="1847926"/>
            <a:ext cx="2449006" cy="341202"/>
          </a:xfrm>
          <a:prstGeom prst="roundRect">
            <a:avLst/>
          </a:prstGeom>
          <a:solidFill>
            <a:srgbClr val="1B69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阻抗数据测量</a:t>
            </a:r>
          </a:p>
        </p:txBody>
      </p:sp>
      <p:sp>
        <p:nvSpPr>
          <p:cNvPr id="90" name="矩形: 圆角 89"/>
          <p:cNvSpPr/>
          <p:nvPr/>
        </p:nvSpPr>
        <p:spPr>
          <a:xfrm>
            <a:off x="8975391" y="3749907"/>
            <a:ext cx="2448000" cy="341202"/>
          </a:xfrm>
          <a:prstGeom prst="roundRect">
            <a:avLst/>
          </a:prstGeom>
          <a:solidFill>
            <a:srgbClr val="1B69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特征映射</a:t>
            </a:r>
          </a:p>
        </p:txBody>
      </p:sp>
      <p:pic>
        <p:nvPicPr>
          <p:cNvPr id="54" name="图片 5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480376" y="195720"/>
            <a:ext cx="2514152" cy="673296"/>
          </a:xfrm>
          <a:prstGeom prst="rect">
            <a:avLst/>
          </a:prstGeom>
        </p:spPr>
      </p:pic>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5FD7FF43-4AE0-ADB8-DDE6-A46993423287}"/>
                  </a:ext>
                </a:extLst>
              </p:cNvPr>
              <p:cNvSpPr txBox="1"/>
              <p:nvPr/>
            </p:nvSpPr>
            <p:spPr>
              <a:xfrm>
                <a:off x="195428" y="3770579"/>
                <a:ext cx="5230509" cy="12536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3600" i="1" dirty="0" smtClean="0">
                              <a:latin typeface="Cambria Math" panose="02040503050406030204" pitchFamily="18" charset="0"/>
                            </a:rPr>
                          </m:ctrlPr>
                        </m:accPr>
                        <m:e>
                          <m:r>
                            <a:rPr lang="en-US" altLang="zh-CN" sz="3600" i="1" dirty="0" smtClean="0">
                              <a:latin typeface="Cambria Math" panose="02040503050406030204" pitchFamily="18" charset="0"/>
                            </a:rPr>
                            <m:t>𝑍</m:t>
                          </m:r>
                        </m:e>
                      </m:acc>
                      <m:r>
                        <a:rPr lang="zh-CN" altLang="en-US" sz="3600" i="1" dirty="0" smtClean="0">
                          <a:latin typeface="Cambria Math" panose="02040503050406030204" pitchFamily="18" charset="0"/>
                        </a:rPr>
                        <m:t>=</m:t>
                      </m:r>
                      <m:f>
                        <m:fPr>
                          <m:ctrlPr>
                            <a:rPr lang="zh-CN" altLang="en-US" sz="3600" i="1" dirty="0" smtClean="0">
                              <a:latin typeface="Cambria Math" panose="02040503050406030204" pitchFamily="18" charset="0"/>
                            </a:rPr>
                          </m:ctrlPr>
                        </m:fPr>
                        <m:num>
                          <m:acc>
                            <m:accPr>
                              <m:chr m:val="̇"/>
                              <m:ctrlPr>
                                <a:rPr lang="zh-CN" altLang="en-US" sz="3600" i="1" dirty="0" smtClean="0">
                                  <a:latin typeface="Cambria Math" panose="02040503050406030204" pitchFamily="18" charset="0"/>
                                </a:rPr>
                              </m:ctrlPr>
                            </m:accPr>
                            <m:e>
                              <m:r>
                                <a:rPr lang="zh-CN" altLang="en-US" sz="3600" i="1" dirty="0" smtClean="0">
                                  <a:latin typeface="Cambria Math" panose="02040503050406030204" pitchFamily="18" charset="0"/>
                                </a:rPr>
                                <m:t>𝑈</m:t>
                              </m:r>
                            </m:e>
                          </m:acc>
                        </m:num>
                        <m:den>
                          <m:acc>
                            <m:accPr>
                              <m:chr m:val="̇"/>
                              <m:ctrlPr>
                                <a:rPr lang="zh-CN" altLang="en-US" sz="3600" i="1" dirty="0" smtClean="0">
                                  <a:latin typeface="Cambria Math" panose="02040503050406030204" pitchFamily="18" charset="0"/>
                                </a:rPr>
                              </m:ctrlPr>
                            </m:accPr>
                            <m:e>
                              <m:r>
                                <a:rPr lang="zh-CN" altLang="en-US" sz="3600" i="1" dirty="0" smtClean="0">
                                  <a:latin typeface="Cambria Math" panose="02040503050406030204" pitchFamily="18" charset="0"/>
                                </a:rPr>
                                <m:t>𝐼</m:t>
                              </m:r>
                            </m:e>
                          </m:acc>
                        </m:den>
                      </m:f>
                    </m:oMath>
                  </m:oMathPara>
                </a14:m>
                <a:endParaRPr lang="zh-CN" altLang="en-US" sz="3600" dirty="0"/>
              </a:p>
            </p:txBody>
          </p:sp>
        </mc:Choice>
        <mc:Fallback xmlns="">
          <p:sp>
            <p:nvSpPr>
              <p:cNvPr id="11" name="文本框 10">
                <a:extLst>
                  <a:ext uri="{FF2B5EF4-FFF2-40B4-BE49-F238E27FC236}">
                    <a16:creationId xmlns:a16="http://schemas.microsoft.com/office/drawing/2014/main" id="{5FD7FF43-4AE0-ADB8-DDE6-A46993423287}"/>
                  </a:ext>
                </a:extLst>
              </p:cNvPr>
              <p:cNvSpPr txBox="1">
                <a:spLocks noRot="1" noChangeAspect="1" noMove="1" noResize="1" noEditPoints="1" noAdjustHandles="1" noChangeArrowheads="1" noChangeShapeType="1" noTextEdit="1"/>
              </p:cNvSpPr>
              <p:nvPr/>
            </p:nvSpPr>
            <p:spPr>
              <a:xfrm>
                <a:off x="195428" y="3770579"/>
                <a:ext cx="5230509" cy="1253613"/>
              </a:xfrm>
              <a:prstGeom prst="rect">
                <a:avLst/>
              </a:prstGeom>
              <a:blipFill>
                <a:blip r:embed="rId9"/>
                <a:stretch>
                  <a:fillRect/>
                </a:stretch>
              </a:blipFill>
            </p:spPr>
            <p:txBody>
              <a:bodyPr/>
              <a:lstStyle/>
              <a:p>
                <a:r>
                  <a:rPr lang="zh-CN" altLang="en-US">
                    <a:noFill/>
                  </a:rPr>
                  <a:t> </a:t>
                </a:r>
              </a:p>
            </p:txBody>
          </p:sp>
        </mc:Fallback>
      </mc:AlternateContent>
      <p:sp>
        <p:nvSpPr>
          <p:cNvPr id="12" name="右箭头 21">
            <a:extLst>
              <a:ext uri="{FF2B5EF4-FFF2-40B4-BE49-F238E27FC236}">
                <a16:creationId xmlns:a16="http://schemas.microsoft.com/office/drawing/2014/main" id="{11EFA606-05DA-4B41-021C-E848B91333C7}"/>
              </a:ext>
            </a:extLst>
          </p:cNvPr>
          <p:cNvSpPr/>
          <p:nvPr/>
        </p:nvSpPr>
        <p:spPr>
          <a:xfrm rot="3556622">
            <a:off x="1583370" y="3655503"/>
            <a:ext cx="613194" cy="216383"/>
          </a:xfrm>
          <a:prstGeom prst="rightArrow">
            <a:avLst/>
          </a:prstGeom>
          <a:gradFill>
            <a:gsLst>
              <a:gs pos="0">
                <a:srgbClr val="4685C2"/>
              </a:gs>
              <a:gs pos="100000">
                <a:srgbClr val="ECF1F9"/>
              </a:gs>
            </a:gsLst>
            <a:lin ang="8100000" scaled="0"/>
          </a:gradFill>
          <a:ln w="12700" cap="flat" cmpd="sng" algn="ctr">
            <a:noFill/>
            <a:prstDash val="solid"/>
            <a:miter lim="800000"/>
          </a:ln>
          <a:effectLst/>
        </p:spPr>
        <p:txBody>
          <a:bodyPr rtlCol="0" anchor="ct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黑体" panose="02010609060101010101" charset="-122"/>
              <a:ea typeface="黑体" panose="02010609060101010101" charset="-122"/>
            </a:endParaRPr>
          </a:p>
        </p:txBody>
      </p:sp>
      <p:sp>
        <p:nvSpPr>
          <p:cNvPr id="13" name="右箭头 22">
            <a:extLst>
              <a:ext uri="{FF2B5EF4-FFF2-40B4-BE49-F238E27FC236}">
                <a16:creationId xmlns:a16="http://schemas.microsoft.com/office/drawing/2014/main" id="{A6B8ED60-132B-B853-DAC1-59DC8358C6E8}"/>
              </a:ext>
            </a:extLst>
          </p:cNvPr>
          <p:cNvSpPr/>
          <p:nvPr/>
        </p:nvSpPr>
        <p:spPr>
          <a:xfrm rot="18429866">
            <a:off x="1582285" y="4978081"/>
            <a:ext cx="654352" cy="223031"/>
          </a:xfrm>
          <a:prstGeom prst="rightArrow">
            <a:avLst/>
          </a:prstGeom>
          <a:gradFill>
            <a:gsLst>
              <a:gs pos="0">
                <a:srgbClr val="6A9DCE"/>
              </a:gs>
              <a:gs pos="100000">
                <a:srgbClr val="F0F4FB"/>
              </a:gs>
            </a:gsLst>
            <a:lin ang="8100000" scaled="0"/>
          </a:gradFill>
          <a:ln w="12700" cap="flat" cmpd="sng" algn="ctr">
            <a:noFill/>
            <a:prstDash val="solid"/>
            <a:miter lim="800000"/>
          </a:ln>
          <a:effectLst/>
        </p:spPr>
        <p:txBody>
          <a:bodyPr rtlCol="0" anchor="ct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黑体" panose="02010609060101010101" charset="-122"/>
              <a:ea typeface="黑体" panose="02010609060101010101" charset="-122"/>
            </a:endParaRPr>
          </a:p>
        </p:txBody>
      </p:sp>
      <p:sp>
        <p:nvSpPr>
          <p:cNvPr id="16" name="AutoShape 2">
            <a:extLst>
              <a:ext uri="{FF2B5EF4-FFF2-40B4-BE49-F238E27FC236}">
                <a16:creationId xmlns:a16="http://schemas.microsoft.com/office/drawing/2014/main" id="{BFB16378-A69F-73E8-47C5-D6707465B9B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8" name="图片 17">
            <a:extLst>
              <a:ext uri="{FF2B5EF4-FFF2-40B4-BE49-F238E27FC236}">
                <a16:creationId xmlns:a16="http://schemas.microsoft.com/office/drawing/2014/main" id="{4A504397-2B79-1F6B-3B74-8E1AA8848BA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rot="5400000">
            <a:off x="716152" y="4083894"/>
            <a:ext cx="529441" cy="794161"/>
          </a:xfrm>
          <a:prstGeom prst="rect">
            <a:avLst/>
          </a:prstGeom>
        </p:spPr>
      </p:pic>
      <p:sp>
        <p:nvSpPr>
          <p:cNvPr id="20" name="箭头: 右 19">
            <a:extLst>
              <a:ext uri="{FF2B5EF4-FFF2-40B4-BE49-F238E27FC236}">
                <a16:creationId xmlns:a16="http://schemas.microsoft.com/office/drawing/2014/main" id="{5596E8AC-B716-C407-D9FC-CFE7F2E41FD4}"/>
              </a:ext>
            </a:extLst>
          </p:cNvPr>
          <p:cNvSpPr/>
          <p:nvPr/>
        </p:nvSpPr>
        <p:spPr>
          <a:xfrm>
            <a:off x="3740687" y="4116059"/>
            <a:ext cx="627121" cy="300773"/>
          </a:xfrm>
          <a:prstGeom prst="rightArrow">
            <a:avLst/>
          </a:prstGeom>
          <a:gradFill flip="none" rotWithShape="1">
            <a:gsLst>
              <a:gs pos="0">
                <a:srgbClr val="F4FAFD"/>
              </a:gs>
              <a:gs pos="100000">
                <a:srgbClr val="1B69B4"/>
              </a:gs>
            </a:gsLst>
            <a:lin ang="0" scaled="1"/>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21" name="矩形 20">
            <a:extLst>
              <a:ext uri="{FF2B5EF4-FFF2-40B4-BE49-F238E27FC236}">
                <a16:creationId xmlns:a16="http://schemas.microsoft.com/office/drawing/2014/main" id="{2F5BB703-62BB-12F2-0008-AB981FECCAA4}"/>
              </a:ext>
            </a:extLst>
          </p:cNvPr>
          <p:cNvSpPr/>
          <p:nvPr/>
        </p:nvSpPr>
        <p:spPr>
          <a:xfrm>
            <a:off x="4354027" y="2174286"/>
            <a:ext cx="3305801" cy="4083936"/>
          </a:xfrm>
          <a:prstGeom prst="rect">
            <a:avLst/>
          </a:prstGeom>
          <a:noFill/>
          <a:ln w="38100">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a:extLst>
              <a:ext uri="{FF2B5EF4-FFF2-40B4-BE49-F238E27FC236}">
                <a16:creationId xmlns:a16="http://schemas.microsoft.com/office/drawing/2014/main" id="{BF85AE76-3819-50FA-9B5C-7E0DF53CFFDC}"/>
              </a:ext>
            </a:extLst>
          </p:cNvPr>
          <p:cNvSpPr/>
          <p:nvPr/>
        </p:nvSpPr>
        <p:spPr>
          <a:xfrm rot="5400000">
            <a:off x="5760483" y="3532789"/>
            <a:ext cx="627121" cy="300773"/>
          </a:xfrm>
          <a:prstGeom prst="rightArrow">
            <a:avLst/>
          </a:prstGeom>
          <a:gradFill flip="none" rotWithShape="1">
            <a:gsLst>
              <a:gs pos="0">
                <a:srgbClr val="F4FAFD"/>
              </a:gs>
              <a:gs pos="100000">
                <a:srgbClr val="1B69B4"/>
              </a:gs>
            </a:gsLst>
            <a:lin ang="0" scaled="1"/>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23" name="矩形: 圆角 22">
            <a:extLst>
              <a:ext uri="{FF2B5EF4-FFF2-40B4-BE49-F238E27FC236}">
                <a16:creationId xmlns:a16="http://schemas.microsoft.com/office/drawing/2014/main" id="{D0FFB5B6-11A4-88E7-EDFA-B178C2CDE4DA}"/>
              </a:ext>
            </a:extLst>
          </p:cNvPr>
          <p:cNvSpPr/>
          <p:nvPr/>
        </p:nvSpPr>
        <p:spPr>
          <a:xfrm>
            <a:off x="4827192" y="1830860"/>
            <a:ext cx="2449006" cy="341202"/>
          </a:xfrm>
          <a:prstGeom prst="roundRect">
            <a:avLst/>
          </a:prstGeom>
          <a:solidFill>
            <a:srgbClr val="1B69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阻抗谱绘制</a:t>
            </a:r>
          </a:p>
        </p:txBody>
      </p:sp>
      <p:sp>
        <p:nvSpPr>
          <p:cNvPr id="24" name="箭头: 右 23">
            <a:extLst>
              <a:ext uri="{FF2B5EF4-FFF2-40B4-BE49-F238E27FC236}">
                <a16:creationId xmlns:a16="http://schemas.microsoft.com/office/drawing/2014/main" id="{2A263402-123D-9613-C9BC-85A2D8944594}"/>
              </a:ext>
            </a:extLst>
          </p:cNvPr>
          <p:cNvSpPr/>
          <p:nvPr/>
        </p:nvSpPr>
        <p:spPr>
          <a:xfrm>
            <a:off x="7731464" y="5267305"/>
            <a:ext cx="627121" cy="300773"/>
          </a:xfrm>
          <a:prstGeom prst="rightArrow">
            <a:avLst/>
          </a:prstGeom>
          <a:gradFill flip="none" rotWithShape="1">
            <a:gsLst>
              <a:gs pos="0">
                <a:srgbClr val="F4FAFD"/>
              </a:gs>
              <a:gs pos="100000">
                <a:srgbClr val="1B69B4"/>
              </a:gs>
            </a:gsLst>
            <a:lin ang="0" scaled="1"/>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25" name="矩形 24">
            <a:extLst>
              <a:ext uri="{FF2B5EF4-FFF2-40B4-BE49-F238E27FC236}">
                <a16:creationId xmlns:a16="http://schemas.microsoft.com/office/drawing/2014/main" id="{9C6BBC16-6B71-D5A7-5329-B2266B763892}"/>
              </a:ext>
            </a:extLst>
          </p:cNvPr>
          <p:cNvSpPr/>
          <p:nvPr/>
        </p:nvSpPr>
        <p:spPr>
          <a:xfrm>
            <a:off x="8414677" y="1469556"/>
            <a:ext cx="3369955" cy="2175468"/>
          </a:xfrm>
          <a:prstGeom prst="rect">
            <a:avLst/>
          </a:prstGeom>
          <a:noFill/>
          <a:ln w="38100">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右 25">
            <a:extLst>
              <a:ext uri="{FF2B5EF4-FFF2-40B4-BE49-F238E27FC236}">
                <a16:creationId xmlns:a16="http://schemas.microsoft.com/office/drawing/2014/main" id="{26A622F5-A138-87F8-CB54-EE64DF4C94B9}"/>
              </a:ext>
            </a:extLst>
          </p:cNvPr>
          <p:cNvSpPr/>
          <p:nvPr/>
        </p:nvSpPr>
        <p:spPr>
          <a:xfrm>
            <a:off x="7701127" y="2852936"/>
            <a:ext cx="627121" cy="300773"/>
          </a:xfrm>
          <a:prstGeom prst="rightArrow">
            <a:avLst/>
          </a:prstGeom>
          <a:gradFill flip="none" rotWithShape="1">
            <a:gsLst>
              <a:gs pos="0">
                <a:srgbClr val="F4FAFD"/>
              </a:gs>
              <a:gs pos="100000">
                <a:srgbClr val="1B69B4"/>
              </a:gs>
            </a:gsLst>
            <a:lin ang="0" scaled="1"/>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28" name="箭头: 左弧形 27">
            <a:extLst>
              <a:ext uri="{FF2B5EF4-FFF2-40B4-BE49-F238E27FC236}">
                <a16:creationId xmlns:a16="http://schemas.microsoft.com/office/drawing/2014/main" id="{B616012F-2336-C5DA-6E64-1089B0BC9D2E}"/>
              </a:ext>
            </a:extLst>
          </p:cNvPr>
          <p:cNvSpPr/>
          <p:nvPr/>
        </p:nvSpPr>
        <p:spPr>
          <a:xfrm rot="10800000">
            <a:off x="11818427" y="3131988"/>
            <a:ext cx="331419" cy="1248111"/>
          </a:xfrm>
          <a:prstGeom prst="curvedRightArrow">
            <a:avLst/>
          </a:prstGeom>
          <a:gradFill flip="none" rotWithShape="1">
            <a:gsLst>
              <a:gs pos="0">
                <a:srgbClr val="F6FDFF">
                  <a:alpha val="10000"/>
                </a:srgbClr>
              </a:gs>
              <a:gs pos="100000">
                <a:srgbClr val="2E75BB"/>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0" name="文本框 29">
            <a:extLst>
              <a:ext uri="{FF2B5EF4-FFF2-40B4-BE49-F238E27FC236}">
                <a16:creationId xmlns:a16="http://schemas.microsoft.com/office/drawing/2014/main" id="{3CC013C4-8AA9-BA96-924A-5A06647457EA}"/>
              </a:ext>
            </a:extLst>
          </p:cNvPr>
          <p:cNvSpPr txBox="1"/>
          <p:nvPr/>
        </p:nvSpPr>
        <p:spPr>
          <a:xfrm>
            <a:off x="8592004" y="2446873"/>
            <a:ext cx="3184268" cy="923330"/>
          </a:xfrm>
          <a:prstGeom prst="rect">
            <a:avLst/>
          </a:prstGeom>
          <a:noFill/>
        </p:spPr>
        <p:txBody>
          <a:bodyPr wrap="square">
            <a:spAutoFit/>
          </a:bodyPr>
          <a:lstStyle/>
          <a:p>
            <a:r>
              <a:rPr lang="zh-CN" altLang="zh-CN" sz="1800" b="1" dirty="0">
                <a:effectLst/>
                <a:latin typeface="微软雅黑" panose="020B0503020204020204" pitchFamily="34" charset="-122"/>
                <a:ea typeface="微软雅黑" panose="020B0503020204020204" pitchFamily="34" charset="-122"/>
                <a:cs typeface="宋体" panose="02010600030101010101" pitchFamily="2" charset="-122"/>
              </a:rPr>
              <a:t>建立</a:t>
            </a:r>
            <a:r>
              <a:rPr lang="en-US" altLang="zh-CN" sz="1800" b="1" dirty="0">
                <a:effectLst/>
                <a:latin typeface="微软雅黑" panose="020B0503020204020204" pitchFamily="34" charset="-122"/>
                <a:ea typeface="微软雅黑" panose="020B0503020204020204" pitchFamily="34" charset="-122"/>
                <a:cs typeface="宋体" panose="02010600030101010101" pitchFamily="2" charset="-122"/>
              </a:rPr>
              <a:t>SOC/SOH</a:t>
            </a:r>
            <a:r>
              <a:rPr lang="zh-CN" altLang="zh-CN" sz="1800" b="1" dirty="0">
                <a:effectLst/>
                <a:latin typeface="微软雅黑" panose="020B0503020204020204" pitchFamily="34" charset="-122"/>
                <a:ea typeface="微软雅黑" panose="020B0503020204020204" pitchFamily="34" charset="-122"/>
                <a:cs typeface="宋体" panose="02010600030101010101" pitchFamily="2" charset="-122"/>
              </a:rPr>
              <a:t>与阻抗特征的映射模型，完成电池状态评估算法原型</a:t>
            </a:r>
            <a:endParaRPr lang="zh-CN" altLang="en-US" b="1" dirty="0">
              <a:latin typeface="微软雅黑" panose="020B0503020204020204" pitchFamily="34" charset="-122"/>
              <a:ea typeface="微软雅黑" panose="020B0503020204020204" pitchFamily="34" charset="-122"/>
            </a:endParaRPr>
          </a:p>
        </p:txBody>
      </p:sp>
      <p:sp>
        <p:nvSpPr>
          <p:cNvPr id="31" name="矩形: 圆角 30">
            <a:extLst>
              <a:ext uri="{FF2B5EF4-FFF2-40B4-BE49-F238E27FC236}">
                <a16:creationId xmlns:a16="http://schemas.microsoft.com/office/drawing/2014/main" id="{E4F57267-C153-9219-7364-FE1916D6FEA5}"/>
              </a:ext>
            </a:extLst>
          </p:cNvPr>
          <p:cNvSpPr/>
          <p:nvPr/>
        </p:nvSpPr>
        <p:spPr>
          <a:xfrm>
            <a:off x="8960138" y="1120199"/>
            <a:ext cx="2448000" cy="341202"/>
          </a:xfrm>
          <a:prstGeom prst="roundRect">
            <a:avLst/>
          </a:prstGeom>
          <a:solidFill>
            <a:srgbClr val="1B69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建立映射模型</a:t>
            </a:r>
          </a:p>
        </p:txBody>
      </p:sp>
      <p:sp>
        <p:nvSpPr>
          <p:cNvPr id="32" name="文本框 82">
            <a:extLst>
              <a:ext uri="{FF2B5EF4-FFF2-40B4-BE49-F238E27FC236}">
                <a16:creationId xmlns:a16="http://schemas.microsoft.com/office/drawing/2014/main" id="{DF7062D9-D2AC-1B00-DA62-F6BBBEA21992}"/>
              </a:ext>
            </a:extLst>
          </p:cNvPr>
          <p:cNvSpPr txBox="1"/>
          <p:nvPr/>
        </p:nvSpPr>
        <p:spPr>
          <a:xfrm>
            <a:off x="9224023" y="4282716"/>
            <a:ext cx="1751262" cy="461665"/>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r>
              <a:rPr lang="zh-CN" altLang="en-US" sz="24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电化学反应</a:t>
            </a:r>
            <a:endParaRPr lang="zh-CN" altLang="en-US" sz="2400" b="1" dirty="0">
              <a:solidFill>
                <a:srgbClr val="1B69B4"/>
              </a:solidFill>
            </a:endParaRPr>
          </a:p>
        </p:txBody>
      </p:sp>
      <p:sp>
        <p:nvSpPr>
          <p:cNvPr id="34" name="文本框 33">
            <a:extLst>
              <a:ext uri="{FF2B5EF4-FFF2-40B4-BE49-F238E27FC236}">
                <a16:creationId xmlns:a16="http://schemas.microsoft.com/office/drawing/2014/main" id="{FB064FD1-5DBA-FA27-83C8-3DCD76C4D73F}"/>
              </a:ext>
            </a:extLst>
          </p:cNvPr>
          <p:cNvSpPr txBox="1"/>
          <p:nvPr/>
        </p:nvSpPr>
        <p:spPr>
          <a:xfrm>
            <a:off x="8595728" y="4830426"/>
            <a:ext cx="3190568" cy="923330"/>
          </a:xfrm>
          <a:prstGeom prst="rect">
            <a:avLst/>
          </a:prstGeom>
          <a:noFill/>
        </p:spPr>
        <p:txBody>
          <a:bodyPr wrap="square">
            <a:spAutoFit/>
          </a:bodyPr>
          <a:lstStyle/>
          <a:p>
            <a:r>
              <a:rPr lang="en-US" altLang="zh-CN" b="1" dirty="0">
                <a:latin typeface="微软雅黑" panose="020B0503020204020204" pitchFamily="34" charset="-122"/>
                <a:ea typeface="微软雅黑" panose="020B0503020204020204" pitchFamily="34" charset="-122"/>
              </a:rPr>
              <a:t>EIS </a:t>
            </a:r>
            <a:r>
              <a:rPr lang="zh-CN" altLang="en-US" b="1" dirty="0">
                <a:latin typeface="微软雅黑" panose="020B0503020204020204" pitchFamily="34" charset="-122"/>
                <a:ea typeface="微软雅黑" panose="020B0503020204020204" pitchFamily="34" charset="-122"/>
              </a:rPr>
              <a:t>图谱中各频段的阻抗特征反映了电池内部不同电化学过程的动力学行为与界面特性</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9" name="矩形 65"/>
          <p:cNvSpPr>
            <a:spLocks noChangeArrowheads="1"/>
          </p:cNvSpPr>
          <p:nvPr/>
        </p:nvSpPr>
        <p:spPr bwMode="auto">
          <a:xfrm>
            <a:off x="55880" y="45085"/>
            <a:ext cx="8174990" cy="583565"/>
          </a:xfrm>
          <a:prstGeom prst="rect">
            <a:avLst/>
          </a:prstGeom>
          <a:no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685800" eaLnBrk="1" fontAlgn="auto" hangingPunct="1">
              <a:spcBef>
                <a:spcPct val="0"/>
              </a:spcBef>
              <a:spcAft>
                <a:spcPts val="0"/>
              </a:spcAft>
              <a:buFont typeface="Arial" panose="020B0604020202020204" pitchFamily="34" charset="0"/>
              <a:buNone/>
            </a:pPr>
            <a:r>
              <a:rPr lang="en-US" altLang="zh-CN" b="1" spc="600" dirty="0">
                <a:solidFill>
                  <a:schemeClr val="bg1"/>
                </a:solidFill>
                <a:latin typeface="微软雅黑" panose="020B0503020204020204" pitchFamily="34" charset="-122"/>
                <a:ea typeface="微软雅黑" panose="020B0503020204020204" pitchFamily="34" charset="-122"/>
              </a:rPr>
              <a:t>02</a:t>
            </a:r>
            <a:r>
              <a:rPr lang="zh-CN" altLang="en-US" b="1" spc="600" dirty="0">
                <a:solidFill>
                  <a:schemeClr val="bg1"/>
                </a:solidFill>
                <a:latin typeface="微软雅黑" panose="020B0503020204020204" pitchFamily="34" charset="-122"/>
                <a:ea typeface="微软雅黑" panose="020B0503020204020204" pitchFamily="34" charset="-122"/>
              </a:rPr>
              <a:t>实施方案 </a:t>
            </a:r>
            <a:r>
              <a:rPr lang="zh-CN" altLang="en-US" sz="2000" b="1" spc="600" dirty="0">
                <a:solidFill>
                  <a:schemeClr val="bg1"/>
                </a:solidFill>
                <a:latin typeface="微软雅黑" panose="020B0503020204020204" pitchFamily="34" charset="-122"/>
                <a:ea typeface="微软雅黑" panose="020B0503020204020204" pitchFamily="34" charset="-122"/>
              </a:rPr>
              <a:t>项述</a:t>
            </a:r>
            <a:endParaRPr lang="zh-CN" altLang="en-US" b="1" spc="600" dirty="0">
              <a:solidFill>
                <a:schemeClr val="bg1"/>
              </a:solidFill>
              <a:latin typeface="微软雅黑" panose="020B0503020204020204" pitchFamily="34" charset="-122"/>
              <a:ea typeface="微软雅黑" panose="020B0503020204020204" pitchFamily="34" charset="-122"/>
            </a:endParaRPr>
          </a:p>
        </p:txBody>
      </p:sp>
      <p:sp>
        <p:nvSpPr>
          <p:cNvPr id="1048651" name="矩形 8"/>
          <p:cNvSpPr/>
          <p:nvPr/>
        </p:nvSpPr>
        <p:spPr bwMode="auto">
          <a:xfrm>
            <a:off x="9023985" y="3788410"/>
            <a:ext cx="2813685" cy="2063115"/>
          </a:xfrm>
          <a:prstGeom prst="rect">
            <a:avLst/>
          </a:prstGeom>
          <a:solidFill>
            <a:srgbClr val="FBB505">
              <a:alpha val="3000"/>
            </a:srgbClr>
          </a:solidFill>
          <a:ln w="28575" cap="flat" cmpd="sng" algn="ctr">
            <a:solidFill>
              <a:srgbClr val="FBB505"/>
            </a:solidFill>
            <a:prstDash val="sysDash"/>
            <a:round/>
            <a:headEnd type="none" w="med" len="med"/>
            <a:tailEnd type="none" w="med" len="med"/>
          </a:ln>
          <a:effectLst/>
        </p:spPr>
        <p:txBody>
          <a:bodyPr vert="horz" wrap="square" lIns="0" tIns="0" rIns="0" bIns="0" numCol="1" rtlCol="0" anchor="t" anchorCtr="0" compatLnSpc="1">
            <a:noAutofit/>
          </a:bodyPr>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4400" b="0" i="0" u="none" strike="noStrike" cap="none" normalizeH="0" baseline="0" dirty="0">
              <a:ln>
                <a:noFill/>
              </a:ln>
              <a:solidFill>
                <a:schemeClr val="accent2"/>
              </a:solidFill>
              <a:effectLst/>
              <a:latin typeface="Arial" panose="020B0604020202020204" pitchFamily="34" charset="0"/>
              <a:ea typeface="黑体" panose="02010609060101010101" charset="-122"/>
            </a:endParaRPr>
          </a:p>
        </p:txBody>
      </p:sp>
      <p:sp>
        <p:nvSpPr>
          <p:cNvPr id="1048652" name="矩形 9"/>
          <p:cNvSpPr/>
          <p:nvPr/>
        </p:nvSpPr>
        <p:spPr bwMode="auto">
          <a:xfrm>
            <a:off x="368935" y="3787140"/>
            <a:ext cx="2089785" cy="2064385"/>
          </a:xfrm>
          <a:prstGeom prst="rect">
            <a:avLst/>
          </a:prstGeom>
          <a:solidFill>
            <a:srgbClr val="FBB505">
              <a:alpha val="3000"/>
            </a:srgbClr>
          </a:solidFill>
          <a:ln w="28575" cap="flat" cmpd="sng" algn="ctr">
            <a:solidFill>
              <a:schemeClr val="accent1"/>
            </a:solidFill>
            <a:prstDash val="sysDash"/>
            <a:round/>
            <a:headEnd type="none" w="med" len="med"/>
            <a:tailEnd type="none" w="med" len="med"/>
          </a:ln>
          <a:effectLst/>
        </p:spPr>
        <p:txBody>
          <a:bodyPr vert="horz" wrap="square" lIns="0" tIns="0" rIns="0" bIns="0" numCol="1" rtlCol="0" anchor="t" anchorCtr="0" compatLnSpc="1">
            <a:noAutofit/>
          </a:bodyPr>
          <a:lstStyle/>
          <a:p>
            <a:pPr defTabSz="914400"/>
            <a:endParaRPr lang="zh-CN" altLang="en-US" sz="4400" dirty="0">
              <a:solidFill>
                <a:srgbClr val="2F5597"/>
              </a:solidFill>
              <a:latin typeface="Arial" panose="020B0604020202020204" pitchFamily="34" charset="0"/>
              <a:ea typeface="黑体" panose="02010609060101010101" charset="-122"/>
            </a:endParaRPr>
          </a:p>
        </p:txBody>
      </p:sp>
      <p:sp>
        <p:nvSpPr>
          <p:cNvPr id="1048653" name="矩形 10"/>
          <p:cNvSpPr/>
          <p:nvPr/>
        </p:nvSpPr>
        <p:spPr bwMode="auto">
          <a:xfrm>
            <a:off x="2573655" y="3792855"/>
            <a:ext cx="2712720" cy="2058035"/>
          </a:xfrm>
          <a:prstGeom prst="rect">
            <a:avLst/>
          </a:prstGeom>
          <a:solidFill>
            <a:srgbClr val="FBB505">
              <a:alpha val="3000"/>
            </a:srgbClr>
          </a:solidFill>
          <a:ln w="28575" cap="flat" cmpd="sng" algn="ctr">
            <a:solidFill>
              <a:schemeClr val="accent1"/>
            </a:solidFill>
            <a:prstDash val="sysDash"/>
            <a:round/>
            <a:headEnd type="none" w="med" len="med"/>
            <a:tailEnd type="none" w="med" len="med"/>
          </a:ln>
          <a:effectLst/>
        </p:spPr>
        <p:txBody>
          <a:bodyPr vert="horz" wrap="square" lIns="0" tIns="0" rIns="0" bIns="0" numCol="1" rtlCol="0" anchor="t" anchorCtr="0" compatLnSpc="1">
            <a:noAutofit/>
          </a:bodyPr>
          <a:lstStyle/>
          <a:p>
            <a:pPr defTabSz="914400"/>
            <a:endParaRPr lang="zh-CN" altLang="en-US" sz="4400" dirty="0">
              <a:solidFill>
                <a:srgbClr val="2F5597"/>
              </a:solidFill>
              <a:latin typeface="Arial" panose="020B0604020202020204" pitchFamily="34" charset="0"/>
              <a:ea typeface="黑体" panose="02010609060101010101" charset="-122"/>
            </a:endParaRPr>
          </a:p>
        </p:txBody>
      </p:sp>
      <p:sp>
        <p:nvSpPr>
          <p:cNvPr id="1048654" name="文本框 11"/>
          <p:cNvSpPr txBox="1"/>
          <p:nvPr/>
        </p:nvSpPr>
        <p:spPr>
          <a:xfrm>
            <a:off x="46990" y="1004570"/>
            <a:ext cx="11972925" cy="829945"/>
          </a:xfrm>
          <a:prstGeom prst="rect">
            <a:avLst/>
          </a:prstGeom>
          <a:noFill/>
        </p:spPr>
        <p:txBody>
          <a:bodyPr wrap="square">
            <a:spAutoFit/>
          </a:bodyPr>
          <a:lstStyle/>
          <a:p>
            <a:pPr marL="342900" indent="-342900" algn="just">
              <a:lnSpc>
                <a:spcPct val="120000"/>
              </a:lnSpc>
              <a:buFont typeface="Wingdings" panose="05000000000000000000" charset="0"/>
              <a:buChar char="u"/>
            </a:pPr>
            <a:r>
              <a:rPr lang="zh-CN" altLang="en-US" sz="2000" b="1" dirty="0">
                <a:solidFill>
                  <a:srgbClr val="2F5597"/>
                </a:solidFill>
                <a:latin typeface="微软雅黑" panose="020B0503020204020204" pitchFamily="34" charset="-122"/>
                <a:ea typeface="微软雅黑" panose="020B0503020204020204" pitchFamily="34" charset="-122"/>
                <a:cs typeface="Times New Roman" panose="02020603050405020304" pitchFamily="18" charset="0"/>
              </a:rPr>
              <a:t>传统锂离子电池检测</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主要依赖于对电压、电流及温度等外部信号的采集，以估算电池的运行状态。然而该方法难以获取内部电化学参数，无法准确识别潜在性能衰减与故障，导致</a:t>
            </a:r>
            <a:r>
              <a:rPr lang="zh-CN" altLang="en-US" sz="2000" b="1" dirty="0">
                <a:solidFill>
                  <a:srgbClr val="2F5597"/>
                </a:solidFill>
                <a:latin typeface="微软雅黑" panose="020B0503020204020204" pitchFamily="34" charset="-122"/>
                <a:ea typeface="微软雅黑" panose="020B0503020204020204" pitchFamily="34" charset="-122"/>
                <a:cs typeface="Times New Roman" panose="02020603050405020304" pitchFamily="18" charset="0"/>
              </a:rPr>
              <a:t>检测精度有限、响应滞后。</a:t>
            </a:r>
          </a:p>
        </p:txBody>
      </p:sp>
      <p:sp>
        <p:nvSpPr>
          <p:cNvPr id="1048655" name="文本框 12" descr="7b0a202020202262756c6c6574223a20227b5c2263617465676f727949645c223a5c225c222c5c2274656d706c61746549645c223a32303233313536337d220a7d0a"/>
          <p:cNvSpPr txBox="1"/>
          <p:nvPr/>
        </p:nvSpPr>
        <p:spPr>
          <a:xfrm>
            <a:off x="370840" y="3136265"/>
            <a:ext cx="4394835" cy="460375"/>
          </a:xfrm>
          <a:prstGeom prst="rect">
            <a:avLst/>
          </a:prstGeom>
          <a:noFill/>
        </p:spPr>
        <p:txBody>
          <a:bodyPr wrap="square">
            <a:spAutoFit/>
          </a:bodyPr>
          <a:lstStyle>
            <a:defPPr>
              <a:defRPr lang="zh-CN"/>
            </a:defPPr>
            <a:lvl1pPr algn="just" fontAlgn="auto">
              <a:lnSpc>
                <a:spcPct val="120000"/>
              </a:lnSpc>
              <a:spcBef>
                <a:spcPts val="0"/>
              </a:spcBef>
              <a:spcAft>
                <a:spcPts val="0"/>
              </a:spcAft>
              <a:defRPr sz="1800" b="0" kern="100">
                <a:solidFill>
                  <a:prstClr val="black"/>
                </a:solidFill>
                <a:latin typeface="微软雅黑" panose="020B0503020204020204" pitchFamily="34" charset="-122"/>
                <a:ea typeface="微软雅黑" panose="020B0503020204020204" pitchFamily="34" charset="-122"/>
              </a:defRPr>
            </a:lvl1pPr>
          </a:lstStyle>
          <a:p>
            <a:pPr marR="0" lvl="0" indent="0" algn="just" defTabSz="914400" eaLnBrk="1" fontAlgn="auto" latinLnBrk="0" hangingPunct="1">
              <a:lnSpc>
                <a:spcPct val="120000"/>
              </a:lnSpc>
              <a:spcBef>
                <a:spcPts val="0"/>
              </a:spcBef>
              <a:spcAft>
                <a:spcPts val="0"/>
              </a:spcAft>
              <a:buClrTx/>
              <a:buSzTx/>
              <a:buFont typeface="Wingdings" panose="05000000000000000000" pitchFamily="2" charset="2"/>
              <a:buBlip>
                <a:blip r:embed="rId6"/>
              </a:buBlip>
            </a:pPr>
            <a:r>
              <a:rPr lang="en-US" altLang="zh-CN" sz="2000" b="1" dirty="0">
                <a:solidFill>
                  <a:srgbClr val="2F5597"/>
                </a:solidFill>
              </a:rPr>
              <a:t> </a:t>
            </a:r>
            <a:r>
              <a:rPr lang="zh-CN" altLang="en-US" sz="2000" b="1" dirty="0">
                <a:solidFill>
                  <a:srgbClr val="2F5597"/>
                </a:solidFill>
              </a:rPr>
              <a:t>传统锂离子电池检测</a:t>
            </a:r>
          </a:p>
        </p:txBody>
      </p:sp>
      <p:sp>
        <p:nvSpPr>
          <p:cNvPr id="1048659" name="文本框 24" descr="7b0a202020202262756c6c6574223a20227b5c2263617465676f727949645c223a5c225c222c5c2274656d706c61746549645c223a32303233313439347d220a7d0a"/>
          <p:cNvSpPr txBox="1"/>
          <p:nvPr/>
        </p:nvSpPr>
        <p:spPr>
          <a:xfrm>
            <a:off x="5524500" y="3196590"/>
            <a:ext cx="6301740" cy="460375"/>
          </a:xfrm>
          <a:prstGeom prst="rect">
            <a:avLst/>
          </a:prstGeom>
          <a:noFill/>
        </p:spPr>
        <p:txBody>
          <a:bodyPr wrap="square">
            <a:spAutoFit/>
          </a:bodyPr>
          <a:lstStyle>
            <a:defPPr>
              <a:defRPr lang="zh-CN"/>
            </a:defPPr>
            <a:lvl1pPr algn="just" fontAlgn="auto">
              <a:lnSpc>
                <a:spcPct val="120000"/>
              </a:lnSpc>
              <a:spcBef>
                <a:spcPts val="0"/>
              </a:spcBef>
              <a:spcAft>
                <a:spcPts val="0"/>
              </a:spcAft>
              <a:defRPr sz="1800" b="0" kern="100">
                <a:solidFill>
                  <a:prstClr val="black"/>
                </a:solidFill>
                <a:latin typeface="微软雅黑" panose="020B0503020204020204" pitchFamily="34" charset="-122"/>
                <a:ea typeface="微软雅黑" panose="020B0503020204020204" pitchFamily="34" charset="-122"/>
              </a:defRPr>
            </a:lvl1pPr>
          </a:lstStyle>
          <a:p>
            <a:pPr marL="0" marR="0" lvl="0" indent="0" algn="just" defTabSz="914400" eaLnBrk="1" fontAlgn="auto" latinLnBrk="0" hangingPunct="1">
              <a:lnSpc>
                <a:spcPct val="120000"/>
              </a:lnSpc>
              <a:spcBef>
                <a:spcPts val="0"/>
              </a:spcBef>
              <a:spcAft>
                <a:spcPts val="0"/>
              </a:spcAft>
              <a:buClrTx/>
              <a:buSzTx/>
              <a:buFont typeface="Wingdings" panose="05000000000000000000" charset="0"/>
              <a:buNone/>
            </a:pPr>
            <a:r>
              <a:rPr lang="en-US" altLang="zh-CN" sz="2000" b="1" dirty="0">
                <a:solidFill>
                  <a:srgbClr val="000000"/>
                </a:solidFill>
              </a:rPr>
              <a:t>√ </a:t>
            </a:r>
            <a:r>
              <a:rPr lang="zh-CN" altLang="en-US" sz="2000" b="1" dirty="0">
                <a:solidFill>
                  <a:srgbClr val="ED7D31"/>
                </a:solidFill>
              </a:rPr>
              <a:t>电化学阻抗谱检测</a:t>
            </a:r>
          </a:p>
        </p:txBody>
      </p:sp>
      <p:sp>
        <p:nvSpPr>
          <p:cNvPr id="1048660" name="矩形 25"/>
          <p:cNvSpPr/>
          <p:nvPr/>
        </p:nvSpPr>
        <p:spPr bwMode="auto">
          <a:xfrm>
            <a:off x="5524500" y="3789045"/>
            <a:ext cx="3361690" cy="2061845"/>
          </a:xfrm>
          <a:prstGeom prst="rect">
            <a:avLst/>
          </a:prstGeom>
          <a:solidFill>
            <a:srgbClr val="FBB505">
              <a:alpha val="3000"/>
            </a:srgbClr>
          </a:solidFill>
          <a:ln w="28575" cap="flat" cmpd="sng" algn="ctr">
            <a:solidFill>
              <a:srgbClr val="FBB505"/>
            </a:solidFill>
            <a:prstDash val="sysDash"/>
            <a:round/>
            <a:headEnd type="none" w="med" len="med"/>
            <a:tailEnd type="none" w="med" len="med"/>
          </a:ln>
          <a:effectLst/>
        </p:spPr>
        <p:txBody>
          <a:bodyPr vert="horz" wrap="square" lIns="0" tIns="0" rIns="0" bIns="0" numCol="1" rtlCol="0" anchor="t" anchorCtr="0" compatLnSpc="1">
            <a:noAutofit/>
          </a:bodyPr>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4400" b="0" i="0" u="none" strike="noStrike" cap="none" normalizeH="0" baseline="0" dirty="0">
              <a:ln>
                <a:noFill/>
              </a:ln>
              <a:solidFill>
                <a:schemeClr val="accent2"/>
              </a:solidFill>
              <a:effectLst/>
              <a:latin typeface="Arial" panose="020B0604020202020204" pitchFamily="34" charset="0"/>
              <a:ea typeface="黑体" panose="02010609060101010101" charset="-122"/>
            </a:endParaRPr>
          </a:p>
        </p:txBody>
      </p:sp>
      <p:sp>
        <p:nvSpPr>
          <p:cNvPr id="1048672" name="圆角矩形 3"/>
          <p:cNvSpPr/>
          <p:nvPr/>
        </p:nvSpPr>
        <p:spPr>
          <a:xfrm>
            <a:off x="23495" y="836930"/>
            <a:ext cx="12121515" cy="2211705"/>
          </a:xfrm>
          <a:prstGeom prst="roundRect">
            <a:avLst/>
          </a:prstGeom>
          <a:noFill/>
          <a:ln w="38100"/>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48673" name="文本框 1"/>
          <p:cNvSpPr txBox="1"/>
          <p:nvPr/>
        </p:nvSpPr>
        <p:spPr>
          <a:xfrm>
            <a:off x="11852910" y="6513195"/>
            <a:ext cx="339090" cy="275590"/>
          </a:xfrm>
          <a:prstGeom prst="rect">
            <a:avLst/>
          </a:prstGeom>
          <a:noFill/>
        </p:spPr>
        <p:txBody>
          <a:bodyPr wrap="square" rtlCol="0">
            <a:spAutoFit/>
          </a:bodyPr>
          <a:lstStyle/>
          <a:p>
            <a:r>
              <a:rPr lang="en-US" altLang="zh-CN" sz="1200" b="1">
                <a:solidFill>
                  <a:schemeClr val="bg1"/>
                </a:solidFill>
              </a:rPr>
              <a:t>4</a:t>
            </a:r>
          </a:p>
        </p:txBody>
      </p:sp>
      <p:sp>
        <p:nvSpPr>
          <p:cNvPr id="1048674" name="矩形 2"/>
          <p:cNvSpPr/>
          <p:nvPr/>
        </p:nvSpPr>
        <p:spPr bwMode="auto">
          <a:xfrm>
            <a:off x="135192" y="657012"/>
            <a:ext cx="4748213" cy="45719"/>
          </a:xfrm>
          <a:prstGeom prst="rect">
            <a:avLst/>
          </a:prstGeom>
          <a:gradFill flip="none" rotWithShape="1">
            <a:gsLst>
              <a:gs pos="4000">
                <a:schemeClr val="bg1"/>
              </a:gs>
              <a:gs pos="72000">
                <a:schemeClr val="bg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dirty="0">
              <a:solidFill>
                <a:srgbClr val="1B69B4"/>
              </a:solidFill>
            </a:endParaRPr>
          </a:p>
        </p:txBody>
      </p:sp>
      <p:grpSp>
        <p:nvGrpSpPr>
          <p:cNvPr id="8196" name="组合 1"/>
          <p:cNvGrpSpPr/>
          <p:nvPr/>
        </p:nvGrpSpPr>
        <p:grpSpPr bwMode="auto">
          <a:xfrm>
            <a:off x="268288" y="103188"/>
            <a:ext cx="4829810" cy="891540"/>
            <a:chOff x="267858" y="102478"/>
            <a:chExt cx="3077838" cy="892891"/>
          </a:xfrm>
        </p:grpSpPr>
        <p:sp>
          <p:nvSpPr>
            <p:cNvPr id="3" name="矩形 65"/>
            <p:cNvSpPr>
              <a:spLocks noChangeArrowheads="1"/>
            </p:cNvSpPr>
            <p:nvPr/>
          </p:nvSpPr>
          <p:spPr bwMode="auto">
            <a:xfrm>
              <a:off x="267858" y="102478"/>
              <a:ext cx="3025443" cy="892891"/>
            </a:xfrm>
            <a:prstGeom prst="rect">
              <a:avLst/>
            </a:prstGeom>
            <a:no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685800" eaLnBrk="1" fontAlgn="auto" hangingPunct="1">
                <a:spcBef>
                  <a:spcPct val="0"/>
                </a:spcBef>
                <a:spcAft>
                  <a:spcPts val="0"/>
                </a:spcAft>
                <a:buFont typeface="Arial" panose="020B0604020202020204" pitchFamily="34" charset="0"/>
                <a:buNone/>
                <a:defRPr/>
              </a:pPr>
              <a:r>
                <a:rPr lang="en-US" altLang="zh-CN" b="1" spc="300" dirty="0">
                  <a:ln w="6350">
                    <a:noFill/>
                  </a:ln>
                  <a:solidFill>
                    <a:srgbClr val="1B69B4"/>
                  </a:solidFill>
                  <a:latin typeface="微软雅黑" panose="020B0503020204020204" pitchFamily="34" charset="-122"/>
                  <a:ea typeface="微软雅黑" panose="020B0503020204020204" pitchFamily="34" charset="-122"/>
                </a:rPr>
                <a:t>06</a:t>
              </a:r>
              <a:r>
                <a:rPr lang="zh-CN" altLang="en-US" b="1" spc="300" dirty="0">
                  <a:ln w="6350">
                    <a:noFill/>
                  </a:ln>
                  <a:solidFill>
                    <a:srgbClr val="1B69B4"/>
                  </a:solidFill>
                  <a:latin typeface="微软雅黑" panose="020B0503020204020204" pitchFamily="34" charset="-122"/>
                  <a:ea typeface="微软雅黑" panose="020B0503020204020204" pitchFamily="34" charset="-122"/>
                </a:rPr>
                <a:t>检测方法对比</a:t>
              </a:r>
              <a:endParaRPr lang="zh-CN" altLang="en-US" sz="2000" b="1" spc="300" dirty="0">
                <a:ln w="6350">
                  <a:noFill/>
                </a:ln>
                <a:solidFill>
                  <a:srgbClr val="1B69B4"/>
                </a:solidFill>
                <a:latin typeface="微软雅黑" panose="020B0503020204020204" pitchFamily="34" charset="-122"/>
                <a:ea typeface="微软雅黑" panose="020B0503020204020204" pitchFamily="34" charset="-122"/>
              </a:endParaRPr>
            </a:p>
            <a:p>
              <a:pPr defTabSz="685800" eaLnBrk="1" fontAlgn="auto" hangingPunct="1">
                <a:spcBef>
                  <a:spcPct val="0"/>
                </a:spcBef>
                <a:spcAft>
                  <a:spcPts val="0"/>
                </a:spcAft>
                <a:buFont typeface="Arial" panose="020B0604020202020204" pitchFamily="34" charset="0"/>
                <a:buNone/>
                <a:defRPr/>
              </a:pPr>
              <a:endParaRPr lang="zh-CN" altLang="en-US" sz="2000" b="1" spc="300" dirty="0">
                <a:ln w="6350">
                  <a:noFill/>
                </a:ln>
                <a:solidFill>
                  <a:srgbClr val="1B69B4"/>
                </a:solidFill>
                <a:latin typeface="微软雅黑" panose="020B0503020204020204" pitchFamily="34" charset="-122"/>
                <a:ea typeface="微软雅黑" panose="020B0503020204020204" pitchFamily="34" charset="-122"/>
              </a:endParaRPr>
            </a:p>
          </p:txBody>
        </p:sp>
        <p:sp>
          <p:nvSpPr>
            <p:cNvPr id="4" name="矩形 3"/>
            <p:cNvSpPr/>
            <p:nvPr/>
          </p:nvSpPr>
          <p:spPr>
            <a:xfrm>
              <a:off x="333008" y="629055"/>
              <a:ext cx="3012688" cy="76315"/>
            </a:xfrm>
            <a:prstGeom prst="rect">
              <a:avLst/>
            </a:prstGeom>
            <a:gradFill flip="none" rotWithShape="1">
              <a:gsLst>
                <a:gs pos="100000">
                  <a:schemeClr val="bg1">
                    <a:alpha val="0"/>
                  </a:schemeClr>
                </a:gs>
                <a:gs pos="4000">
                  <a:srgbClr val="1B69B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1B69B4"/>
                </a:solidFill>
              </a:endParaRPr>
            </a:p>
          </p:txBody>
        </p:sp>
      </p:grpSp>
      <p:sp>
        <p:nvSpPr>
          <p:cNvPr id="2" name="文本框 0"/>
          <p:cNvSpPr txBox="1"/>
          <p:nvPr/>
        </p:nvSpPr>
        <p:spPr>
          <a:xfrm>
            <a:off x="0" y="6027420"/>
            <a:ext cx="12192000" cy="761365"/>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3500000" scaled="1"/>
            <a:tileRect/>
          </a:gradFill>
        </p:spPr>
        <p:txBody>
          <a:bodyPr wrap="square" rtlCol="0" anchor="ctr" anchorCtr="1">
            <a:noAutofit/>
          </a:bodyPr>
          <a:lstStyle/>
          <a:p>
            <a:pPr algn="ctr"/>
            <a:r>
              <a:rPr lang="zh-CN" altLang="en-US" sz="2800" b="1" dirty="0">
                <a:solidFill>
                  <a:srgbClr val="FEFFFF"/>
                </a:solidFill>
                <a:latin typeface="微软雅黑" panose="020B0503020204020204" pitchFamily="34" charset="-122"/>
                <a:ea typeface="微软雅黑" panose="020B0503020204020204" pitchFamily="34" charset="-122"/>
                <a:sym typeface="+mn-ea"/>
              </a:rPr>
              <a:t>电化学阻抗谱检测在</a:t>
            </a:r>
            <a:r>
              <a:rPr lang="zh-CN" altLang="en-US" sz="2800" b="1" dirty="0">
                <a:solidFill>
                  <a:srgbClr val="FFC000"/>
                </a:solidFill>
                <a:latin typeface="微软雅黑" panose="020B0503020204020204" pitchFamily="34" charset="-122"/>
                <a:ea typeface="微软雅黑" panose="020B0503020204020204" pitchFamily="34" charset="-122"/>
                <a:sym typeface="+mn-ea"/>
              </a:rPr>
              <a:t>检测范围</a:t>
            </a:r>
            <a:r>
              <a:rPr lang="zh-CN" altLang="en-US" sz="2800" b="1" dirty="0">
                <a:solidFill>
                  <a:srgbClr val="FEFFFF"/>
                </a:solidFill>
                <a:latin typeface="微软雅黑" panose="020B0503020204020204" pitchFamily="34" charset="-122"/>
                <a:ea typeface="微软雅黑" panose="020B0503020204020204" pitchFamily="34" charset="-122"/>
                <a:sym typeface="+mn-ea"/>
              </a:rPr>
              <a:t>、</a:t>
            </a:r>
            <a:r>
              <a:rPr lang="zh-CN" altLang="en-US" sz="2800" b="1" dirty="0">
                <a:solidFill>
                  <a:srgbClr val="FFC000"/>
                </a:solidFill>
                <a:latin typeface="微软雅黑" panose="020B0503020204020204" pitchFamily="34" charset="-122"/>
                <a:ea typeface="微软雅黑" panose="020B0503020204020204" pitchFamily="34" charset="-122"/>
                <a:sym typeface="+mn-ea"/>
              </a:rPr>
              <a:t>蕴含信息</a:t>
            </a:r>
            <a:r>
              <a:rPr lang="zh-CN" altLang="en-US" sz="2800" b="1" dirty="0">
                <a:solidFill>
                  <a:srgbClr val="FEFFFF"/>
                </a:solidFill>
                <a:latin typeface="微软雅黑" panose="020B0503020204020204" pitchFamily="34" charset="-122"/>
                <a:ea typeface="微软雅黑" panose="020B0503020204020204" pitchFamily="34" charset="-122"/>
                <a:sym typeface="+mn-ea"/>
              </a:rPr>
              <a:t>等方面</a:t>
            </a:r>
            <a:r>
              <a:rPr lang="zh-CN" altLang="en-US" sz="2800" b="1" dirty="0">
                <a:solidFill>
                  <a:srgbClr val="FFC000"/>
                </a:solidFill>
                <a:latin typeface="微软雅黑" panose="020B0503020204020204" pitchFamily="34" charset="-122"/>
                <a:ea typeface="微软雅黑" panose="020B0503020204020204" pitchFamily="34" charset="-122"/>
                <a:sym typeface="+mn-ea"/>
              </a:rPr>
              <a:t>独具优势</a:t>
            </a:r>
            <a:r>
              <a:rPr lang="zh-CN" altLang="en-US" sz="2800" b="1" dirty="0">
                <a:solidFill>
                  <a:srgbClr val="FEFFFF"/>
                </a:solidFill>
                <a:latin typeface="微软雅黑" panose="020B0503020204020204" pitchFamily="34" charset="-122"/>
                <a:ea typeface="微软雅黑" panose="020B0503020204020204" pitchFamily="34" charset="-122"/>
                <a:sym typeface="+mn-ea"/>
              </a:rPr>
              <a:t>功能强大</a:t>
            </a:r>
            <a:endParaRPr lang="zh-CN" altLang="en-US" sz="2800" b="1" spc="300" dirty="0">
              <a:ln w="6350">
                <a:noFill/>
              </a:ln>
              <a:solidFill>
                <a:srgbClr val="FEA402"/>
              </a:solidFill>
              <a:latin typeface="微软雅黑" panose="020B0503020204020204" pitchFamily="34" charset="-122"/>
              <a:ea typeface="微软雅黑" panose="020B0503020204020204" pitchFamily="34" charset="-122"/>
              <a:sym typeface="+mn-ea"/>
            </a:endParaRPr>
          </a:p>
        </p:txBody>
      </p:sp>
      <p:pic>
        <p:nvPicPr>
          <p:cNvPr id="44" name="图片 43"/>
          <p:cNvPicPr>
            <a:picLocks noChangeAspect="1"/>
          </p:cNvPicPr>
          <p:nvPr>
            <p:custDataLst>
              <p:tags r:id="rId1"/>
            </p:custDataLst>
          </p:nvPr>
        </p:nvPicPr>
        <p:blipFill>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tretch>
            <a:fillRect/>
          </a:stretch>
        </p:blipFill>
        <p:spPr>
          <a:xfrm>
            <a:off x="451938" y="3979032"/>
            <a:ext cx="1922190" cy="1762358"/>
          </a:xfrm>
          <a:prstGeom prst="rect">
            <a:avLst/>
          </a:prstGeom>
          <a:effectLst>
            <a:outerShdw blurRad="63500" sx="102000" sy="102000" algn="ctr" rotWithShape="0">
              <a:schemeClr val="accent1">
                <a:lumMod val="75000"/>
                <a:alpha val="40000"/>
              </a:schemeClr>
            </a:outerShdw>
          </a:effectLst>
        </p:spPr>
      </p:pic>
      <p:pic>
        <p:nvPicPr>
          <p:cNvPr id="43" name="图片 2"/>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rcRect t="-134"/>
          <a:stretch>
            <a:fillRect/>
          </a:stretch>
        </p:blipFill>
        <p:spPr bwMode="auto">
          <a:xfrm>
            <a:off x="2661328" y="3966808"/>
            <a:ext cx="2505863" cy="1774582"/>
          </a:xfrm>
          <a:prstGeom prst="rect">
            <a:avLst/>
          </a:prstGeom>
          <a:noFill/>
          <a:ln>
            <a:noFill/>
          </a:ln>
          <a:effectLst>
            <a:outerShdw blurRad="63500" sx="102000" sy="102000" algn="ctr" rotWithShape="0">
              <a:schemeClr val="accent1">
                <a:lumMod val="75000"/>
                <a:alpha val="4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 name="图片 70"/>
          <p:cNvPicPr/>
          <p:nvPr>
            <p:custDataLst>
              <p:tags r:id="rId3"/>
            </p:custDataLst>
          </p:nvPr>
        </p:nvPicPr>
        <p:blipFill rotWithShape="1">
          <a:blip r:embed="rId10" cstate="print">
            <a:extLst>
              <a:ext uri="{28A0092B-C50C-407E-A947-70E740481C1C}">
                <a14:useLocalDpi xmlns:a14="http://schemas.microsoft.com/office/drawing/2010/main" val="0"/>
              </a:ext>
            </a:extLst>
          </a:blip>
          <a:srcRect t="4644"/>
          <a:stretch>
            <a:fillRect/>
          </a:stretch>
        </p:blipFill>
        <p:spPr bwMode="auto">
          <a:xfrm>
            <a:off x="5878195" y="3832225"/>
            <a:ext cx="2794635" cy="1908810"/>
          </a:xfrm>
          <a:prstGeom prst="rect">
            <a:avLst/>
          </a:prstGeom>
          <a:noFill/>
          <a:ln>
            <a:noFill/>
          </a:ln>
        </p:spPr>
      </p:pic>
      <p:pic>
        <p:nvPicPr>
          <p:cNvPr id="72" name="图片 7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039225" y="3966210"/>
            <a:ext cx="2708910" cy="1738630"/>
          </a:xfrm>
          <a:prstGeom prst="rect">
            <a:avLst/>
          </a:prstGeom>
          <a:noFill/>
        </p:spPr>
      </p:pic>
      <p:sp>
        <p:nvSpPr>
          <p:cNvPr id="13" name="文本框 11"/>
          <p:cNvSpPr txBox="1"/>
          <p:nvPr/>
        </p:nvSpPr>
        <p:spPr>
          <a:xfrm>
            <a:off x="55880" y="1936115"/>
            <a:ext cx="12089130" cy="829945"/>
          </a:xfrm>
          <a:prstGeom prst="rect">
            <a:avLst/>
          </a:prstGeom>
          <a:noFill/>
        </p:spPr>
        <p:txBody>
          <a:bodyPr wrap="square">
            <a:spAutoFit/>
          </a:bodyPr>
          <a:lstStyle/>
          <a:p>
            <a:pPr marL="342900" indent="-342900" algn="just">
              <a:lnSpc>
                <a:spcPct val="120000"/>
              </a:lnSpc>
              <a:buFont typeface="Wingdings" panose="05000000000000000000" charset="0"/>
              <a:buChar char="u"/>
            </a:pPr>
            <a:r>
              <a:rPr lang="zh-CN" altLang="en-US" sz="2000" b="1" dirty="0">
                <a:solidFill>
                  <a:srgbClr val="ED7D31"/>
                </a:solidFill>
                <a:latin typeface="微软雅黑" panose="020B0503020204020204" pitchFamily="34" charset="-122"/>
                <a:ea typeface="微软雅黑" panose="020B0503020204020204" pitchFamily="34" charset="-122"/>
                <a:cs typeface="Times New Roman" panose="02020603050405020304" pitchFamily="18" charset="0"/>
              </a:rPr>
              <a:t>电化学阻抗谱检测</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通过在电极施加小幅正弦激励，测量不同频率下的阻抗幅值与相位变化，揭示电池内部的电化学反应特征。该方法</a:t>
            </a:r>
            <a:r>
              <a:rPr lang="zh-CN" altLang="en-US" sz="2000" b="1" dirty="0">
                <a:solidFill>
                  <a:srgbClr val="ED7D31"/>
                </a:solidFill>
                <a:latin typeface="微软雅黑" panose="020B0503020204020204" pitchFamily="34" charset="-122"/>
                <a:ea typeface="微软雅黑" panose="020B0503020204020204" pitchFamily="34" charset="-122"/>
                <a:cs typeface="Times New Roman" panose="02020603050405020304" pitchFamily="18" charset="0"/>
              </a:rPr>
              <a:t>检测范围广、信息量丰富、精度高，</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能够实现电池状态的快速准确识别。</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000" fill="hold">
                                          <p:stCondLst>
                                            <p:cond delay="0"/>
                                          </p:stCondLst>
                                        </p:cTn>
                                        <p:tgtEl>
                                          <p:spTgt spid="1048654"/>
                                        </p:tgtEl>
                                        <p:attrNameLst>
                                          <p:attrName>style.visibility</p:attrName>
                                        </p:attrNameLst>
                                      </p:cBhvr>
                                      <p:to>
                                        <p:strVal val="visible"/>
                                      </p:to>
                                    </p:set>
                                    <p:anim calcmode="lin" valueType="num">
                                      <p:cBhvr additive="base">
                                        <p:cTn id="7" dur="1000" fill="hold"/>
                                        <p:tgtEl>
                                          <p:spTgt spid="1048654"/>
                                        </p:tgtEl>
                                        <p:attrNameLst>
                                          <p:attrName>ppt_x</p:attrName>
                                        </p:attrNameLst>
                                      </p:cBhvr>
                                      <p:tavLst>
                                        <p:tav tm="0">
                                          <p:val>
                                            <p:strVal val="#ppt_x"/>
                                          </p:val>
                                        </p:tav>
                                        <p:tav tm="100000">
                                          <p:val>
                                            <p:strVal val="#ppt_x"/>
                                          </p:val>
                                        </p:tav>
                                      </p:tavLst>
                                    </p:anim>
                                    <p:anim calcmode="lin" valueType="num">
                                      <p:cBhvr additive="base">
                                        <p:cTn id="8" dur="1000" fill="hold"/>
                                        <p:tgtEl>
                                          <p:spTgt spid="104865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000" fill="hold">
                                          <p:stCondLst>
                                            <p:cond delay="0"/>
                                          </p:stCondLst>
                                        </p:cTn>
                                        <p:tgtEl>
                                          <p:spTgt spid="1048672"/>
                                        </p:tgtEl>
                                        <p:attrNameLst>
                                          <p:attrName>style.visibility</p:attrName>
                                        </p:attrNameLst>
                                      </p:cBhvr>
                                      <p:to>
                                        <p:strVal val="visible"/>
                                      </p:to>
                                    </p:set>
                                    <p:anim calcmode="lin" valueType="num">
                                      <p:cBhvr additive="base">
                                        <p:cTn id="11" dur="1000" fill="hold"/>
                                        <p:tgtEl>
                                          <p:spTgt spid="1048672"/>
                                        </p:tgtEl>
                                        <p:attrNameLst>
                                          <p:attrName>ppt_x</p:attrName>
                                        </p:attrNameLst>
                                      </p:cBhvr>
                                      <p:tavLst>
                                        <p:tav tm="0">
                                          <p:val>
                                            <p:strVal val="#ppt_x"/>
                                          </p:val>
                                        </p:tav>
                                        <p:tav tm="100000">
                                          <p:val>
                                            <p:strVal val="#ppt_x"/>
                                          </p:val>
                                        </p:tav>
                                      </p:tavLst>
                                    </p:anim>
                                    <p:anim calcmode="lin" valueType="num">
                                      <p:cBhvr additive="base">
                                        <p:cTn id="12" dur="1000" fill="hold"/>
                                        <p:tgtEl>
                                          <p:spTgt spid="104867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48655"/>
                                        </p:tgtEl>
                                        <p:attrNameLst>
                                          <p:attrName>style.visibility</p:attrName>
                                        </p:attrNameLst>
                                      </p:cBhvr>
                                      <p:to>
                                        <p:strVal val="visible"/>
                                      </p:to>
                                    </p:set>
                                    <p:anim calcmode="lin" valueType="num">
                                      <p:cBhvr additive="base">
                                        <p:cTn id="15" dur="500" fill="hold"/>
                                        <p:tgtEl>
                                          <p:spTgt spid="1048655"/>
                                        </p:tgtEl>
                                        <p:attrNameLst>
                                          <p:attrName>ppt_x</p:attrName>
                                        </p:attrNameLst>
                                      </p:cBhvr>
                                      <p:tavLst>
                                        <p:tav tm="0">
                                          <p:val>
                                            <p:strVal val="#ppt_x"/>
                                          </p:val>
                                        </p:tav>
                                        <p:tav tm="100000">
                                          <p:val>
                                            <p:strVal val="#ppt_x"/>
                                          </p:val>
                                        </p:tav>
                                      </p:tavLst>
                                    </p:anim>
                                    <p:anim calcmode="lin" valueType="num">
                                      <p:cBhvr additive="base">
                                        <p:cTn id="16" dur="500" fill="hold"/>
                                        <p:tgtEl>
                                          <p:spTgt spid="1048655"/>
                                        </p:tgtEl>
                                        <p:attrNameLst>
                                          <p:attrName>ppt_y</p:attrName>
                                        </p:attrNameLst>
                                      </p:cBhvr>
                                      <p:tavLst>
                                        <p:tav tm="0">
                                          <p:val>
                                            <p:strVal val="1+#ppt_h/2"/>
                                          </p:val>
                                        </p:tav>
                                        <p:tav tm="100000">
                                          <p:val>
                                            <p:strVal val="#ppt_y"/>
                                          </p:val>
                                        </p:tav>
                                      </p:tavLst>
                                    </p:anim>
                                  </p:childTnLst>
                                </p:cTn>
                              </p:par>
                              <p:par>
                                <p:cTn id="17" presetID="10" presetClass="entr" presetSubtype="0" fill="hold" grpId="0" nodeType="withEffect">
                                  <p:stCondLst>
                                    <p:cond delay="0"/>
                                  </p:stCondLst>
                                  <p:childTnLst>
                                    <p:set>
                                      <p:cBhvr>
                                        <p:cTn id="18" dur="1" fill="hold">
                                          <p:stCondLst>
                                            <p:cond delay="0"/>
                                          </p:stCondLst>
                                        </p:cTn>
                                        <p:tgtEl>
                                          <p:spTgt spid="1048652"/>
                                        </p:tgtEl>
                                        <p:attrNameLst>
                                          <p:attrName>style.visibility</p:attrName>
                                        </p:attrNameLst>
                                      </p:cBhvr>
                                      <p:to>
                                        <p:strVal val="visible"/>
                                      </p:to>
                                    </p:set>
                                    <p:animEffect transition="in" filter="fade">
                                      <p:cBhvr>
                                        <p:cTn id="19" dur="500"/>
                                        <p:tgtEl>
                                          <p:spTgt spid="104865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48653"/>
                                        </p:tgtEl>
                                        <p:attrNameLst>
                                          <p:attrName>style.visibility</p:attrName>
                                        </p:attrNameLst>
                                      </p:cBhvr>
                                      <p:to>
                                        <p:strVal val="visible"/>
                                      </p:to>
                                    </p:set>
                                    <p:animEffect transition="in" filter="fade">
                                      <p:cBhvr>
                                        <p:cTn id="22" dur="500"/>
                                        <p:tgtEl>
                                          <p:spTgt spid="1048653"/>
                                        </p:tgtEl>
                                      </p:cBhvr>
                                    </p:animEffect>
                                  </p:childTnLst>
                                </p:cTn>
                              </p:par>
                            </p:childTnLst>
                          </p:cTn>
                        </p:par>
                        <p:par>
                          <p:cTn id="23" fill="hold">
                            <p:stCondLst>
                              <p:cond delay="1000"/>
                            </p:stCondLst>
                            <p:childTnLst>
                              <p:par>
                                <p:cTn id="24" presetID="10" presetClass="entr" presetSubtype="0" fill="hold" grpId="0" nodeType="afterEffect">
                                  <p:stCondLst>
                                    <p:cond delay="0"/>
                                  </p:stCondLst>
                                  <p:childTnLst>
                                    <p:set>
                                      <p:cBhvr>
                                        <p:cTn id="25" dur="1" fill="hold">
                                          <p:stCondLst>
                                            <p:cond delay="0"/>
                                          </p:stCondLst>
                                        </p:cTn>
                                        <p:tgtEl>
                                          <p:spTgt spid="1048659"/>
                                        </p:tgtEl>
                                        <p:attrNameLst>
                                          <p:attrName>style.visibility</p:attrName>
                                        </p:attrNameLst>
                                      </p:cBhvr>
                                      <p:to>
                                        <p:strVal val="visible"/>
                                      </p:to>
                                    </p:set>
                                    <p:animEffect transition="in" filter="fade">
                                      <p:cBhvr>
                                        <p:cTn id="26" dur="500"/>
                                        <p:tgtEl>
                                          <p:spTgt spid="1048659"/>
                                        </p:tgtEl>
                                      </p:cBhvr>
                                    </p:animEffect>
                                  </p:childTnLst>
                                </p:cTn>
                              </p:par>
                            </p:childTnLst>
                          </p:cTn>
                        </p:par>
                        <p:par>
                          <p:cTn id="27" fill="hold">
                            <p:stCondLst>
                              <p:cond delay="1500"/>
                            </p:stCondLst>
                            <p:childTnLst>
                              <p:par>
                                <p:cTn id="28" presetID="6" presetClass="entr" presetSubtype="16" fill="hold" grpId="0" nodeType="afterEffect">
                                  <p:stCondLst>
                                    <p:cond delay="0"/>
                                  </p:stCondLst>
                                  <p:childTnLst>
                                    <p:set>
                                      <p:cBhvr>
                                        <p:cTn id="29" dur="1" fill="hold">
                                          <p:stCondLst>
                                            <p:cond delay="0"/>
                                          </p:stCondLst>
                                        </p:cTn>
                                        <p:tgtEl>
                                          <p:spTgt spid="1048660"/>
                                        </p:tgtEl>
                                        <p:attrNameLst>
                                          <p:attrName>style.visibility</p:attrName>
                                        </p:attrNameLst>
                                      </p:cBhvr>
                                      <p:to>
                                        <p:strVal val="visible"/>
                                      </p:to>
                                    </p:set>
                                    <p:animEffect transition="in" filter="circle(in)">
                                      <p:cBhvr>
                                        <p:cTn id="30" dur="500"/>
                                        <p:tgtEl>
                                          <p:spTgt spid="1048660"/>
                                        </p:tgtEl>
                                      </p:cBhvr>
                                    </p:animEffect>
                                  </p:childTnLst>
                                </p:cTn>
                              </p:par>
                            </p:childTnLst>
                          </p:cTn>
                        </p:par>
                        <p:par>
                          <p:cTn id="31" fill="hold">
                            <p:stCondLst>
                              <p:cond delay="2000"/>
                            </p:stCondLst>
                            <p:childTnLst>
                              <p:par>
                                <p:cTn id="32" presetID="10" presetClass="entr" presetSubtype="0" fill="hold" grpId="0" nodeType="afterEffect">
                                  <p:stCondLst>
                                    <p:cond delay="0"/>
                                  </p:stCondLst>
                                  <p:childTnLst>
                                    <p:set>
                                      <p:cBhvr>
                                        <p:cTn id="33" dur="1" fill="hold">
                                          <p:stCondLst>
                                            <p:cond delay="0"/>
                                          </p:stCondLst>
                                        </p:cTn>
                                        <p:tgtEl>
                                          <p:spTgt spid="1048651"/>
                                        </p:tgtEl>
                                        <p:attrNameLst>
                                          <p:attrName>style.visibility</p:attrName>
                                        </p:attrNameLst>
                                      </p:cBhvr>
                                      <p:to>
                                        <p:strVal val="visible"/>
                                      </p:to>
                                    </p:set>
                                    <p:animEffect transition="in" filter="fade">
                                      <p:cBhvr>
                                        <p:cTn id="34" dur="500"/>
                                        <p:tgtEl>
                                          <p:spTgt spid="1048651"/>
                                        </p:tgtEl>
                                      </p:cBhvr>
                                    </p:animEffect>
                                  </p:childTnLst>
                                </p:cTn>
                              </p:par>
                              <p:par>
                                <p:cTn id="35" presetID="10" presetClass="entr" presetSubtype="0" fill="hold" nodeType="with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fade">
                                      <p:cBhvr>
                                        <p:cTn id="37" dur="500"/>
                                        <p:tgtEl>
                                          <p:spTgt spid="71"/>
                                        </p:tgtEl>
                                      </p:cBhvr>
                                    </p:animEffect>
                                  </p:childTnLst>
                                </p:cTn>
                              </p:par>
                              <p:par>
                                <p:cTn id="38" presetID="10" presetClass="entr" presetSubtype="0" fill="hold" nodeType="withEffect">
                                  <p:stCondLst>
                                    <p:cond delay="0"/>
                                  </p:stCondLst>
                                  <p:childTnLst>
                                    <p:set>
                                      <p:cBhvr>
                                        <p:cTn id="39" dur="1" fill="hold">
                                          <p:stCondLst>
                                            <p:cond delay="0"/>
                                          </p:stCondLst>
                                        </p:cTn>
                                        <p:tgtEl>
                                          <p:spTgt spid="72"/>
                                        </p:tgtEl>
                                        <p:attrNameLst>
                                          <p:attrName>style.visibility</p:attrName>
                                        </p:attrNameLst>
                                      </p:cBhvr>
                                      <p:to>
                                        <p:strVal val="visible"/>
                                      </p:to>
                                    </p:set>
                                    <p:animEffect transition="in" filter="fade">
                                      <p:cBhvr>
                                        <p:cTn id="40" dur="500"/>
                                        <p:tgtEl>
                                          <p:spTgt spid="72"/>
                                        </p:tgtEl>
                                      </p:cBhvr>
                                    </p:animEffect>
                                  </p:childTnLst>
                                </p:cTn>
                              </p:par>
                              <p:par>
                                <p:cTn id="41" presetID="2" presetClass="entr" presetSubtype="4" fill="hold" grpId="0" nodeType="withEffect">
                                  <p:stCondLst>
                                    <p:cond delay="0"/>
                                  </p:stCondLst>
                                  <p:childTnLst>
                                    <p:set>
                                      <p:cBhvr>
                                        <p:cTn id="42" dur="1000" fill="hold">
                                          <p:stCondLst>
                                            <p:cond delay="0"/>
                                          </p:stCondLst>
                                        </p:cTn>
                                        <p:tgtEl>
                                          <p:spTgt spid="13"/>
                                        </p:tgtEl>
                                        <p:attrNameLst>
                                          <p:attrName>style.visibility</p:attrName>
                                        </p:attrNameLst>
                                      </p:cBhvr>
                                      <p:to>
                                        <p:strVal val="visible"/>
                                      </p:to>
                                    </p:set>
                                    <p:anim calcmode="lin" valueType="num">
                                      <p:cBhvr additive="base">
                                        <p:cTn id="43" dur="1000" fill="hold"/>
                                        <p:tgtEl>
                                          <p:spTgt spid="13"/>
                                        </p:tgtEl>
                                        <p:attrNameLst>
                                          <p:attrName>ppt_x</p:attrName>
                                        </p:attrNameLst>
                                      </p:cBhvr>
                                      <p:tavLst>
                                        <p:tav tm="0">
                                          <p:val>
                                            <p:strVal val="#ppt_x"/>
                                          </p:val>
                                        </p:tav>
                                        <p:tav tm="100000">
                                          <p:val>
                                            <p:strVal val="#ppt_x"/>
                                          </p:val>
                                        </p:tav>
                                      </p:tavLst>
                                    </p:anim>
                                    <p:anim calcmode="lin" valueType="num">
                                      <p:cBhvr additive="base">
                                        <p:cTn id="44" dur="10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51" grpId="0" bldLvl="0" animBg="1"/>
      <p:bldP spid="1048652" grpId="0" bldLvl="0" animBg="1"/>
      <p:bldP spid="1048653" grpId="0" bldLvl="0" animBg="1"/>
      <p:bldP spid="1048654" grpId="0"/>
      <p:bldP spid="1048655" grpId="0"/>
      <p:bldP spid="1048659" grpId="0"/>
      <p:bldP spid="1048660" grpId="0" bldLvl="0" animBg="1"/>
      <p:bldP spid="1048672" grpId="0" bldLvl="0" animBg="1"/>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7330" y="1003935"/>
            <a:ext cx="11468100" cy="5744845"/>
          </a:xfrm>
          <a:prstGeom prst="rect">
            <a:avLst/>
          </a:prstGeom>
          <a:noFill/>
          <a:ln w="38100">
            <a:solidFill>
              <a:srgbClr val="1B69B4"/>
            </a:solidFill>
            <a:prstDash val="dash"/>
          </a:ln>
          <a:effectLst>
            <a:outerShdw blurRad="63500" sx="102000" sy="102000" algn="ctr" rotWithShape="0">
              <a:srgbClr val="1B69B4">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bwMode="auto">
          <a:xfrm>
            <a:off x="370657" y="659200"/>
            <a:ext cx="4164223" cy="45650"/>
          </a:xfrm>
          <a:prstGeom prst="rect">
            <a:avLst/>
          </a:prstGeom>
          <a:gradFill flip="none" rotWithShape="1">
            <a:gsLst>
              <a:gs pos="100000">
                <a:schemeClr val="bg1">
                  <a:alpha val="0"/>
                </a:schemeClr>
              </a:gs>
              <a:gs pos="4000">
                <a:srgbClr val="1B69B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1B69B4"/>
              </a:solidFill>
            </a:endParaRPr>
          </a:p>
        </p:txBody>
      </p:sp>
      <p:sp>
        <p:nvSpPr>
          <p:cNvPr id="8" name="文本框 7"/>
          <p:cNvSpPr txBox="1"/>
          <p:nvPr>
            <p:custDataLst>
              <p:tags r:id="rId1"/>
            </p:custDataLst>
          </p:nvPr>
        </p:nvSpPr>
        <p:spPr>
          <a:xfrm>
            <a:off x="7637321" y="5877187"/>
            <a:ext cx="2722880" cy="398780"/>
          </a:xfrm>
          <a:prstGeom prst="rect">
            <a:avLst/>
          </a:prstGeom>
          <a:noFill/>
        </p:spPr>
        <p:txBody>
          <a:bodyPr wrap="none" rtlCol="0">
            <a:spAutoFit/>
          </a:bodyPr>
          <a:lstStyle/>
          <a:p>
            <a:pPr algn="ctr"/>
            <a:r>
              <a:rPr lang="zh-CN" altLang="en-US" sz="2000" b="1" dirty="0">
                <a:solidFill>
                  <a:srgbClr val="ED7D31"/>
                </a:solidFill>
                <a:latin typeface="微软雅黑" panose="020B0503020204020204" pitchFamily="34" charset="-122"/>
                <a:ea typeface="微软雅黑" panose="020B0503020204020204" pitchFamily="34" charset="-122"/>
                <a:cs typeface="Times New Roman" panose="02020603050405020304" pitchFamily="18" charset="0"/>
              </a:rPr>
              <a:t>电化学阻抗谱</a:t>
            </a:r>
            <a:r>
              <a:rPr lang="zh-CN" altLang="en-US" sz="20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测试平台</a:t>
            </a:r>
          </a:p>
        </p:txBody>
      </p:sp>
      <p:sp>
        <p:nvSpPr>
          <p:cNvPr id="9" name="矩形 8"/>
          <p:cNvSpPr/>
          <p:nvPr>
            <p:custDataLst>
              <p:tags r:id="rId2"/>
            </p:custDataLst>
          </p:nvPr>
        </p:nvSpPr>
        <p:spPr>
          <a:xfrm>
            <a:off x="1199808" y="5877146"/>
            <a:ext cx="3114816" cy="398780"/>
          </a:xfrm>
          <a:prstGeom prst="rect">
            <a:avLst/>
          </a:prstGeom>
        </p:spPr>
        <p:txBody>
          <a:bodyPr wrap="square">
            <a:spAutoFit/>
          </a:bodyPr>
          <a:lstStyle/>
          <a:p>
            <a:pPr algn="ctr"/>
            <a:r>
              <a:rPr lang="zh-CN" altLang="en-US" sz="20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电池</a:t>
            </a:r>
            <a:r>
              <a:rPr lang="zh-CN" altLang="en-US" sz="2000" b="1" dirty="0">
                <a:solidFill>
                  <a:srgbClr val="ED7D31"/>
                </a:solidFill>
                <a:latin typeface="微软雅黑" panose="020B0503020204020204" pitchFamily="34" charset="-122"/>
                <a:ea typeface="微软雅黑" panose="020B0503020204020204" pitchFamily="34" charset="-122"/>
                <a:cs typeface="Times New Roman" panose="02020603050405020304" pitchFamily="18" charset="0"/>
              </a:rPr>
              <a:t>充放电</a:t>
            </a:r>
            <a:r>
              <a:rPr lang="zh-CN" altLang="en-US" sz="20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实验平台</a:t>
            </a:r>
          </a:p>
        </p:txBody>
      </p:sp>
      <p:pic>
        <p:nvPicPr>
          <p:cNvPr id="13" name="图片 12" descr="C:\Users\dell\Documents\Tencent Files\530222348\Image\C2C\530222348-1684691661-CD54DDA70982D501D8A9DECB4EB52BD2.JPG"/>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551180" y="1442085"/>
            <a:ext cx="5259705" cy="3974465"/>
          </a:xfrm>
          <a:prstGeom prst="rect">
            <a:avLst/>
          </a:prstGeom>
          <a:noFill/>
          <a:ln>
            <a:noFill/>
          </a:ln>
        </p:spPr>
      </p:pic>
      <p:pic>
        <p:nvPicPr>
          <p:cNvPr id="14" name="图片 13"/>
          <p:cNvPicPr>
            <a:picLocks noChangeAspect="1"/>
          </p:cNvPicPr>
          <p:nvPr>
            <p:custDataLst>
              <p:tags r:id="rId4"/>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6168390" y="1442720"/>
            <a:ext cx="5300345" cy="3973830"/>
          </a:xfrm>
          <a:prstGeom prst="rect">
            <a:avLst/>
          </a:prstGeom>
          <a:noFill/>
        </p:spPr>
      </p:pic>
      <p:sp>
        <p:nvSpPr>
          <p:cNvPr id="29" name="矩形: 圆角 28"/>
          <p:cNvSpPr/>
          <p:nvPr/>
        </p:nvSpPr>
        <p:spPr>
          <a:xfrm>
            <a:off x="5037399" y="836969"/>
            <a:ext cx="2117203" cy="341202"/>
          </a:xfrm>
          <a:prstGeom prst="roundRect">
            <a:avLst/>
          </a:prstGeom>
          <a:solidFill>
            <a:srgbClr val="1B69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实验设备与平台</a:t>
            </a:r>
          </a:p>
        </p:txBody>
      </p:sp>
      <p:sp>
        <p:nvSpPr>
          <p:cNvPr id="30" name="矩形 65"/>
          <p:cNvSpPr>
            <a:spLocks noChangeArrowheads="1"/>
          </p:cNvSpPr>
          <p:nvPr/>
        </p:nvSpPr>
        <p:spPr bwMode="auto">
          <a:xfrm>
            <a:off x="268288" y="103188"/>
            <a:ext cx="7051848" cy="583565"/>
          </a:xfrm>
          <a:prstGeom prst="rect">
            <a:avLst/>
          </a:prstGeom>
          <a:no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685800" eaLnBrk="1" fontAlgn="auto" hangingPunct="1">
              <a:spcBef>
                <a:spcPct val="0"/>
              </a:spcBef>
              <a:spcAft>
                <a:spcPts val="0"/>
              </a:spcAft>
              <a:buFont typeface="Arial" panose="020B0604020202020204" pitchFamily="34" charset="0"/>
              <a:buNone/>
              <a:defRPr/>
            </a:pPr>
            <a:r>
              <a:rPr lang="en-US" altLang="zh-CN" b="1" spc="300" dirty="0">
                <a:ln w="6350">
                  <a:noFill/>
                </a:ln>
                <a:solidFill>
                  <a:srgbClr val="1B69B4"/>
                </a:solidFill>
                <a:latin typeface="微软雅黑" panose="020B0503020204020204" pitchFamily="34" charset="-122"/>
                <a:ea typeface="微软雅黑" panose="020B0503020204020204" pitchFamily="34" charset="-122"/>
              </a:rPr>
              <a:t>07</a:t>
            </a:r>
            <a:r>
              <a:rPr lang="zh-CN" altLang="en-US" b="1" spc="300" dirty="0">
                <a:ln w="6350">
                  <a:noFill/>
                </a:ln>
                <a:solidFill>
                  <a:srgbClr val="1B69B4"/>
                </a:solidFill>
                <a:latin typeface="微软雅黑" panose="020B0503020204020204" pitchFamily="34" charset="-122"/>
                <a:ea typeface="微软雅黑" panose="020B0503020204020204" pitchFamily="34" charset="-122"/>
              </a:rPr>
              <a:t>研究进展 </a:t>
            </a:r>
            <a:r>
              <a:rPr lang="zh-CN" altLang="en-US" sz="2000" b="1" spc="300" dirty="0">
                <a:ln w="6350">
                  <a:noFill/>
                </a:ln>
                <a:solidFill>
                  <a:srgbClr val="1B69B4"/>
                </a:solidFill>
                <a:latin typeface="微软雅黑" panose="020B0503020204020204" pitchFamily="34" charset="-122"/>
                <a:ea typeface="微软雅黑" panose="020B0503020204020204" pitchFamily="34" charset="-122"/>
              </a:rPr>
              <a:t>离线实验平台构建</a:t>
            </a:r>
            <a:endParaRPr lang="zh-CN" altLang="en-US" b="1" spc="300" dirty="0">
              <a:ln w="6350">
                <a:noFill/>
              </a:ln>
              <a:solidFill>
                <a:srgbClr val="1B69B4"/>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bwMode="auto">
          <a:xfrm>
            <a:off x="370657" y="659200"/>
            <a:ext cx="4164223" cy="45650"/>
          </a:xfrm>
          <a:prstGeom prst="rect">
            <a:avLst/>
          </a:prstGeom>
          <a:gradFill flip="none" rotWithShape="1">
            <a:gsLst>
              <a:gs pos="100000">
                <a:schemeClr val="bg1">
                  <a:alpha val="0"/>
                </a:schemeClr>
              </a:gs>
              <a:gs pos="4000">
                <a:srgbClr val="1B69B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1B69B4"/>
              </a:solidFill>
            </a:endParaRPr>
          </a:p>
        </p:txBody>
      </p:sp>
      <p:sp>
        <p:nvSpPr>
          <p:cNvPr id="7" name="文本框 6"/>
          <p:cNvSpPr txBox="1"/>
          <p:nvPr/>
        </p:nvSpPr>
        <p:spPr>
          <a:xfrm>
            <a:off x="839470" y="4365625"/>
            <a:ext cx="4241800" cy="1565910"/>
          </a:xfrm>
          <a:prstGeom prst="rect">
            <a:avLst/>
          </a:prstGeom>
          <a:noFill/>
        </p:spPr>
        <p:txBody>
          <a:bodyPr wrap="square" rtlCol="0">
            <a:spAutoFit/>
          </a:bodyPr>
          <a:lstStyle/>
          <a:p>
            <a:pPr marL="285750" indent="-285750" algn="just">
              <a:lnSpc>
                <a:spcPct val="120000"/>
              </a:lnSpc>
              <a:buFont typeface="Wingdings" panose="05000000000000000000" pitchFamily="2" charset="2"/>
              <a:buChar char="p"/>
            </a:pPr>
            <a:r>
              <a:rPr lang="zh-CN" altLang="en-US"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实验样品选用松下公司的</a:t>
            </a:r>
            <a:r>
              <a:rPr lang="en-US" altLang="zh-CN" sz="1600" b="1" dirty="0">
                <a:solidFill>
                  <a:srgbClr val="ED7D31"/>
                </a:solidFill>
                <a:latin typeface="微软雅黑" panose="020B0503020204020204" pitchFamily="34" charset="-122"/>
                <a:ea typeface="微软雅黑" panose="020B0503020204020204" pitchFamily="34" charset="-122"/>
                <a:cs typeface="Times New Roman" panose="02020603050405020304" pitchFamily="18" charset="0"/>
              </a:rPr>
              <a:t>NCR18650GA</a:t>
            </a:r>
            <a:r>
              <a:rPr lang="zh-CN" altLang="en-US"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电池</a:t>
            </a:r>
            <a:endParaRPr lang="en-US" altLang="zh-CN"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120000"/>
              </a:lnSpc>
              <a:buFont typeface="Wingdings" panose="05000000000000000000" pitchFamily="2" charset="2"/>
              <a:buChar char="p"/>
            </a:pPr>
            <a:r>
              <a:rPr lang="zh-CN" altLang="en-US"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电池标称容量</a:t>
            </a:r>
            <a:r>
              <a:rPr lang="en-US" altLang="zh-CN"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3300mAh</a:t>
            </a:r>
            <a:r>
              <a:rPr lang="zh-CN" altLang="en-US"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，充电截止电压</a:t>
            </a:r>
            <a:r>
              <a:rPr lang="en-US" altLang="zh-CN"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4.20V</a:t>
            </a:r>
            <a:r>
              <a:rPr lang="zh-CN" altLang="en-US"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，放电截止电压</a:t>
            </a:r>
            <a:r>
              <a:rPr lang="en-US" altLang="zh-CN"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2.50V</a:t>
            </a:r>
            <a:r>
              <a:rPr lang="zh-CN" altLang="en-US"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，最大持续放电电流</a:t>
            </a:r>
            <a:r>
              <a:rPr lang="en-US" altLang="zh-CN"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10A</a:t>
            </a:r>
            <a:endParaRPr lang="zh-CN" altLang="en-US"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矩形 10"/>
          <p:cNvSpPr/>
          <p:nvPr/>
        </p:nvSpPr>
        <p:spPr>
          <a:xfrm>
            <a:off x="1991429" y="3717154"/>
            <a:ext cx="1946367" cy="307777"/>
          </a:xfrm>
          <a:prstGeom prst="rect">
            <a:avLst/>
          </a:prstGeom>
        </p:spPr>
        <p:txBody>
          <a:bodyPr wrap="none">
            <a:spAutoFit/>
          </a:bodyPr>
          <a:lstStyle/>
          <a:p>
            <a:pPr algn="ctr"/>
            <a:r>
              <a:rPr lang="en-US" altLang="zh-CN" sz="1400" b="1" dirty="0">
                <a:solidFill>
                  <a:srgbClr val="ED7D31"/>
                </a:solidFill>
                <a:latin typeface="微软雅黑" panose="020B0503020204020204" pitchFamily="34" charset="-122"/>
                <a:ea typeface="微软雅黑" panose="020B0503020204020204" pitchFamily="34" charset="-122"/>
                <a:cs typeface="Times New Roman" panose="02020603050405020304" pitchFamily="18" charset="0"/>
              </a:rPr>
              <a:t>NCR18650GA</a:t>
            </a:r>
            <a:r>
              <a:rPr lang="zh-CN" altLang="en-US" sz="14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锂电池</a:t>
            </a:r>
          </a:p>
        </p:txBody>
      </p:sp>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l="14257" t="3022" r="8744"/>
          <a:stretch>
            <a:fillRect/>
          </a:stretch>
        </p:blipFill>
        <p:spPr>
          <a:xfrm>
            <a:off x="767656" y="1622474"/>
            <a:ext cx="1800000" cy="1699597"/>
          </a:xfrm>
          <a:prstGeom prst="rect">
            <a:avLst/>
          </a:prstGeom>
          <a:effectLst>
            <a:outerShdw blurRad="63500" sx="102000" sy="102000" algn="ctr" rotWithShape="0">
              <a:srgbClr val="1B69B4">
                <a:alpha val="40000"/>
              </a:srgbClr>
            </a:outerShdw>
          </a:effectLst>
        </p:spPr>
      </p:pic>
      <p:sp>
        <p:nvSpPr>
          <p:cNvPr id="17" name="矩形 16"/>
          <p:cNvSpPr/>
          <p:nvPr/>
        </p:nvSpPr>
        <p:spPr>
          <a:xfrm>
            <a:off x="7392069" y="1608228"/>
            <a:ext cx="2722880" cy="398780"/>
          </a:xfrm>
          <a:prstGeom prst="rect">
            <a:avLst/>
          </a:prstGeom>
        </p:spPr>
        <p:txBody>
          <a:bodyPr wrap="none">
            <a:spAutoFit/>
          </a:bodyPr>
          <a:lstStyle/>
          <a:p>
            <a:pPr algn="ctr"/>
            <a:r>
              <a:rPr lang="zh-CN" altLang="en-US" sz="20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电池</a:t>
            </a:r>
            <a:r>
              <a:rPr lang="zh-CN" altLang="en-US" sz="2000" b="1" dirty="0">
                <a:solidFill>
                  <a:srgbClr val="ED7D31"/>
                </a:solidFill>
                <a:latin typeface="微软雅黑" panose="020B0503020204020204" pitchFamily="34" charset="-122"/>
                <a:ea typeface="微软雅黑" panose="020B0503020204020204" pitchFamily="34" charset="-122"/>
                <a:cs typeface="Times New Roman" panose="02020603050405020304" pitchFamily="18" charset="0"/>
              </a:rPr>
              <a:t>一致性筛选</a:t>
            </a:r>
            <a:r>
              <a:rPr lang="zh-CN" altLang="en-US" sz="20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预实验</a:t>
            </a:r>
          </a:p>
        </p:txBody>
      </p:sp>
      <p:pic>
        <p:nvPicPr>
          <p:cNvPr id="18" name="图片 17"/>
          <p:cNvPicPr>
            <a:picLocks noChangeAspect="1"/>
          </p:cNvPicPr>
          <p:nvPr/>
        </p:nvPicPr>
        <p:blipFill rotWithShape="1">
          <a:blip r:embed="rId4" cstate="print">
            <a:extLst>
              <a:ext uri="{28A0092B-C50C-407E-A947-70E740481C1C}">
                <a14:useLocalDpi xmlns:a14="http://schemas.microsoft.com/office/drawing/2010/main" val="0"/>
              </a:ext>
            </a:extLst>
          </a:blip>
          <a:srcRect t="-472" b="17636"/>
          <a:stretch>
            <a:fillRect/>
          </a:stretch>
        </p:blipFill>
        <p:spPr>
          <a:xfrm>
            <a:off x="3143885" y="1608455"/>
            <a:ext cx="1865630" cy="1713865"/>
          </a:xfrm>
          <a:prstGeom prst="rect">
            <a:avLst/>
          </a:prstGeom>
          <a:effectLst>
            <a:outerShdw blurRad="63500" sx="102000" sy="102000" algn="ctr" rotWithShape="0">
              <a:srgbClr val="1B69B4">
                <a:alpha val="40000"/>
              </a:srgbClr>
            </a:outerShdw>
          </a:effectLst>
        </p:spPr>
      </p:pic>
      <p:pic>
        <p:nvPicPr>
          <p:cNvPr id="23" name="图片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08345" y="2132965"/>
            <a:ext cx="2103120" cy="3705225"/>
          </a:xfrm>
          <a:prstGeom prst="rect">
            <a:avLst/>
          </a:prstGeom>
        </p:spPr>
      </p:pic>
      <p:sp>
        <p:nvSpPr>
          <p:cNvPr id="31" name="矩形 30"/>
          <p:cNvSpPr/>
          <p:nvPr/>
        </p:nvSpPr>
        <p:spPr>
          <a:xfrm>
            <a:off x="205740" y="1002030"/>
            <a:ext cx="11706860" cy="5744845"/>
          </a:xfrm>
          <a:prstGeom prst="rect">
            <a:avLst/>
          </a:prstGeom>
          <a:noFill/>
          <a:ln w="38100">
            <a:solidFill>
              <a:srgbClr val="1B69B4"/>
            </a:solidFill>
            <a:prstDash val="dash"/>
          </a:ln>
          <a:effectLst>
            <a:outerShdw blurRad="63500" sx="102000" sy="102000" algn="ctr" rotWithShape="0">
              <a:srgbClr val="1B69B4">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圆角 31"/>
          <p:cNvSpPr/>
          <p:nvPr/>
        </p:nvSpPr>
        <p:spPr>
          <a:xfrm>
            <a:off x="4513925" y="835064"/>
            <a:ext cx="3130475" cy="341202"/>
          </a:xfrm>
          <a:prstGeom prst="roundRect">
            <a:avLst/>
          </a:prstGeom>
          <a:solidFill>
            <a:srgbClr val="1B69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主体实验对象</a:t>
            </a:r>
          </a:p>
        </p:txBody>
      </p:sp>
      <p:sp>
        <p:nvSpPr>
          <p:cNvPr id="30" name="矩形 65"/>
          <p:cNvSpPr>
            <a:spLocks noChangeArrowheads="1"/>
          </p:cNvSpPr>
          <p:nvPr/>
        </p:nvSpPr>
        <p:spPr bwMode="auto">
          <a:xfrm>
            <a:off x="268288" y="103188"/>
            <a:ext cx="7051848" cy="583565"/>
          </a:xfrm>
          <a:prstGeom prst="rect">
            <a:avLst/>
          </a:prstGeom>
          <a:no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685800" eaLnBrk="1" fontAlgn="auto" hangingPunct="1">
              <a:spcBef>
                <a:spcPct val="0"/>
              </a:spcBef>
              <a:spcAft>
                <a:spcPts val="0"/>
              </a:spcAft>
              <a:buFont typeface="Arial" panose="020B0604020202020204" pitchFamily="34" charset="0"/>
              <a:buNone/>
              <a:defRPr/>
            </a:pPr>
            <a:r>
              <a:rPr lang="en-US" altLang="zh-CN" b="1" spc="300" dirty="0">
                <a:ln w="6350">
                  <a:noFill/>
                </a:ln>
                <a:solidFill>
                  <a:srgbClr val="1B69B4"/>
                </a:solidFill>
                <a:latin typeface="微软雅黑" panose="020B0503020204020204" pitchFamily="34" charset="-122"/>
                <a:ea typeface="微软雅黑" panose="020B0503020204020204" pitchFamily="34" charset="-122"/>
              </a:rPr>
              <a:t>08</a:t>
            </a:r>
            <a:r>
              <a:rPr lang="zh-CN" altLang="en-US" b="1" spc="300" dirty="0">
                <a:ln w="6350">
                  <a:noFill/>
                </a:ln>
                <a:solidFill>
                  <a:srgbClr val="1B69B4"/>
                </a:solidFill>
                <a:latin typeface="微软雅黑" panose="020B0503020204020204" pitchFamily="34" charset="-122"/>
                <a:ea typeface="微软雅黑" panose="020B0503020204020204" pitchFamily="34" charset="-122"/>
              </a:rPr>
              <a:t>研究进展 </a:t>
            </a:r>
            <a:r>
              <a:rPr lang="zh-CN" altLang="en-US" sz="2000" b="1" spc="300" dirty="0">
                <a:ln w="6350">
                  <a:noFill/>
                </a:ln>
                <a:solidFill>
                  <a:srgbClr val="1B69B4"/>
                </a:solidFill>
                <a:latin typeface="微软雅黑" panose="020B0503020204020204" pitchFamily="34" charset="-122"/>
                <a:ea typeface="微软雅黑" panose="020B0503020204020204" pitchFamily="34" charset="-122"/>
              </a:rPr>
              <a:t>离线实验平台构建</a:t>
            </a:r>
            <a:endParaRPr lang="zh-CN" altLang="en-US" b="1" spc="300" dirty="0">
              <a:ln w="6350">
                <a:noFill/>
              </a:ln>
              <a:solidFill>
                <a:srgbClr val="1B69B4"/>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040370" y="2565400"/>
            <a:ext cx="3872865" cy="2451100"/>
          </a:xfrm>
          <a:prstGeom prst="rect">
            <a:avLst/>
          </a:prstGeom>
          <a:noFill/>
        </p:spPr>
        <p:txBody>
          <a:bodyPr wrap="square" rtlCol="0">
            <a:spAutoFit/>
          </a:bodyPr>
          <a:lstStyle/>
          <a:p>
            <a:pPr marL="285750" indent="-285750" algn="just">
              <a:lnSpc>
                <a:spcPct val="120000"/>
              </a:lnSpc>
              <a:buFont typeface="Wingdings" panose="05000000000000000000" pitchFamily="2" charset="2"/>
              <a:buChar char="p"/>
            </a:pPr>
            <a:r>
              <a:rPr lang="zh-CN" altLang="en-US"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首先以</a:t>
            </a:r>
            <a:r>
              <a:rPr lang="en-US" altLang="zh-CN"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0.5C</a:t>
            </a:r>
            <a:r>
              <a:rPr lang="zh-CN" altLang="en-US"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倍率恒流放电至电压下限，随后静置</a:t>
            </a:r>
            <a:r>
              <a:rPr lang="en-US" altLang="zh-CN"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小时</a:t>
            </a:r>
          </a:p>
          <a:p>
            <a:pPr marL="285750" indent="-285750" algn="just">
              <a:lnSpc>
                <a:spcPct val="120000"/>
              </a:lnSpc>
              <a:buFont typeface="Wingdings" panose="05000000000000000000" pitchFamily="2" charset="2"/>
              <a:buChar char="p"/>
            </a:pPr>
            <a:r>
              <a:rPr lang="zh-CN" altLang="en-US"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接着进行充电阶段，先以</a:t>
            </a:r>
            <a:r>
              <a:rPr lang="en-US" altLang="zh-CN"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0.5C</a:t>
            </a:r>
            <a:r>
              <a:rPr lang="zh-CN" altLang="en-US"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恒流充电至电压上限，再转为</a:t>
            </a:r>
            <a:r>
              <a:rPr lang="en-US" altLang="zh-CN"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4.2V</a:t>
            </a:r>
            <a:r>
              <a:rPr lang="zh-CN" altLang="en-US"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恒压充电直至电流衰减至</a:t>
            </a:r>
            <a:r>
              <a:rPr lang="en-US" altLang="zh-CN"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0.05C</a:t>
            </a:r>
            <a:r>
              <a:rPr lang="zh-CN" altLang="en-US"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以下，并再次静置</a:t>
            </a:r>
            <a:r>
              <a:rPr lang="en-US" altLang="zh-CN"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小时</a:t>
            </a:r>
          </a:p>
          <a:p>
            <a:pPr marL="285750" indent="-285750" algn="just">
              <a:lnSpc>
                <a:spcPct val="120000"/>
              </a:lnSpc>
              <a:buFont typeface="Wingdings" panose="05000000000000000000" pitchFamily="2" charset="2"/>
              <a:buChar char="p"/>
            </a:pPr>
            <a:r>
              <a:rPr lang="zh-CN" altLang="en-US"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以上充放电过程重复进行，当循环次数达到或超过</a:t>
            </a:r>
            <a:r>
              <a:rPr lang="en-US" altLang="zh-CN"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16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次后，测试结束</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bwMode="auto">
          <a:xfrm>
            <a:off x="370657" y="659200"/>
            <a:ext cx="4164223" cy="45650"/>
          </a:xfrm>
          <a:prstGeom prst="rect">
            <a:avLst/>
          </a:prstGeom>
          <a:gradFill flip="none" rotWithShape="1">
            <a:gsLst>
              <a:gs pos="100000">
                <a:schemeClr val="bg1">
                  <a:alpha val="0"/>
                </a:schemeClr>
              </a:gs>
              <a:gs pos="4000">
                <a:srgbClr val="1B69B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1B69B4"/>
              </a:solidFill>
            </a:endParaRPr>
          </a:p>
        </p:txBody>
      </p:sp>
      <p:sp>
        <p:nvSpPr>
          <p:cNvPr id="33" name="矩形 32"/>
          <p:cNvSpPr/>
          <p:nvPr/>
        </p:nvSpPr>
        <p:spPr>
          <a:xfrm>
            <a:off x="266065" y="1005840"/>
            <a:ext cx="11684000" cy="5744845"/>
          </a:xfrm>
          <a:prstGeom prst="rect">
            <a:avLst/>
          </a:prstGeom>
          <a:noFill/>
          <a:ln w="38100">
            <a:solidFill>
              <a:srgbClr val="1B69B4"/>
            </a:solidFill>
            <a:prstDash val="dash"/>
          </a:ln>
          <a:effectLst>
            <a:outerShdw blurRad="63500" sx="102000" sy="102000" algn="ctr" rotWithShape="0">
              <a:srgbClr val="1B69B4">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3"/>
          <p:cNvSpPr/>
          <p:nvPr/>
        </p:nvSpPr>
        <p:spPr>
          <a:xfrm>
            <a:off x="4883710" y="836769"/>
            <a:ext cx="2424580" cy="341202"/>
          </a:xfrm>
          <a:prstGeom prst="roundRect">
            <a:avLst/>
          </a:prstGeom>
          <a:solidFill>
            <a:srgbClr val="1B69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实验方案</a:t>
            </a:r>
          </a:p>
        </p:txBody>
      </p:sp>
      <p:graphicFrame>
        <p:nvGraphicFramePr>
          <p:cNvPr id="36" name="对象 35"/>
          <p:cNvGraphicFramePr>
            <a:graphicFrameLocks noChangeAspect="1"/>
          </p:cNvGraphicFramePr>
          <p:nvPr/>
        </p:nvGraphicFramePr>
        <p:xfrm>
          <a:off x="478790" y="2780665"/>
          <a:ext cx="3829685" cy="2758440"/>
        </p:xfrm>
        <a:graphic>
          <a:graphicData uri="http://schemas.openxmlformats.org/presentationml/2006/ole">
            <mc:AlternateContent xmlns:mc="http://schemas.openxmlformats.org/markup-compatibility/2006">
              <mc:Choice xmlns:v="urn:schemas-microsoft-com:vml" Requires="v">
                <p:oleObj name="Visio" r:id="rId3" imgW="5474970" imgH="2854960" progId="Visio.Drawing.15">
                  <p:embed/>
                </p:oleObj>
              </mc:Choice>
              <mc:Fallback>
                <p:oleObj name="Visio" r:id="rId3" imgW="5474970" imgH="2854960" progId="Visio.Drawing.15">
                  <p:embed/>
                  <p:pic>
                    <p:nvPicPr>
                      <p:cNvPr id="36" name="对象 35"/>
                      <p:cNvPicPr>
                        <a:picLocks noChangeAspect="1" noChangeArrowheads="1"/>
                      </p:cNvPicPr>
                      <p:nvPr/>
                    </p:nvPicPr>
                    <p:blipFill>
                      <a:blip r:embed="rId4"/>
                      <a:srcRect/>
                      <a:stretch>
                        <a:fillRect/>
                      </a:stretch>
                    </p:blipFill>
                    <p:spPr bwMode="auto">
                      <a:xfrm>
                        <a:off x="478790" y="2780665"/>
                        <a:ext cx="3829685" cy="2758440"/>
                      </a:xfrm>
                      <a:prstGeom prst="rect">
                        <a:avLst/>
                      </a:prstGeom>
                      <a:noFill/>
                    </p:spPr>
                  </p:pic>
                </p:oleObj>
              </mc:Fallback>
            </mc:AlternateContent>
          </a:graphicData>
        </a:graphic>
      </p:graphicFrame>
      <p:graphicFrame>
        <p:nvGraphicFramePr>
          <p:cNvPr id="38" name="对象 37"/>
          <p:cNvGraphicFramePr>
            <a:graphicFrameLocks noChangeAspect="1"/>
          </p:cNvGraphicFramePr>
          <p:nvPr/>
        </p:nvGraphicFramePr>
        <p:xfrm>
          <a:off x="4439285" y="2924810"/>
          <a:ext cx="4240530" cy="2456815"/>
        </p:xfrm>
        <a:graphic>
          <a:graphicData uri="http://schemas.openxmlformats.org/presentationml/2006/ole">
            <mc:AlternateContent xmlns:mc="http://schemas.openxmlformats.org/markup-compatibility/2006">
              <mc:Choice xmlns:v="urn:schemas-microsoft-com:vml" Requires="v">
                <p:oleObj name="Visio" r:id="rId5" imgW="3616960" imgH="2098040" progId="Visio.Drawing.15">
                  <p:embed/>
                </p:oleObj>
              </mc:Choice>
              <mc:Fallback>
                <p:oleObj name="Visio" r:id="rId5" imgW="3616960" imgH="2098040" progId="Visio.Drawing.15">
                  <p:embed/>
                  <p:pic>
                    <p:nvPicPr>
                      <p:cNvPr id="38" name="对象 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39285" y="2924810"/>
                        <a:ext cx="4240530" cy="2456815"/>
                      </a:xfrm>
                      <a:prstGeom prst="rect">
                        <a:avLst/>
                      </a:prstGeom>
                      <a:noFill/>
                    </p:spPr>
                  </p:pic>
                </p:oleObj>
              </mc:Fallback>
            </mc:AlternateContent>
          </a:graphicData>
        </a:graphic>
      </p:graphicFrame>
      <p:sp>
        <p:nvSpPr>
          <p:cNvPr id="39" name="矩形 38"/>
          <p:cNvSpPr/>
          <p:nvPr/>
        </p:nvSpPr>
        <p:spPr>
          <a:xfrm>
            <a:off x="838527" y="1988770"/>
            <a:ext cx="1706880" cy="398780"/>
          </a:xfrm>
          <a:prstGeom prst="rect">
            <a:avLst/>
          </a:prstGeom>
        </p:spPr>
        <p:txBody>
          <a:bodyPr wrap="none">
            <a:spAutoFit/>
          </a:bodyPr>
          <a:lstStyle/>
          <a:p>
            <a:pPr algn="ctr"/>
            <a:r>
              <a:rPr lang="zh-CN" altLang="en-US" sz="20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循环老化实验</a:t>
            </a:r>
          </a:p>
        </p:txBody>
      </p:sp>
      <p:sp>
        <p:nvSpPr>
          <p:cNvPr id="40" name="矩形 39"/>
          <p:cNvSpPr/>
          <p:nvPr/>
        </p:nvSpPr>
        <p:spPr>
          <a:xfrm>
            <a:off x="5009346" y="2034158"/>
            <a:ext cx="1706880" cy="398780"/>
          </a:xfrm>
          <a:prstGeom prst="rect">
            <a:avLst/>
          </a:prstGeom>
        </p:spPr>
        <p:txBody>
          <a:bodyPr wrap="none">
            <a:spAutoFit/>
          </a:bodyPr>
          <a:lstStyle/>
          <a:p>
            <a:pPr algn="ctr"/>
            <a:r>
              <a:rPr lang="zh-CN" altLang="en-US" sz="20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阻抗特性测定</a:t>
            </a:r>
          </a:p>
        </p:txBody>
      </p:sp>
      <p:pic>
        <p:nvPicPr>
          <p:cNvPr id="42" name="图片 4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75725" y="3140710"/>
            <a:ext cx="2697480" cy="2123440"/>
          </a:xfrm>
          <a:prstGeom prst="rect">
            <a:avLst/>
          </a:prstGeom>
          <a:noFill/>
          <a:ln>
            <a:noFill/>
          </a:ln>
          <a:effectLst>
            <a:outerShdw blurRad="63500" sx="102000" sy="102000" algn="ctr" rotWithShape="0">
              <a:srgbClr val="1B69B4">
                <a:alpha val="40000"/>
              </a:srgbClr>
            </a:outerShdw>
          </a:effectLst>
        </p:spPr>
      </p:pic>
      <p:sp>
        <p:nvSpPr>
          <p:cNvPr id="43" name="矩形 42"/>
          <p:cNvSpPr/>
          <p:nvPr/>
        </p:nvSpPr>
        <p:spPr>
          <a:xfrm>
            <a:off x="9180195" y="1725930"/>
            <a:ext cx="2448560" cy="1014730"/>
          </a:xfrm>
          <a:prstGeom prst="rect">
            <a:avLst/>
          </a:prstGeom>
        </p:spPr>
        <p:txBody>
          <a:bodyPr wrap="square">
            <a:spAutoFit/>
          </a:bodyPr>
          <a:lstStyle/>
          <a:p>
            <a:pPr algn="ctr"/>
            <a:r>
              <a:rPr lang="zh-CN" altLang="en-US" sz="20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典型</a:t>
            </a:r>
            <a:r>
              <a:rPr lang="zh-CN" altLang="en-US" sz="2000" b="1" dirty="0">
                <a:solidFill>
                  <a:srgbClr val="ED7D31"/>
                </a:solidFill>
                <a:latin typeface="微软雅黑" panose="020B0503020204020204" pitchFamily="34" charset="-122"/>
                <a:ea typeface="微软雅黑" panose="020B0503020204020204" pitchFamily="34" charset="-122"/>
                <a:cs typeface="Times New Roman" panose="02020603050405020304" pitchFamily="18" charset="0"/>
              </a:rPr>
              <a:t>充放电</a:t>
            </a:r>
            <a:endParaRPr lang="en-US" altLang="zh-CN" sz="2000" b="1" dirty="0">
              <a:solidFill>
                <a:srgbClr val="ED7D31"/>
              </a:solidFill>
              <a:latin typeface="微软雅黑" panose="020B0503020204020204" pitchFamily="34" charset="-122"/>
              <a:ea typeface="微软雅黑" panose="020B0503020204020204" pitchFamily="34" charset="-122"/>
              <a:cs typeface="Times New Roman" panose="02020603050405020304" pitchFamily="18" charset="0"/>
            </a:endParaRPr>
          </a:p>
          <a:p>
            <a:pPr algn="ctr"/>
            <a:r>
              <a:rPr lang="zh-CN" altLang="en-US" sz="2000" b="1" dirty="0">
                <a:solidFill>
                  <a:srgbClr val="ED7D31"/>
                </a:solidFill>
                <a:latin typeface="微软雅黑" panose="020B0503020204020204" pitchFamily="34" charset="-122"/>
                <a:ea typeface="微软雅黑" panose="020B0503020204020204" pitchFamily="34" charset="-122"/>
                <a:cs typeface="Times New Roman" panose="02020603050405020304" pitchFamily="18" charset="0"/>
              </a:rPr>
              <a:t>循环</a:t>
            </a:r>
            <a:r>
              <a:rPr lang="zh-CN" altLang="en-US" sz="20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电压电流曲线示意图</a:t>
            </a:r>
          </a:p>
        </p:txBody>
      </p:sp>
      <p:sp>
        <p:nvSpPr>
          <p:cNvPr id="30" name="矩形 65"/>
          <p:cNvSpPr>
            <a:spLocks noChangeArrowheads="1"/>
          </p:cNvSpPr>
          <p:nvPr/>
        </p:nvSpPr>
        <p:spPr bwMode="auto">
          <a:xfrm>
            <a:off x="268288" y="103188"/>
            <a:ext cx="7051848" cy="583565"/>
          </a:xfrm>
          <a:prstGeom prst="rect">
            <a:avLst/>
          </a:prstGeom>
          <a:no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685800" eaLnBrk="1" fontAlgn="auto" hangingPunct="1">
              <a:spcBef>
                <a:spcPct val="0"/>
              </a:spcBef>
              <a:spcAft>
                <a:spcPts val="0"/>
              </a:spcAft>
              <a:buFont typeface="Arial" panose="020B0604020202020204" pitchFamily="34" charset="0"/>
              <a:buNone/>
              <a:defRPr/>
            </a:pPr>
            <a:r>
              <a:rPr lang="en-US" altLang="zh-CN" b="1" spc="300" dirty="0">
                <a:ln w="6350">
                  <a:noFill/>
                </a:ln>
                <a:solidFill>
                  <a:srgbClr val="1B69B4"/>
                </a:solidFill>
                <a:latin typeface="微软雅黑" panose="020B0503020204020204" pitchFamily="34" charset="-122"/>
                <a:ea typeface="微软雅黑" panose="020B0503020204020204" pitchFamily="34" charset="-122"/>
              </a:rPr>
              <a:t>09</a:t>
            </a:r>
            <a:r>
              <a:rPr lang="zh-CN" altLang="en-US" b="1" spc="300" dirty="0">
                <a:ln w="6350">
                  <a:noFill/>
                </a:ln>
                <a:solidFill>
                  <a:srgbClr val="1B69B4"/>
                </a:solidFill>
                <a:latin typeface="微软雅黑" panose="020B0503020204020204" pitchFamily="34" charset="-122"/>
                <a:ea typeface="微软雅黑" panose="020B0503020204020204" pitchFamily="34" charset="-122"/>
              </a:rPr>
              <a:t>研究进展 </a:t>
            </a:r>
            <a:r>
              <a:rPr lang="zh-CN" altLang="en-US" sz="2000" b="1" spc="300" dirty="0">
                <a:ln w="6350">
                  <a:noFill/>
                </a:ln>
                <a:solidFill>
                  <a:srgbClr val="1B69B4"/>
                </a:solidFill>
                <a:latin typeface="微软雅黑" panose="020B0503020204020204" pitchFamily="34" charset="-122"/>
                <a:ea typeface="微软雅黑" panose="020B0503020204020204" pitchFamily="34" charset="-122"/>
              </a:rPr>
              <a:t>离线实验平台构建</a:t>
            </a:r>
            <a:endParaRPr lang="zh-CN" altLang="en-US" b="1" spc="300" dirty="0">
              <a:ln w="6350">
                <a:noFill/>
              </a:ln>
              <a:solidFill>
                <a:srgbClr val="1B69B4"/>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
            <a:extLst>
              <a:ext uri="{FF2B5EF4-FFF2-40B4-BE49-F238E27FC236}">
                <a16:creationId xmlns:a16="http://schemas.microsoft.com/office/drawing/2014/main" id="{27D0D319-B99C-4321-A19F-979B059CAD2E}"/>
              </a:ext>
            </a:extLst>
          </p:cNvPr>
          <p:cNvGrpSpPr/>
          <p:nvPr>
            <p:custDataLst>
              <p:tags r:id="rId1"/>
            </p:custDataLst>
          </p:nvPr>
        </p:nvGrpSpPr>
        <p:grpSpPr>
          <a:xfrm>
            <a:off x="8761108" y="1503198"/>
            <a:ext cx="3233420" cy="4644972"/>
            <a:chOff x="937" y="1839"/>
            <a:chExt cx="5092" cy="6410"/>
          </a:xfrm>
        </p:grpSpPr>
        <p:grpSp>
          <p:nvGrpSpPr>
            <p:cNvPr id="31" name="组合 21">
              <a:extLst>
                <a:ext uri="{FF2B5EF4-FFF2-40B4-BE49-F238E27FC236}">
                  <a16:creationId xmlns:a16="http://schemas.microsoft.com/office/drawing/2014/main" id="{4028AFF4-7F96-4D42-9F97-8AFF3B174B3A}"/>
                </a:ext>
              </a:extLst>
            </p:cNvPr>
            <p:cNvGrpSpPr/>
            <p:nvPr>
              <p:custDataLst>
                <p:tags r:id="rId2"/>
              </p:custDataLst>
            </p:nvPr>
          </p:nvGrpSpPr>
          <p:grpSpPr>
            <a:xfrm>
              <a:off x="937" y="1839"/>
              <a:ext cx="5092" cy="6410"/>
              <a:chOff x="595148" y="1167276"/>
              <a:chExt cx="3233173" cy="4070622"/>
            </a:xfrm>
          </p:grpSpPr>
          <p:sp>
            <p:nvSpPr>
              <p:cNvPr id="32" name="矩形 4">
                <a:extLst>
                  <a:ext uri="{FF2B5EF4-FFF2-40B4-BE49-F238E27FC236}">
                    <a16:creationId xmlns:a16="http://schemas.microsoft.com/office/drawing/2014/main" id="{054A7543-D0B0-4546-BCB2-DD1C3EEF26C7}"/>
                  </a:ext>
                </a:extLst>
              </p:cNvPr>
              <p:cNvSpPr/>
              <p:nvPr>
                <p:custDataLst>
                  <p:tags r:id="rId4"/>
                </p:custDataLst>
              </p:nvPr>
            </p:nvSpPr>
            <p:spPr bwMode="auto">
              <a:xfrm>
                <a:off x="595148" y="1328540"/>
                <a:ext cx="3233173" cy="3909358"/>
              </a:xfrm>
              <a:prstGeom prst="rect">
                <a:avLst/>
              </a:prstGeom>
              <a:noFill/>
              <a:ln w="19050" cap="flat" cmpd="sng" algn="ctr">
                <a:solidFill>
                  <a:srgbClr val="0070C0"/>
                </a:solidFill>
                <a:prstDash val="solid"/>
                <a:headEnd type="none" w="med" len="med"/>
                <a:tailEnd type="none" w="med" len="med"/>
              </a:ln>
              <a:effectLst>
                <a:outerShdw blurRad="40000" dist="20000" dir="5400000" rotWithShape="0">
                  <a:srgbClr val="000000">
                    <a:alpha val="38000"/>
                  </a:srgbClr>
                </a:outerShdw>
              </a:effectLst>
            </p:spPr>
            <p:txBody>
              <a:bodyPr lIns="0" tIns="0" rIns="0" bIns="0"/>
              <a:lstStyle/>
              <a:p>
                <a:endParaRPr lang="zh-CN" altLang="en-US" sz="1500" b="1" kern="0" dirty="0">
                  <a:solidFill>
                    <a:srgbClr val="333399"/>
                  </a:solidFill>
                  <a:latin typeface="Arial" panose="020B0604020202020204" pitchFamily="34" charset="0"/>
                  <a:ea typeface="黑体" panose="02010609060101010101" charset="-122"/>
                </a:endParaRPr>
              </a:p>
            </p:txBody>
          </p:sp>
          <p:grpSp>
            <p:nvGrpSpPr>
              <p:cNvPr id="33" name="组合 5">
                <a:extLst>
                  <a:ext uri="{FF2B5EF4-FFF2-40B4-BE49-F238E27FC236}">
                    <a16:creationId xmlns:a16="http://schemas.microsoft.com/office/drawing/2014/main" id="{F5343528-A0E0-4DA0-96E6-9628DF696915}"/>
                  </a:ext>
                </a:extLst>
              </p:cNvPr>
              <p:cNvGrpSpPr/>
              <p:nvPr/>
            </p:nvGrpSpPr>
            <p:grpSpPr>
              <a:xfrm>
                <a:off x="675004" y="1167276"/>
                <a:ext cx="3035985" cy="3993305"/>
                <a:chOff x="448155" y="531447"/>
                <a:chExt cx="3035985" cy="3651214"/>
              </a:xfrm>
            </p:grpSpPr>
            <p:sp>
              <p:nvSpPr>
                <p:cNvPr id="34" name="文本框 6">
                  <a:extLst>
                    <a:ext uri="{FF2B5EF4-FFF2-40B4-BE49-F238E27FC236}">
                      <a16:creationId xmlns:a16="http://schemas.microsoft.com/office/drawing/2014/main" id="{B194C6D9-4F40-4E34-A733-9BBE2B43E4EF}"/>
                    </a:ext>
                  </a:extLst>
                </p:cNvPr>
                <p:cNvSpPr txBox="1"/>
                <p:nvPr>
                  <p:custDataLst>
                    <p:tags r:id="rId5"/>
                  </p:custDataLst>
                </p:nvPr>
              </p:nvSpPr>
              <p:spPr>
                <a:xfrm>
                  <a:off x="500508" y="3853310"/>
                  <a:ext cx="2983632" cy="329351"/>
                </a:xfrm>
                <a:prstGeom prst="rect">
                  <a:avLst/>
                </a:prstGeom>
                <a:solidFill>
                  <a:schemeClr val="accent1">
                    <a:lumMod val="20000"/>
                    <a:lumOff val="80000"/>
                  </a:schemeClr>
                </a:solidFill>
                <a:ln w="50800" cap="flat" cmpd="sng" algn="ctr">
                  <a:noFill/>
                  <a:prstDash val="solid"/>
                  <a:round/>
                  <a:headEnd type="none" w="med" len="med"/>
                  <a:tailEnd type="none" w="med" len="med"/>
                </a:ln>
                <a:effectLst/>
              </p:spPr>
              <p:txBody>
                <a:bodyPr vert="horz" wrap="square" lIns="0" tIns="0" rIns="0" bIns="0" numCol="1" rtlCol="0" anchor="ctr" anchorCtr="0" compatLnSpc="1">
                  <a:noAutofit/>
                </a:bodyPr>
                <a:lstStyle>
                  <a:defPPr>
                    <a:defRPr lang="zh-CN"/>
                  </a:defPPr>
                  <a:lvl1pPr algn="ctr">
                    <a:lnSpc>
                      <a:spcPct val="120000"/>
                    </a:lnSpc>
                    <a:defRPr sz="1600">
                      <a:solidFill>
                        <a:schemeClr val="bg1"/>
                      </a:solidFill>
                      <a:latin typeface="微软雅黑" panose="020B0503020204020204" pitchFamily="34" charset="-122"/>
                      <a:ea typeface="微软雅黑" panose="020B0503020204020204" pitchFamily="34" charset="-122"/>
                    </a:defRPr>
                  </a:lvl1pPr>
                </a:lstStyle>
                <a:p>
                  <a:pPr lvl="0" eaLnBrk="1" fontAlgn="auto" hangingPunct="1">
                    <a:lnSpc>
                      <a:spcPct val="110000"/>
                    </a:lnSpc>
                    <a:spcBef>
                      <a:spcPts val="0"/>
                    </a:spcBef>
                    <a:spcAft>
                      <a:spcPts val="0"/>
                    </a:spcAft>
                  </a:pPr>
                  <a:r>
                    <a:rPr kumimoji="0" lang="zh-CN" altLang="en-US" sz="2000" b="1" i="0" u="none" strike="noStrike" kern="0" cap="none" spc="0" normalizeH="0" baseline="0" noProof="0" dirty="0">
                      <a:ln>
                        <a:noFill/>
                      </a:ln>
                      <a:solidFill>
                        <a:schemeClr val="tx1"/>
                      </a:solidFill>
                      <a:effectLst/>
                      <a:uLnTx/>
                      <a:uFillTx/>
                    </a:rPr>
                    <a:t>电化学阻抗谱数据分析</a:t>
                  </a:r>
                </a:p>
              </p:txBody>
            </p:sp>
            <p:grpSp>
              <p:nvGrpSpPr>
                <p:cNvPr id="38" name="组合 8">
                  <a:extLst>
                    <a:ext uri="{FF2B5EF4-FFF2-40B4-BE49-F238E27FC236}">
                      <a16:creationId xmlns:a16="http://schemas.microsoft.com/office/drawing/2014/main" id="{3C57C240-CE78-4595-8F09-87FF41FC161E}"/>
                    </a:ext>
                  </a:extLst>
                </p:cNvPr>
                <p:cNvGrpSpPr/>
                <p:nvPr/>
              </p:nvGrpSpPr>
              <p:grpSpPr>
                <a:xfrm>
                  <a:off x="448155" y="531447"/>
                  <a:ext cx="3003956" cy="3316380"/>
                  <a:chOff x="897906" y="75140"/>
                  <a:chExt cx="3350513" cy="3316380"/>
                </a:xfrm>
                <a:effectLst/>
              </p:grpSpPr>
              <p:sp>
                <p:nvSpPr>
                  <p:cNvPr id="39" name="圆角矩形 60">
                    <a:extLst>
                      <a:ext uri="{FF2B5EF4-FFF2-40B4-BE49-F238E27FC236}">
                        <a16:creationId xmlns:a16="http://schemas.microsoft.com/office/drawing/2014/main" id="{501FB63C-02CE-4DD2-831E-6D0FAFCC1C37}"/>
                      </a:ext>
                    </a:extLst>
                  </p:cNvPr>
                  <p:cNvSpPr/>
                  <p:nvPr>
                    <p:custDataLst>
                      <p:tags r:id="rId6"/>
                    </p:custDataLst>
                  </p:nvPr>
                </p:nvSpPr>
                <p:spPr bwMode="auto">
                  <a:xfrm>
                    <a:off x="1531620" y="75140"/>
                    <a:ext cx="2261898" cy="301934"/>
                  </a:xfrm>
                  <a:prstGeom prst="roundRect">
                    <a:avLst/>
                  </a:prstGeom>
                  <a:solidFill>
                    <a:schemeClr val="accent1">
                      <a:lumMod val="60000"/>
                      <a:lumOff val="40000"/>
                    </a:schemeClr>
                  </a:solidFill>
                  <a:ln w="9525" cap="flat" cmpd="sng" algn="ctr">
                    <a:noFill/>
                    <a:prstDash val="solid"/>
                    <a:headEnd type="none" w="med" len="med"/>
                    <a:tailEnd type="none" w="med" len="med"/>
                  </a:ln>
                  <a:effectLst/>
                </p:spPr>
                <p:txBody>
                  <a:bodyPr vert="horz" wrap="square" lIns="0" tIns="0" rIns="0" bIns="0" numCol="1" rtlCol="0" anchor="t" anchorCtr="0" compatLnSpc="1">
                    <a:no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4400" b="0" i="0" u="none" strike="noStrike" kern="0" cap="none" spc="0" normalizeH="0" baseline="0" noProof="0">
                      <a:ln>
                        <a:noFill/>
                      </a:ln>
                      <a:solidFill>
                        <a:srgbClr val="333399"/>
                      </a:solidFill>
                      <a:effectLst/>
                      <a:uLnTx/>
                      <a:uFillTx/>
                      <a:latin typeface="+mn-ea"/>
                      <a:ea typeface="+mn-ea"/>
                      <a:cs typeface="+mn-cs"/>
                    </a:endParaRPr>
                  </a:p>
                </p:txBody>
              </p:sp>
              <p:sp>
                <p:nvSpPr>
                  <p:cNvPr id="40" name="矩形 10">
                    <a:extLst>
                      <a:ext uri="{FF2B5EF4-FFF2-40B4-BE49-F238E27FC236}">
                        <a16:creationId xmlns:a16="http://schemas.microsoft.com/office/drawing/2014/main" id="{D56855D7-2940-4407-A5C0-0B2C824C3331}"/>
                      </a:ext>
                    </a:extLst>
                  </p:cNvPr>
                  <p:cNvSpPr/>
                  <p:nvPr>
                    <p:custDataLst>
                      <p:tags r:id="rId7"/>
                    </p:custDataLst>
                  </p:nvPr>
                </p:nvSpPr>
                <p:spPr>
                  <a:xfrm>
                    <a:off x="897906" y="3084502"/>
                    <a:ext cx="3350513" cy="307018"/>
                  </a:xfrm>
                  <a:prstGeom prst="rect">
                    <a:avLst/>
                  </a:prstGeom>
                </p:spPr>
                <p:txBody>
                  <a:bodyPr wrap="square">
                    <a:spAutoFit/>
                  </a:bodyPr>
                  <a:lstStyle/>
                  <a:p>
                    <a:pPr algn="ctr">
                      <a:lnSpc>
                        <a:spcPct val="110000"/>
                      </a:lnSpc>
                    </a:pPr>
                    <a:endParaRPr lang="zh-CN" altLang="en-US" b="1" dirty="0">
                      <a:solidFill>
                        <a:srgbClr val="000000"/>
                      </a:solidFill>
                      <a:latin typeface="微软雅黑" panose="020B0503020204020204" pitchFamily="34" charset="-122"/>
                      <a:ea typeface="微软雅黑" panose="020B0503020204020204" pitchFamily="34" charset="-122"/>
                    </a:endParaRPr>
                  </a:p>
                </p:txBody>
              </p:sp>
            </p:grpSp>
          </p:grpSp>
        </p:grpSp>
        <p:sp>
          <p:nvSpPr>
            <p:cNvPr id="29" name="文本框 13">
              <a:extLst>
                <a:ext uri="{FF2B5EF4-FFF2-40B4-BE49-F238E27FC236}">
                  <a16:creationId xmlns:a16="http://schemas.microsoft.com/office/drawing/2014/main" id="{EFB95337-5D36-4AA8-9620-CC9F90F64825}"/>
                </a:ext>
              </a:extLst>
            </p:cNvPr>
            <p:cNvSpPr txBox="1"/>
            <p:nvPr>
              <p:custDataLst>
                <p:tags r:id="rId3"/>
              </p:custDataLst>
            </p:nvPr>
          </p:nvSpPr>
          <p:spPr>
            <a:xfrm>
              <a:off x="1731" y="1857"/>
              <a:ext cx="3629" cy="520"/>
            </a:xfrm>
            <a:prstGeom prst="rect">
              <a:avLst/>
            </a:prstGeom>
            <a:noFill/>
          </p:spPr>
          <p:txBody>
            <a:bodyPr wrap="square">
              <a:spAutoFit/>
            </a:bodyPr>
            <a:lstStyle/>
            <a:p>
              <a:pPr algn="ctr"/>
              <a:r>
                <a:rPr lang="zh-CN" altLang="en-US" b="1" spc="300" dirty="0">
                  <a:ln w="6350">
                    <a:noFill/>
                  </a:ln>
                  <a:latin typeface="微软雅黑" panose="020B0503020204020204" pitchFamily="34" charset="-122"/>
                  <a:ea typeface="微软雅黑" panose="020B0503020204020204" pitchFamily="34" charset="-122"/>
                </a:rPr>
                <a:t>数据融合与分析</a:t>
              </a:r>
            </a:p>
          </p:txBody>
        </p:sp>
      </p:grpSp>
      <p:grpSp>
        <p:nvGrpSpPr>
          <p:cNvPr id="8196" name="组合 1"/>
          <p:cNvGrpSpPr/>
          <p:nvPr/>
        </p:nvGrpSpPr>
        <p:grpSpPr bwMode="auto">
          <a:xfrm>
            <a:off x="268288" y="103188"/>
            <a:ext cx="7267872" cy="601662"/>
            <a:chOff x="267858" y="102478"/>
            <a:chExt cx="4402075" cy="602574"/>
          </a:xfrm>
        </p:grpSpPr>
        <p:sp>
          <p:nvSpPr>
            <p:cNvPr id="3" name="矩形 65"/>
            <p:cNvSpPr>
              <a:spLocks noChangeArrowheads="1"/>
            </p:cNvSpPr>
            <p:nvPr/>
          </p:nvSpPr>
          <p:spPr bwMode="auto">
            <a:xfrm>
              <a:off x="267858" y="102478"/>
              <a:ext cx="4402075" cy="585661"/>
            </a:xfrm>
            <a:prstGeom prst="rect">
              <a:avLst/>
            </a:prstGeom>
            <a:no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685800" eaLnBrk="1" fontAlgn="auto" hangingPunct="1">
                <a:spcBef>
                  <a:spcPct val="0"/>
                </a:spcBef>
                <a:spcAft>
                  <a:spcPts val="0"/>
                </a:spcAft>
                <a:buNone/>
                <a:defRPr/>
              </a:pPr>
              <a:r>
                <a:rPr lang="en-US" altLang="zh-CN" b="1" spc="300" dirty="0">
                  <a:ln w="6350">
                    <a:noFill/>
                  </a:ln>
                  <a:solidFill>
                    <a:srgbClr val="1B69B4"/>
                  </a:solidFill>
                  <a:latin typeface="微软雅黑" panose="020B0503020204020204" pitchFamily="34" charset="-122"/>
                  <a:ea typeface="微软雅黑" panose="020B0503020204020204" pitchFamily="34" charset="-122"/>
                </a:rPr>
                <a:t>10</a:t>
              </a:r>
              <a:r>
                <a:rPr lang="zh-CN" altLang="en-US" b="1" spc="300" dirty="0">
                  <a:ln w="6350">
                    <a:noFill/>
                  </a:ln>
                  <a:solidFill>
                    <a:srgbClr val="1B69B4"/>
                  </a:solidFill>
                  <a:latin typeface="微软雅黑" panose="020B0503020204020204" pitchFamily="34" charset="-122"/>
                  <a:ea typeface="微软雅黑" panose="020B0503020204020204" pitchFamily="34" charset="-122"/>
                </a:rPr>
                <a:t>研究进展 </a:t>
              </a:r>
              <a:r>
                <a:rPr lang="zh-CN" altLang="zh-CN" sz="2000" b="1" spc="300" dirty="0">
                  <a:ln w="6350">
                    <a:noFill/>
                  </a:ln>
                  <a:solidFill>
                    <a:srgbClr val="1B69B4"/>
                  </a:solidFill>
                  <a:latin typeface="微软雅黑" panose="020B0503020204020204" pitchFamily="34" charset="-122"/>
                  <a:ea typeface="微软雅黑" panose="020B0503020204020204" pitchFamily="34" charset="-122"/>
                </a:rPr>
                <a:t>离线实验平台构建</a:t>
              </a:r>
              <a:endParaRPr lang="zh-CN" altLang="en-US" b="1" spc="300" dirty="0">
                <a:ln w="6350">
                  <a:noFill/>
                </a:ln>
                <a:solidFill>
                  <a:srgbClr val="1B69B4"/>
                </a:solidFill>
                <a:latin typeface="微软雅黑" panose="020B0503020204020204" pitchFamily="34" charset="-122"/>
                <a:ea typeface="微软雅黑" panose="020B0503020204020204" pitchFamily="34" charset="-122"/>
              </a:endParaRPr>
            </a:p>
          </p:txBody>
        </p:sp>
        <p:sp>
          <p:nvSpPr>
            <p:cNvPr id="4" name="矩形 3"/>
            <p:cNvSpPr/>
            <p:nvPr/>
          </p:nvSpPr>
          <p:spPr>
            <a:xfrm>
              <a:off x="333094" y="659333"/>
              <a:ext cx="2653687" cy="45719"/>
            </a:xfrm>
            <a:prstGeom prst="rect">
              <a:avLst/>
            </a:prstGeom>
            <a:gradFill flip="none" rotWithShape="1">
              <a:gsLst>
                <a:gs pos="100000">
                  <a:schemeClr val="bg1">
                    <a:alpha val="0"/>
                  </a:schemeClr>
                </a:gs>
                <a:gs pos="4000">
                  <a:srgbClr val="1B69B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1B69B4"/>
                </a:solidFill>
              </a:endParaRPr>
            </a:p>
          </p:txBody>
        </p:sp>
      </p:grpSp>
      <p:pic>
        <p:nvPicPr>
          <p:cNvPr id="41" name="图片 4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480376" y="97750"/>
            <a:ext cx="2514152" cy="673296"/>
          </a:xfrm>
          <a:prstGeom prst="rect">
            <a:avLst/>
          </a:prstGeom>
        </p:spPr>
      </p:pic>
      <p:sp>
        <p:nvSpPr>
          <p:cNvPr id="16" name="文本框 0">
            <a:extLst>
              <a:ext uri="{FF2B5EF4-FFF2-40B4-BE49-F238E27FC236}">
                <a16:creationId xmlns:a16="http://schemas.microsoft.com/office/drawing/2014/main" id="{D3AC38C4-144D-44F8-9805-748521CEDC80}"/>
              </a:ext>
            </a:extLst>
          </p:cNvPr>
          <p:cNvSpPr txBox="1"/>
          <p:nvPr/>
        </p:nvSpPr>
        <p:spPr>
          <a:xfrm>
            <a:off x="-24680" y="6223690"/>
            <a:ext cx="12216680" cy="634310"/>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3500000" scaled="1"/>
            <a:tileRect/>
          </a:gradFill>
        </p:spPr>
        <p:txBody>
          <a:bodyPr wrap="square" rtlCol="0" anchor="ctr" anchorCtr="1">
            <a:noAutofit/>
          </a:bodyPr>
          <a:lstStyle/>
          <a:p>
            <a:pPr algn="ctr"/>
            <a:r>
              <a:rPr lang="zh-CN" altLang="en-US" sz="2400" b="1" spc="300" dirty="0">
                <a:ln w="6350">
                  <a:noFill/>
                </a:ln>
                <a:solidFill>
                  <a:schemeClr val="bg1"/>
                </a:solidFill>
                <a:latin typeface="微软雅黑" panose="020B0503020204020204" pitchFamily="34" charset="-122"/>
                <a:ea typeface="微软雅黑" panose="020B0503020204020204" pitchFamily="34" charset="-122"/>
              </a:rPr>
              <a:t>平台整合</a:t>
            </a:r>
            <a:r>
              <a:rPr lang="zh-CN" altLang="en-US" sz="2400" b="1" spc="300" dirty="0">
                <a:ln w="6350">
                  <a:noFill/>
                </a:ln>
                <a:solidFill>
                  <a:srgbClr val="FEA402"/>
                </a:solidFill>
                <a:latin typeface="微软雅黑" panose="020B0503020204020204" pitchFamily="34" charset="-122"/>
                <a:ea typeface="微软雅黑" panose="020B0503020204020204" pitchFamily="34" charset="-122"/>
              </a:rPr>
              <a:t>环境控制</a:t>
            </a:r>
            <a:r>
              <a:rPr lang="zh-CN" altLang="en-US" sz="2400" b="1" spc="300" dirty="0">
                <a:ln w="6350">
                  <a:noFill/>
                </a:ln>
                <a:solidFill>
                  <a:schemeClr val="bg1"/>
                </a:solidFill>
                <a:latin typeface="微软雅黑" panose="020B0503020204020204" pitchFamily="34" charset="-122"/>
                <a:ea typeface="微软雅黑" panose="020B0503020204020204" pitchFamily="34" charset="-122"/>
              </a:rPr>
              <a:t>、</a:t>
            </a:r>
            <a:r>
              <a:rPr lang="zh-CN" altLang="en-US" sz="2400" b="1" spc="300" dirty="0">
                <a:ln w="6350">
                  <a:noFill/>
                </a:ln>
                <a:solidFill>
                  <a:srgbClr val="FEA402"/>
                </a:solidFill>
                <a:latin typeface="微软雅黑" panose="020B0503020204020204" pitchFamily="34" charset="-122"/>
                <a:ea typeface="微软雅黑" panose="020B0503020204020204" pitchFamily="34" charset="-122"/>
              </a:rPr>
              <a:t>多类型测试</a:t>
            </a:r>
            <a:r>
              <a:rPr lang="zh-CN" altLang="en-US" sz="2400" b="1" spc="300" dirty="0">
                <a:ln w="6350">
                  <a:noFill/>
                </a:ln>
                <a:solidFill>
                  <a:schemeClr val="bg1"/>
                </a:solidFill>
                <a:latin typeface="微软雅黑" panose="020B0503020204020204" pitchFamily="34" charset="-122"/>
                <a:ea typeface="微软雅黑" panose="020B0503020204020204" pitchFamily="34" charset="-122"/>
              </a:rPr>
              <a:t>与</a:t>
            </a:r>
            <a:r>
              <a:rPr lang="zh-CN" altLang="en-US" sz="2400" b="1" spc="300" dirty="0">
                <a:ln w="6350">
                  <a:noFill/>
                </a:ln>
                <a:solidFill>
                  <a:srgbClr val="FEA402"/>
                </a:solidFill>
                <a:latin typeface="微软雅黑" panose="020B0503020204020204" pitchFamily="34" charset="-122"/>
                <a:ea typeface="微软雅黑" panose="020B0503020204020204" pitchFamily="34" charset="-122"/>
              </a:rPr>
              <a:t>数据融合</a:t>
            </a:r>
            <a:r>
              <a:rPr lang="zh-CN" altLang="en-US" sz="2400" b="1" spc="300" dirty="0">
                <a:ln w="6350">
                  <a:noFill/>
                </a:ln>
                <a:solidFill>
                  <a:schemeClr val="bg1"/>
                </a:solidFill>
                <a:latin typeface="微软雅黑" panose="020B0503020204020204" pitchFamily="34" charset="-122"/>
                <a:ea typeface="微软雅黑" panose="020B0503020204020204" pitchFamily="34" charset="-122"/>
              </a:rPr>
              <a:t>，为</a:t>
            </a:r>
            <a:r>
              <a:rPr lang="zh-CN" altLang="en-US" sz="2400" b="1" spc="300" dirty="0">
                <a:ln w="6350">
                  <a:noFill/>
                </a:ln>
                <a:solidFill>
                  <a:srgbClr val="C00000"/>
                </a:solidFill>
                <a:latin typeface="微软雅黑" panose="020B0503020204020204" pitchFamily="34" charset="-122"/>
                <a:ea typeface="微软雅黑" panose="020B0503020204020204" pitchFamily="34" charset="-122"/>
              </a:rPr>
              <a:t>电池状态评估</a:t>
            </a:r>
            <a:r>
              <a:rPr lang="zh-CN" altLang="en-US" sz="2400" b="1" spc="300" dirty="0">
                <a:ln w="6350">
                  <a:noFill/>
                </a:ln>
                <a:solidFill>
                  <a:schemeClr val="bg1"/>
                </a:solidFill>
                <a:latin typeface="微软雅黑" panose="020B0503020204020204" pitchFamily="34" charset="-122"/>
                <a:ea typeface="微软雅黑" panose="020B0503020204020204" pitchFamily="34" charset="-122"/>
              </a:rPr>
              <a:t>奠定系统实验基础</a:t>
            </a:r>
          </a:p>
        </p:txBody>
      </p:sp>
      <p:sp>
        <p:nvSpPr>
          <p:cNvPr id="7" name="文本框 6"/>
          <p:cNvSpPr txBox="1"/>
          <p:nvPr/>
        </p:nvSpPr>
        <p:spPr>
          <a:xfrm>
            <a:off x="233767" y="763868"/>
            <a:ext cx="11172127" cy="728982"/>
          </a:xfrm>
          <a:prstGeom prst="rect">
            <a:avLst/>
          </a:prstGeom>
          <a:noFill/>
        </p:spPr>
        <p:txBody>
          <a:bodyPr wrap="square" rtlCol="0">
            <a:spAutoFit/>
          </a:bodyPr>
          <a:lstStyle/>
          <a:p>
            <a:pPr marL="285750" indent="-285750" algn="just">
              <a:lnSpc>
                <a:spcPct val="120000"/>
              </a:lnSpc>
              <a:buFont typeface="Wingdings" panose="05000000000000000000" pitchFamily="2" charset="2"/>
              <a:buChar char="Ø"/>
            </a:pPr>
            <a:r>
              <a:rPr lang="zh-CN" altLang="en-US"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实验样品扩展至松下公司的</a:t>
            </a:r>
            <a:r>
              <a:rPr lang="en-US" altLang="zh-CN" b="1" dirty="0">
                <a:solidFill>
                  <a:srgbClr val="ED7D31"/>
                </a:solidFill>
                <a:latin typeface="微软雅黑" panose="020B0503020204020204" pitchFamily="34" charset="-122"/>
                <a:ea typeface="微软雅黑" panose="020B0503020204020204" pitchFamily="34" charset="-122"/>
                <a:cs typeface="Times New Roman" panose="02020603050405020304" pitchFamily="18" charset="0"/>
              </a:rPr>
              <a:t>NCR18650GA</a:t>
            </a:r>
            <a:r>
              <a:rPr lang="zh-CN" altLang="en-US" b="1" dirty="0">
                <a:solidFill>
                  <a:srgbClr val="ED7D31"/>
                </a:solidFill>
                <a:latin typeface="微软雅黑" panose="020B0503020204020204" pitchFamily="34" charset="-122"/>
                <a:ea typeface="微软雅黑" panose="020B0503020204020204" pitchFamily="34" charset="-122"/>
                <a:cs typeface="Times New Roman" panose="02020603050405020304" pitchFamily="18" charset="0"/>
              </a:rPr>
              <a:t>三元锂</a:t>
            </a:r>
            <a:r>
              <a:rPr lang="zh-CN" altLang="en-US"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电池、</a:t>
            </a:r>
            <a:r>
              <a:rPr lang="en-US" altLang="zh-CN" b="1" dirty="0">
                <a:solidFill>
                  <a:srgbClr val="ED7D31"/>
                </a:solidFill>
                <a:latin typeface="微软雅黑" panose="020B0503020204020204" pitchFamily="34" charset="-122"/>
                <a:ea typeface="微软雅黑" panose="020B0503020204020204" pitchFamily="34" charset="-122"/>
                <a:cs typeface="Times New Roman" panose="02020603050405020304" pitchFamily="18" charset="0"/>
              </a:rPr>
              <a:t>LF32</a:t>
            </a:r>
            <a:r>
              <a:rPr lang="zh-CN" altLang="en-US" b="1" dirty="0">
                <a:solidFill>
                  <a:srgbClr val="ED7D31"/>
                </a:solidFill>
                <a:latin typeface="微软雅黑" panose="020B0503020204020204" pitchFamily="34" charset="-122"/>
                <a:ea typeface="微软雅黑" panose="020B0503020204020204" pitchFamily="34" charset="-122"/>
                <a:cs typeface="Times New Roman" panose="02020603050405020304" pitchFamily="18" charset="0"/>
              </a:rPr>
              <a:t>磷酸铁锂</a:t>
            </a:r>
            <a:r>
              <a:rPr lang="zh-CN" altLang="en-US"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电池、</a:t>
            </a:r>
            <a:r>
              <a:rPr lang="en-US" altLang="zh-CN" b="1" dirty="0">
                <a:solidFill>
                  <a:srgbClr val="ED7D31"/>
                </a:solidFill>
                <a:latin typeface="微软雅黑" panose="020B0503020204020204" pitchFamily="34" charset="-122"/>
                <a:ea typeface="微软雅黑" panose="020B0503020204020204" pitchFamily="34" charset="-122"/>
                <a:cs typeface="Times New Roman" panose="02020603050405020304" pitchFamily="18" charset="0"/>
              </a:rPr>
              <a:t>LC-P220ST</a:t>
            </a:r>
            <a:r>
              <a:rPr lang="zh-CN" altLang="en-US" b="1" dirty="0">
                <a:solidFill>
                  <a:srgbClr val="ED7D31"/>
                </a:solidFill>
                <a:latin typeface="微软雅黑" panose="020B0503020204020204" pitchFamily="34" charset="-122"/>
                <a:ea typeface="微软雅黑" panose="020B0503020204020204" pitchFamily="34" charset="-122"/>
                <a:cs typeface="Times New Roman" panose="02020603050405020304" pitchFamily="18" charset="0"/>
              </a:rPr>
              <a:t>铅酸</a:t>
            </a:r>
            <a:r>
              <a:rPr lang="zh-CN" altLang="en-US"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电池</a:t>
            </a:r>
            <a:endParaRPr lang="en-US" altLang="zh-CN"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120000"/>
              </a:lnSpc>
              <a:buClr>
                <a:srgbClr val="1B69B4"/>
              </a:buClr>
              <a:buFont typeface="Wingdings" panose="05000000000000000000" pitchFamily="2" charset="2"/>
              <a:buChar char="Ø"/>
            </a:pPr>
            <a:r>
              <a:rPr lang="zh-CN" altLang="en-US" b="1" dirty="0">
                <a:solidFill>
                  <a:srgbClr val="ED7D31"/>
                </a:solidFill>
                <a:latin typeface="微软雅黑" panose="020B0503020204020204" pitchFamily="34" charset="-122"/>
                <a:ea typeface="微软雅黑" panose="020B0503020204020204" pitchFamily="34" charset="-122"/>
                <a:cs typeface="Times New Roman" panose="02020603050405020304" pitchFamily="18" charset="0"/>
              </a:rPr>
              <a:t>恒温环境</a:t>
            </a:r>
            <a:r>
              <a:rPr lang="zh-CN" altLang="en-US"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准确测试，</a:t>
            </a:r>
            <a:r>
              <a:rPr lang="zh-CN" altLang="en-US" b="1" dirty="0">
                <a:solidFill>
                  <a:srgbClr val="ED7D31"/>
                </a:solidFill>
                <a:latin typeface="微软雅黑" panose="020B0503020204020204" pitchFamily="34" charset="-122"/>
                <a:ea typeface="微软雅黑" panose="020B0503020204020204" pitchFamily="34" charset="-122"/>
                <a:cs typeface="Times New Roman" panose="02020603050405020304" pitchFamily="18" charset="0"/>
              </a:rPr>
              <a:t>宽频带阻抗检测</a:t>
            </a:r>
            <a:r>
              <a:rPr lang="zh-CN" altLang="en-US"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获取丰富信息，</a:t>
            </a:r>
            <a:r>
              <a:rPr lang="zh-CN" altLang="en-US" b="1" dirty="0">
                <a:solidFill>
                  <a:srgbClr val="ED7D31"/>
                </a:solidFill>
                <a:latin typeface="微软雅黑" panose="020B0503020204020204" pitchFamily="34" charset="-122"/>
                <a:ea typeface="微软雅黑" panose="020B0503020204020204" pitchFamily="34" charset="-122"/>
                <a:cs typeface="Times New Roman" panose="02020603050405020304" pitchFamily="18" charset="0"/>
              </a:rPr>
              <a:t>数据融合与分析</a:t>
            </a:r>
            <a:r>
              <a:rPr lang="zh-CN" altLang="en-US"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实现电池状态评估等多种监测技术</a:t>
            </a:r>
            <a:endParaRPr lang="en-US" altLang="zh-CN"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0" name="图片 29"/>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33767" y="1532878"/>
            <a:ext cx="8383325" cy="4615292"/>
          </a:xfrm>
          <a:prstGeom prst="rect">
            <a:avLst/>
          </a:prstGeom>
        </p:spPr>
      </p:pic>
      <p:pic>
        <p:nvPicPr>
          <p:cNvPr id="9" name="图片 8">
            <a:extLst>
              <a:ext uri="{FF2B5EF4-FFF2-40B4-BE49-F238E27FC236}">
                <a16:creationId xmlns:a16="http://schemas.microsoft.com/office/drawing/2014/main" id="{E5E3C8B4-DBB9-4F83-9638-1EB28BF84C04}"/>
              </a:ext>
            </a:extLst>
          </p:cNvPr>
          <p:cNvPicPr>
            <a:picLocks noChangeAspect="1"/>
          </p:cNvPicPr>
          <p:nvPr/>
        </p:nvPicPr>
        <p:blipFill>
          <a:blip r:embed="rId12"/>
          <a:stretch>
            <a:fillRect/>
          </a:stretch>
        </p:blipFill>
        <p:spPr>
          <a:xfrm>
            <a:off x="8840970" y="2016623"/>
            <a:ext cx="1987939" cy="1566804"/>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11" name="图片 10">
            <a:extLst>
              <a:ext uri="{FF2B5EF4-FFF2-40B4-BE49-F238E27FC236}">
                <a16:creationId xmlns:a16="http://schemas.microsoft.com/office/drawing/2014/main" id="{B6072F39-C286-4561-95F5-8C20C4CBCAEF}"/>
              </a:ext>
            </a:extLst>
          </p:cNvPr>
          <p:cNvPicPr>
            <a:picLocks noChangeAspect="1"/>
          </p:cNvPicPr>
          <p:nvPr/>
        </p:nvPicPr>
        <p:blipFill>
          <a:blip r:embed="rId13"/>
          <a:stretch>
            <a:fillRect/>
          </a:stretch>
        </p:blipFill>
        <p:spPr>
          <a:xfrm>
            <a:off x="9985244" y="3794603"/>
            <a:ext cx="1904915" cy="1593909"/>
          </a:xfrm>
          <a:prstGeom prst="rect">
            <a:avLst/>
          </a:prstGeom>
          <a:ln>
            <a:noFill/>
          </a:ln>
          <a:effectLst>
            <a:outerShdw blurRad="292100" dist="139700" dir="2700000" algn="tl" rotWithShape="0">
              <a:srgbClr val="333333">
                <a:alpha val="65000"/>
              </a:srgbClr>
            </a:outerShdw>
          </a:effectLst>
        </p:spPr>
      </p:pic>
      <p:sp>
        <p:nvSpPr>
          <p:cNvPr id="46" name="文本框 45">
            <a:extLst>
              <a:ext uri="{FF2B5EF4-FFF2-40B4-BE49-F238E27FC236}">
                <a16:creationId xmlns:a16="http://schemas.microsoft.com/office/drawing/2014/main" id="{ED02F6BD-D227-461C-8668-796B7189E7F3}"/>
              </a:ext>
            </a:extLst>
          </p:cNvPr>
          <p:cNvSpPr txBox="1"/>
          <p:nvPr/>
        </p:nvSpPr>
        <p:spPr>
          <a:xfrm>
            <a:off x="10599650" y="2162823"/>
            <a:ext cx="1359427" cy="1286121"/>
          </a:xfrm>
          <a:prstGeom prst="rect">
            <a:avLst/>
          </a:prstGeom>
          <a:noFill/>
        </p:spPr>
        <p:txBody>
          <a:bodyPr wrap="square">
            <a:spAutoFit/>
          </a:bodyPr>
          <a:lstStyle/>
          <a:p>
            <a:pPr algn="ctr">
              <a:lnSpc>
                <a:spcPct val="120000"/>
              </a:lnSpc>
            </a:pPr>
            <a:r>
              <a:rPr lang="en-US" altLang="zh-CN" b="1" kern="0" dirty="0">
                <a:latin typeface="微软雅黑" panose="020B0503020204020204" pitchFamily="34" charset="-122"/>
                <a:ea typeface="微软雅黑" panose="020B0503020204020204" pitchFamily="34" charset="-122"/>
              </a:rPr>
              <a:t>EIS</a:t>
            </a:r>
            <a:r>
              <a:rPr lang="zh-CN" altLang="en-US" b="1" kern="0" dirty="0">
                <a:latin typeface="微软雅黑" panose="020B0503020204020204" pitchFamily="34" charset="-122"/>
                <a:ea typeface="微软雅黑" panose="020B0503020204020204" pitchFamily="34" charset="-122"/>
              </a:rPr>
              <a:t>图谱</a:t>
            </a:r>
            <a:endParaRPr lang="en-US" altLang="zh-CN" b="1" kern="0" dirty="0">
              <a:latin typeface="微软雅黑" panose="020B0503020204020204" pitchFamily="34" charset="-122"/>
              <a:ea typeface="微软雅黑" panose="020B0503020204020204" pitchFamily="34" charset="-122"/>
            </a:endParaRPr>
          </a:p>
          <a:p>
            <a:pPr algn="ctr">
              <a:lnSpc>
                <a:spcPct val="120000"/>
              </a:lnSpc>
            </a:pPr>
            <a:r>
              <a:rPr lang="zh-CN" altLang="zh-CN" sz="1600" kern="0" dirty="0">
                <a:latin typeface="微软雅黑" panose="020B0503020204020204" pitchFamily="34" charset="-122"/>
                <a:ea typeface="微软雅黑" panose="020B0503020204020204" pitchFamily="34" charset="-122"/>
              </a:rPr>
              <a:t>数据反演电池内部动力学参数</a:t>
            </a:r>
            <a:endParaRPr lang="zh-CN" altLang="en-US" sz="1600" kern="0" dirty="0">
              <a:latin typeface="微软雅黑" panose="020B0503020204020204" pitchFamily="34" charset="-122"/>
              <a:ea typeface="微软雅黑" panose="020B0503020204020204" pitchFamily="34" charset="-122"/>
            </a:endParaRPr>
          </a:p>
        </p:txBody>
      </p:sp>
      <p:sp>
        <p:nvSpPr>
          <p:cNvPr id="47" name="文本框 46">
            <a:extLst>
              <a:ext uri="{FF2B5EF4-FFF2-40B4-BE49-F238E27FC236}">
                <a16:creationId xmlns:a16="http://schemas.microsoft.com/office/drawing/2014/main" id="{28DC3833-1619-4F4C-8950-574A8CD0AA5D}"/>
              </a:ext>
            </a:extLst>
          </p:cNvPr>
          <p:cNvSpPr txBox="1"/>
          <p:nvPr/>
        </p:nvSpPr>
        <p:spPr>
          <a:xfrm>
            <a:off x="8776005" y="3856630"/>
            <a:ext cx="1252834" cy="1618520"/>
          </a:xfrm>
          <a:prstGeom prst="rect">
            <a:avLst/>
          </a:prstGeom>
          <a:noFill/>
        </p:spPr>
        <p:txBody>
          <a:bodyPr wrap="square">
            <a:spAutoFit/>
          </a:bodyPr>
          <a:lstStyle/>
          <a:p>
            <a:pPr algn="ctr">
              <a:lnSpc>
                <a:spcPct val="120000"/>
              </a:lnSpc>
            </a:pPr>
            <a:r>
              <a:rPr lang="zh-CN" altLang="en-US" b="1" kern="0" dirty="0">
                <a:latin typeface="微软雅黑" panose="020B0503020204020204" pitchFamily="34" charset="-122"/>
                <a:ea typeface="微软雅黑" panose="020B0503020204020204" pitchFamily="34" charset="-122"/>
              </a:rPr>
              <a:t>频域</a:t>
            </a:r>
            <a:r>
              <a:rPr lang="en-US" altLang="zh-CN" b="1" kern="0" dirty="0">
                <a:latin typeface="微软雅黑" panose="020B0503020204020204" pitchFamily="34" charset="-122"/>
                <a:ea typeface="微软雅黑" panose="020B0503020204020204" pitchFamily="34" charset="-122"/>
              </a:rPr>
              <a:t>-</a:t>
            </a:r>
            <a:r>
              <a:rPr lang="zh-CN" altLang="en-US" b="1" kern="0" dirty="0">
                <a:latin typeface="微软雅黑" panose="020B0503020204020204" pitchFamily="34" charset="-122"/>
                <a:ea typeface="微软雅黑" panose="020B0503020204020204" pitchFamily="34" charset="-122"/>
              </a:rPr>
              <a:t>时域</a:t>
            </a:r>
            <a:endParaRPr lang="en-US" altLang="zh-CN" b="1" kern="0" dirty="0">
              <a:latin typeface="微软雅黑" panose="020B0503020204020204" pitchFamily="34" charset="-122"/>
              <a:ea typeface="微软雅黑" panose="020B0503020204020204" pitchFamily="34" charset="-122"/>
            </a:endParaRPr>
          </a:p>
          <a:p>
            <a:pPr algn="ctr">
              <a:lnSpc>
                <a:spcPct val="120000"/>
              </a:lnSpc>
            </a:pPr>
            <a:r>
              <a:rPr lang="zh-CN" altLang="en-US" b="1" kern="0" dirty="0">
                <a:latin typeface="微软雅黑" panose="020B0503020204020204" pitchFamily="34" charset="-122"/>
                <a:ea typeface="微软雅黑" panose="020B0503020204020204" pitchFamily="34" charset="-122"/>
              </a:rPr>
              <a:t>分析</a:t>
            </a:r>
            <a:endParaRPr lang="en-US" altLang="zh-CN" b="1" kern="0" dirty="0">
              <a:latin typeface="微软雅黑" panose="020B0503020204020204" pitchFamily="34" charset="-122"/>
              <a:ea typeface="微软雅黑" panose="020B0503020204020204" pitchFamily="34" charset="-122"/>
            </a:endParaRPr>
          </a:p>
          <a:p>
            <a:pPr algn="ctr">
              <a:lnSpc>
                <a:spcPct val="120000"/>
              </a:lnSpc>
            </a:pPr>
            <a:r>
              <a:rPr lang="zh-CN" altLang="zh-CN" sz="1600" kern="0" dirty="0">
                <a:latin typeface="微软雅黑" panose="020B0503020204020204" pitchFamily="34" charset="-122"/>
                <a:ea typeface="微软雅黑" panose="020B0503020204020204" pitchFamily="34" charset="-122"/>
              </a:rPr>
              <a:t>为状态评估提供理论</a:t>
            </a:r>
            <a:endParaRPr lang="en-US" altLang="zh-CN" sz="1600" kern="0" dirty="0">
              <a:latin typeface="微软雅黑" panose="020B0503020204020204" pitchFamily="34" charset="-122"/>
              <a:ea typeface="微软雅黑" panose="020B0503020204020204" pitchFamily="34" charset="-122"/>
            </a:endParaRPr>
          </a:p>
          <a:p>
            <a:pPr algn="ctr">
              <a:lnSpc>
                <a:spcPct val="120000"/>
              </a:lnSpc>
            </a:pPr>
            <a:r>
              <a:rPr lang="zh-CN" altLang="zh-CN" sz="1600" kern="0" dirty="0">
                <a:latin typeface="微软雅黑" panose="020B0503020204020204" pitchFamily="34" charset="-122"/>
                <a:ea typeface="微软雅黑" panose="020B0503020204020204" pitchFamily="34" charset="-122"/>
              </a:rPr>
              <a:t>依据</a:t>
            </a:r>
            <a:endParaRPr lang="zh-CN" altLang="en-US" sz="1600" kern="0" dirty="0">
              <a:latin typeface="微软雅黑" panose="020B0503020204020204" pitchFamily="34" charset="-122"/>
              <a:ea typeface="微软雅黑" panose="020B0503020204020204" pitchFamily="34" charset="-122"/>
            </a:endParaRPr>
          </a:p>
        </p:txBody>
      </p:sp>
      <p:pic>
        <p:nvPicPr>
          <p:cNvPr id="43" name="图片 42">
            <a:extLst>
              <a:ext uri="{FF2B5EF4-FFF2-40B4-BE49-F238E27FC236}">
                <a16:creationId xmlns:a16="http://schemas.microsoft.com/office/drawing/2014/main" id="{EF4383B9-B77E-47DC-83FA-E20DEE1BF4F5}"/>
              </a:ext>
            </a:extLst>
          </p:cNvPr>
          <p:cNvPicPr>
            <a:picLocks noChangeAspect="1"/>
          </p:cNvPicPr>
          <p:nvPr/>
        </p:nvPicPr>
        <p:blipFill>
          <a:blip r:embed="rId14"/>
          <a:stretch>
            <a:fillRect/>
          </a:stretch>
        </p:blipFill>
        <p:spPr>
          <a:xfrm>
            <a:off x="4296612" y="4275961"/>
            <a:ext cx="4320480" cy="360041"/>
          </a:xfrm>
          <a:prstGeom prst="rect">
            <a:avLst/>
          </a:prstGeom>
        </p:spPr>
      </p:pic>
      <p:sp>
        <p:nvSpPr>
          <p:cNvPr id="51" name="文本框 50">
            <a:extLst>
              <a:ext uri="{FF2B5EF4-FFF2-40B4-BE49-F238E27FC236}">
                <a16:creationId xmlns:a16="http://schemas.microsoft.com/office/drawing/2014/main" id="{73E26E03-3322-4831-9FA8-55FFBBB6A977}"/>
              </a:ext>
            </a:extLst>
          </p:cNvPr>
          <p:cNvSpPr txBox="1"/>
          <p:nvPr/>
        </p:nvSpPr>
        <p:spPr>
          <a:xfrm>
            <a:off x="4872676" y="4289131"/>
            <a:ext cx="6224066" cy="369332"/>
          </a:xfrm>
          <a:prstGeom prst="rect">
            <a:avLst/>
          </a:prstGeom>
          <a:noFill/>
        </p:spPr>
        <p:txBody>
          <a:bodyPr wrap="square">
            <a:spAutoFit/>
          </a:bodyPr>
          <a:lstStyle/>
          <a:p>
            <a:r>
              <a:rPr lang="zh-CN" altLang="en-US" b="1" spc="300" dirty="0">
                <a:ln w="6350">
                  <a:noFill/>
                </a:ln>
                <a:latin typeface="微软雅黑" panose="020B0503020204020204" pitchFamily="34" charset="-122"/>
                <a:ea typeface="微软雅黑" panose="020B0503020204020204" pitchFamily="34" charset="-122"/>
              </a:rPr>
              <a:t>电池充放电循环检测平台</a:t>
            </a:r>
            <a:endParaRPr lang="zh-CN" altLang="en-US" dirty="0"/>
          </a:p>
        </p:txBody>
      </p:sp>
      <p:pic>
        <p:nvPicPr>
          <p:cNvPr id="56" name="图片 55">
            <a:extLst>
              <a:ext uri="{FF2B5EF4-FFF2-40B4-BE49-F238E27FC236}">
                <a16:creationId xmlns:a16="http://schemas.microsoft.com/office/drawing/2014/main" id="{2DEEE4CC-6C61-44C3-9A62-1792CEE68313}"/>
              </a:ext>
            </a:extLst>
          </p:cNvPr>
          <p:cNvPicPr>
            <a:picLocks noChangeAspect="1"/>
          </p:cNvPicPr>
          <p:nvPr/>
        </p:nvPicPr>
        <p:blipFill>
          <a:blip r:embed="rId15"/>
          <a:stretch>
            <a:fillRect/>
          </a:stretch>
        </p:blipFill>
        <p:spPr>
          <a:xfrm>
            <a:off x="6456852" y="4665890"/>
            <a:ext cx="2016224" cy="1259612"/>
          </a:xfrm>
          <a:prstGeom prst="rect">
            <a:avLst/>
          </a:prstGeom>
        </p:spPr>
      </p:pic>
      <p:pic>
        <p:nvPicPr>
          <p:cNvPr id="52" name="图片 51">
            <a:extLst>
              <a:ext uri="{FF2B5EF4-FFF2-40B4-BE49-F238E27FC236}">
                <a16:creationId xmlns:a16="http://schemas.microsoft.com/office/drawing/2014/main" id="{C7A73337-26F7-4FB6-AB9B-AC6F1A6B3F67}"/>
              </a:ext>
            </a:extLst>
          </p:cNvPr>
          <p:cNvPicPr>
            <a:picLocks noChangeAspect="1"/>
          </p:cNvPicPr>
          <p:nvPr/>
        </p:nvPicPr>
        <p:blipFill>
          <a:blip r:embed="rId16"/>
          <a:stretch>
            <a:fillRect/>
          </a:stretch>
        </p:blipFill>
        <p:spPr>
          <a:xfrm>
            <a:off x="6478146" y="4741410"/>
            <a:ext cx="1973636" cy="1294204"/>
          </a:xfrm>
          <a:prstGeom prst="rect">
            <a:avLst/>
          </a:prstGeom>
          <a:ln>
            <a:noFill/>
          </a:ln>
          <a:effectLst>
            <a:outerShdw blurRad="292100" dist="139700" dir="2700000" algn="tl" rotWithShape="0">
              <a:srgbClr val="333333">
                <a:alpha val="65000"/>
              </a:srgbClr>
            </a:outerShdw>
          </a:effectLst>
        </p:spPr>
      </p:pic>
      <p:pic>
        <p:nvPicPr>
          <p:cNvPr id="58" name="图片 57">
            <a:extLst>
              <a:ext uri="{FF2B5EF4-FFF2-40B4-BE49-F238E27FC236}">
                <a16:creationId xmlns:a16="http://schemas.microsoft.com/office/drawing/2014/main" id="{6D29896B-07BB-4114-B7D1-3E513F584E8E}"/>
              </a:ext>
            </a:extLst>
          </p:cNvPr>
          <p:cNvPicPr>
            <a:picLocks noChangeAspect="1"/>
          </p:cNvPicPr>
          <p:nvPr/>
        </p:nvPicPr>
        <p:blipFill>
          <a:blip r:embed="rId17"/>
          <a:stretch>
            <a:fillRect/>
          </a:stretch>
        </p:blipFill>
        <p:spPr>
          <a:xfrm>
            <a:off x="4444749" y="1578337"/>
            <a:ext cx="3308247" cy="290286"/>
          </a:xfrm>
          <a:prstGeom prst="rect">
            <a:avLst/>
          </a:prstGeom>
        </p:spPr>
      </p:pic>
      <p:sp>
        <p:nvSpPr>
          <p:cNvPr id="60" name="文本框 59">
            <a:extLst>
              <a:ext uri="{FF2B5EF4-FFF2-40B4-BE49-F238E27FC236}">
                <a16:creationId xmlns:a16="http://schemas.microsoft.com/office/drawing/2014/main" id="{C93BCA18-A259-4244-BB2F-B547218FE705}"/>
              </a:ext>
            </a:extLst>
          </p:cNvPr>
          <p:cNvSpPr txBox="1"/>
          <p:nvPr/>
        </p:nvSpPr>
        <p:spPr>
          <a:xfrm>
            <a:off x="5145153" y="1558643"/>
            <a:ext cx="6224066" cy="369332"/>
          </a:xfrm>
          <a:prstGeom prst="rect">
            <a:avLst/>
          </a:prstGeom>
          <a:noFill/>
        </p:spPr>
        <p:txBody>
          <a:bodyPr wrap="square">
            <a:spAutoFit/>
          </a:bodyPr>
          <a:lstStyle/>
          <a:p>
            <a:r>
              <a:rPr lang="zh-CN" altLang="en-US" b="1" spc="300" dirty="0">
                <a:ln w="6350">
                  <a:noFill/>
                </a:ln>
                <a:latin typeface="微软雅黑" panose="020B0503020204020204" pitchFamily="34" charset="-122"/>
                <a:ea typeface="微软雅黑" panose="020B0503020204020204" pitchFamily="34" charset="-122"/>
              </a:rPr>
              <a:t>宽频带阻抗测试平台</a:t>
            </a:r>
            <a:endParaRPr lang="zh-CN" altLang="en-US" dirty="0"/>
          </a:p>
        </p:txBody>
      </p:sp>
      <p:pic>
        <p:nvPicPr>
          <p:cNvPr id="61" name="图片 60">
            <a:extLst>
              <a:ext uri="{FF2B5EF4-FFF2-40B4-BE49-F238E27FC236}">
                <a16:creationId xmlns:a16="http://schemas.microsoft.com/office/drawing/2014/main" id="{AAA19306-7BE0-4AC9-8B4A-4C5085EBA89B}"/>
              </a:ext>
            </a:extLst>
          </p:cNvPr>
          <p:cNvPicPr>
            <a:picLocks noChangeAspect="1"/>
          </p:cNvPicPr>
          <p:nvPr/>
        </p:nvPicPr>
        <p:blipFill>
          <a:blip r:embed="rId18"/>
          <a:stretch>
            <a:fillRect/>
          </a:stretch>
        </p:blipFill>
        <p:spPr>
          <a:xfrm>
            <a:off x="479894" y="1586472"/>
            <a:ext cx="3024629" cy="282152"/>
          </a:xfrm>
          <a:prstGeom prst="rect">
            <a:avLst/>
          </a:prstGeom>
        </p:spPr>
      </p:pic>
      <p:pic>
        <p:nvPicPr>
          <p:cNvPr id="63" name="图片 62">
            <a:extLst>
              <a:ext uri="{FF2B5EF4-FFF2-40B4-BE49-F238E27FC236}">
                <a16:creationId xmlns:a16="http://schemas.microsoft.com/office/drawing/2014/main" id="{5676AF10-EF00-4EC6-8039-EDDBE7C23F0D}"/>
              </a:ext>
            </a:extLst>
          </p:cNvPr>
          <p:cNvPicPr>
            <a:picLocks noChangeAspect="1"/>
          </p:cNvPicPr>
          <p:nvPr/>
        </p:nvPicPr>
        <p:blipFill>
          <a:blip r:embed="rId18"/>
          <a:stretch>
            <a:fillRect/>
          </a:stretch>
        </p:blipFill>
        <p:spPr>
          <a:xfrm>
            <a:off x="5735864" y="3476503"/>
            <a:ext cx="577880" cy="158758"/>
          </a:xfrm>
          <a:prstGeom prst="rect">
            <a:avLst/>
          </a:prstGeom>
        </p:spPr>
      </p:pic>
      <p:pic>
        <p:nvPicPr>
          <p:cNvPr id="8193" name="图片 8192">
            <a:extLst>
              <a:ext uri="{FF2B5EF4-FFF2-40B4-BE49-F238E27FC236}">
                <a16:creationId xmlns:a16="http://schemas.microsoft.com/office/drawing/2014/main" id="{11176B50-0402-44C8-BB46-BE2FF996211D}"/>
              </a:ext>
            </a:extLst>
          </p:cNvPr>
          <p:cNvPicPr>
            <a:picLocks noChangeAspect="1"/>
          </p:cNvPicPr>
          <p:nvPr/>
        </p:nvPicPr>
        <p:blipFill>
          <a:blip r:embed="rId18"/>
          <a:stretch>
            <a:fillRect/>
          </a:stretch>
        </p:blipFill>
        <p:spPr>
          <a:xfrm>
            <a:off x="5735864" y="3476503"/>
            <a:ext cx="577880" cy="158758"/>
          </a:xfrm>
          <a:prstGeom prst="rect">
            <a:avLst/>
          </a:prstGeom>
        </p:spPr>
      </p:pic>
      <p:sp>
        <p:nvSpPr>
          <p:cNvPr id="67" name="文本框 66">
            <a:extLst>
              <a:ext uri="{FF2B5EF4-FFF2-40B4-BE49-F238E27FC236}">
                <a16:creationId xmlns:a16="http://schemas.microsoft.com/office/drawing/2014/main" id="{173A60CF-19E4-464F-BD92-0DBFD007ABA4}"/>
              </a:ext>
            </a:extLst>
          </p:cNvPr>
          <p:cNvSpPr txBox="1"/>
          <p:nvPr/>
        </p:nvSpPr>
        <p:spPr>
          <a:xfrm>
            <a:off x="1372847" y="1558643"/>
            <a:ext cx="2245163" cy="369332"/>
          </a:xfrm>
          <a:prstGeom prst="rect">
            <a:avLst/>
          </a:prstGeom>
          <a:noFill/>
        </p:spPr>
        <p:txBody>
          <a:bodyPr wrap="square">
            <a:spAutoFit/>
          </a:bodyPr>
          <a:lstStyle/>
          <a:p>
            <a:r>
              <a:rPr lang="zh-CN" altLang="en-US" b="1" spc="300" dirty="0">
                <a:ln w="6350">
                  <a:noFill/>
                </a:ln>
                <a:latin typeface="微软雅黑" panose="020B0503020204020204" pitchFamily="34" charset="-122"/>
                <a:ea typeface="微软雅黑" panose="020B0503020204020204" pitchFamily="34" charset="-122"/>
              </a:rPr>
              <a:t>实验环境控制</a:t>
            </a:r>
            <a:endParaRPr lang="zh-CN" altLang="en-US" dirty="0"/>
          </a:p>
        </p:txBody>
      </p:sp>
      <p:pic>
        <p:nvPicPr>
          <p:cNvPr id="8195" name="图片 8194">
            <a:extLst>
              <a:ext uri="{FF2B5EF4-FFF2-40B4-BE49-F238E27FC236}">
                <a16:creationId xmlns:a16="http://schemas.microsoft.com/office/drawing/2014/main" id="{141454A7-CECF-465A-982E-7312A3188572}"/>
              </a:ext>
            </a:extLst>
          </p:cNvPr>
          <p:cNvPicPr>
            <a:picLocks noChangeAspect="1"/>
          </p:cNvPicPr>
          <p:nvPr/>
        </p:nvPicPr>
        <p:blipFill>
          <a:blip r:embed="rId19"/>
          <a:stretch>
            <a:fillRect/>
          </a:stretch>
        </p:blipFill>
        <p:spPr>
          <a:xfrm>
            <a:off x="2352396" y="3561499"/>
            <a:ext cx="1861816" cy="498439"/>
          </a:xfrm>
          <a:prstGeom prst="rect">
            <a:avLst/>
          </a:prstGeom>
        </p:spPr>
      </p:pic>
      <p:sp>
        <p:nvSpPr>
          <p:cNvPr id="71" name="文本框 70">
            <a:extLst>
              <a:ext uri="{FF2B5EF4-FFF2-40B4-BE49-F238E27FC236}">
                <a16:creationId xmlns:a16="http://schemas.microsoft.com/office/drawing/2014/main" id="{2888ADF5-C595-4BBD-BDA5-829C5C25905D}"/>
              </a:ext>
            </a:extLst>
          </p:cNvPr>
          <p:cNvSpPr txBox="1"/>
          <p:nvPr/>
        </p:nvSpPr>
        <p:spPr>
          <a:xfrm>
            <a:off x="2508054" y="3604857"/>
            <a:ext cx="1550499" cy="584775"/>
          </a:xfrm>
          <a:prstGeom prst="rect">
            <a:avLst/>
          </a:prstGeom>
          <a:noFill/>
        </p:spPr>
        <p:txBody>
          <a:bodyPr wrap="square">
            <a:spAutoFit/>
          </a:bodyPr>
          <a:lstStyle/>
          <a:p>
            <a:pPr algn="ctr"/>
            <a:r>
              <a:rPr lang="zh-CN" altLang="en-US" sz="1600" b="1" kern="0" dirty="0">
                <a:latin typeface="微软雅黑" panose="020B0503020204020204" pitchFamily="34" charset="-122"/>
                <a:ea typeface="微软雅黑" panose="020B0503020204020204" pitchFamily="34" charset="-122"/>
              </a:rPr>
              <a:t>电化学阻抗谱测试平台</a:t>
            </a:r>
            <a:endParaRPr lang="zh-CN" altLang="en-US" sz="1600" b="1" dirty="0"/>
          </a:p>
        </p:txBody>
      </p:sp>
      <p:pic>
        <p:nvPicPr>
          <p:cNvPr id="8199" name="图片 8198">
            <a:extLst>
              <a:ext uri="{FF2B5EF4-FFF2-40B4-BE49-F238E27FC236}">
                <a16:creationId xmlns:a16="http://schemas.microsoft.com/office/drawing/2014/main" id="{2F91CB3D-9324-4123-BD1B-5D7D3D390797}"/>
              </a:ext>
            </a:extLst>
          </p:cNvPr>
          <p:cNvPicPr>
            <a:picLocks noChangeAspect="1"/>
          </p:cNvPicPr>
          <p:nvPr/>
        </p:nvPicPr>
        <p:blipFill>
          <a:blip r:embed="rId20"/>
          <a:stretch>
            <a:fillRect/>
          </a:stretch>
        </p:blipFill>
        <p:spPr>
          <a:xfrm>
            <a:off x="2424555" y="5794003"/>
            <a:ext cx="1717496" cy="294556"/>
          </a:xfrm>
          <a:prstGeom prst="rect">
            <a:avLst/>
          </a:prstGeom>
        </p:spPr>
      </p:pic>
      <p:sp>
        <p:nvSpPr>
          <p:cNvPr id="74" name="文本框 73">
            <a:extLst>
              <a:ext uri="{FF2B5EF4-FFF2-40B4-BE49-F238E27FC236}">
                <a16:creationId xmlns:a16="http://schemas.microsoft.com/office/drawing/2014/main" id="{A0AA7C55-FB3C-4F68-B894-A267E46EBC63}"/>
              </a:ext>
            </a:extLst>
          </p:cNvPr>
          <p:cNvSpPr txBox="1"/>
          <p:nvPr/>
        </p:nvSpPr>
        <p:spPr>
          <a:xfrm>
            <a:off x="871035" y="5757763"/>
            <a:ext cx="4824535" cy="338554"/>
          </a:xfrm>
          <a:prstGeom prst="rect">
            <a:avLst/>
          </a:prstGeom>
          <a:noFill/>
        </p:spPr>
        <p:txBody>
          <a:bodyPr wrap="square">
            <a:spAutoFit/>
          </a:bodyPr>
          <a:lstStyle/>
          <a:p>
            <a:pPr algn="ctr"/>
            <a:r>
              <a:rPr lang="zh-CN" altLang="en-US" sz="1600" b="1" kern="0" dirty="0">
                <a:latin typeface="微软雅黑" panose="020B0503020204020204" pitchFamily="34" charset="-122"/>
                <a:ea typeface="微软雅黑" panose="020B0503020204020204" pitchFamily="34" charset="-122"/>
              </a:rPr>
              <a:t>充放电循环测试平台</a:t>
            </a:r>
            <a:endParaRPr lang="zh-CN" altLang="en-US" sz="1600" b="1" dirty="0"/>
          </a:p>
        </p:txBody>
      </p:sp>
      <p:pic>
        <p:nvPicPr>
          <p:cNvPr id="8201" name="图片 8200">
            <a:extLst>
              <a:ext uri="{FF2B5EF4-FFF2-40B4-BE49-F238E27FC236}">
                <a16:creationId xmlns:a16="http://schemas.microsoft.com/office/drawing/2014/main" id="{F7735059-AE40-4573-B3D7-11A6DB9BE469}"/>
              </a:ext>
            </a:extLst>
          </p:cNvPr>
          <p:cNvPicPr>
            <a:picLocks noChangeAspect="1"/>
          </p:cNvPicPr>
          <p:nvPr/>
        </p:nvPicPr>
        <p:blipFill>
          <a:blip r:embed="rId21"/>
          <a:stretch>
            <a:fillRect/>
          </a:stretch>
        </p:blipFill>
        <p:spPr>
          <a:xfrm>
            <a:off x="901408" y="5764912"/>
            <a:ext cx="841184" cy="321180"/>
          </a:xfrm>
          <a:prstGeom prst="rect">
            <a:avLst/>
          </a:prstGeom>
        </p:spPr>
      </p:pic>
      <p:sp>
        <p:nvSpPr>
          <p:cNvPr id="77" name="文本框 76">
            <a:extLst>
              <a:ext uri="{FF2B5EF4-FFF2-40B4-BE49-F238E27FC236}">
                <a16:creationId xmlns:a16="http://schemas.microsoft.com/office/drawing/2014/main" id="{01BB4E83-8C32-450B-9772-36A19946D264}"/>
              </a:ext>
            </a:extLst>
          </p:cNvPr>
          <p:cNvSpPr txBox="1"/>
          <p:nvPr/>
        </p:nvSpPr>
        <p:spPr>
          <a:xfrm>
            <a:off x="-1019072" y="5645122"/>
            <a:ext cx="4824535" cy="338554"/>
          </a:xfrm>
          <a:prstGeom prst="rect">
            <a:avLst/>
          </a:prstGeom>
          <a:noFill/>
        </p:spPr>
        <p:txBody>
          <a:bodyPr wrap="square">
            <a:spAutoFit/>
          </a:bodyPr>
          <a:lstStyle/>
          <a:p>
            <a:pPr algn="ctr"/>
            <a:r>
              <a:rPr lang="zh-CN" altLang="en-US" sz="1600" b="1" kern="0" dirty="0">
                <a:latin typeface="微软雅黑" panose="020B0503020204020204" pitchFamily="34" charset="-122"/>
                <a:ea typeface="微软雅黑" panose="020B0503020204020204" pitchFamily="34" charset="-122"/>
              </a:rPr>
              <a:t>恒温箱</a:t>
            </a:r>
            <a:endParaRPr lang="zh-CN" altLang="en-US" sz="1600" b="1" dirty="0"/>
          </a:p>
        </p:txBody>
      </p:sp>
      <p:pic>
        <p:nvPicPr>
          <p:cNvPr id="8203" name="图片 8202">
            <a:extLst>
              <a:ext uri="{FF2B5EF4-FFF2-40B4-BE49-F238E27FC236}">
                <a16:creationId xmlns:a16="http://schemas.microsoft.com/office/drawing/2014/main" id="{10E98A52-08C4-46C1-8061-EDF9F86ACB48}"/>
              </a:ext>
            </a:extLst>
          </p:cNvPr>
          <p:cNvPicPr>
            <a:picLocks noChangeAspect="1"/>
          </p:cNvPicPr>
          <p:nvPr/>
        </p:nvPicPr>
        <p:blipFill>
          <a:blip r:embed="rId22"/>
          <a:stretch>
            <a:fillRect/>
          </a:stretch>
        </p:blipFill>
        <p:spPr>
          <a:xfrm>
            <a:off x="4800668" y="2805883"/>
            <a:ext cx="1468047" cy="323076"/>
          </a:xfrm>
          <a:prstGeom prst="rect">
            <a:avLst/>
          </a:prstGeom>
        </p:spPr>
      </p:pic>
      <p:sp>
        <p:nvSpPr>
          <p:cNvPr id="80" name="文本框 79">
            <a:extLst>
              <a:ext uri="{FF2B5EF4-FFF2-40B4-BE49-F238E27FC236}">
                <a16:creationId xmlns:a16="http://schemas.microsoft.com/office/drawing/2014/main" id="{20AFD47B-F56A-461F-9DB3-6AD341A0A423}"/>
              </a:ext>
            </a:extLst>
          </p:cNvPr>
          <p:cNvSpPr txBox="1"/>
          <p:nvPr/>
        </p:nvSpPr>
        <p:spPr>
          <a:xfrm>
            <a:off x="3122423" y="2818721"/>
            <a:ext cx="4824535" cy="338554"/>
          </a:xfrm>
          <a:prstGeom prst="rect">
            <a:avLst/>
          </a:prstGeom>
          <a:noFill/>
        </p:spPr>
        <p:txBody>
          <a:bodyPr wrap="square">
            <a:spAutoFit/>
          </a:bodyPr>
          <a:lstStyle/>
          <a:p>
            <a:pPr algn="ctr"/>
            <a:r>
              <a:rPr lang="zh-CN" altLang="en-US" sz="1600" b="1" kern="0" dirty="0">
                <a:latin typeface="微软雅黑" panose="020B0503020204020204" pitchFamily="34" charset="-122"/>
                <a:ea typeface="微软雅黑" panose="020B0503020204020204" pitchFamily="34" charset="-122"/>
              </a:rPr>
              <a:t>电化学工作站</a:t>
            </a:r>
            <a:endParaRPr lang="zh-CN" altLang="en-US" sz="1600" b="1" dirty="0"/>
          </a:p>
        </p:txBody>
      </p:sp>
      <p:pic>
        <p:nvPicPr>
          <p:cNvPr id="8205" name="图片 8204">
            <a:extLst>
              <a:ext uri="{FF2B5EF4-FFF2-40B4-BE49-F238E27FC236}">
                <a16:creationId xmlns:a16="http://schemas.microsoft.com/office/drawing/2014/main" id="{0269818A-F2CA-41B3-BC5B-509D7950CD2E}"/>
              </a:ext>
            </a:extLst>
          </p:cNvPr>
          <p:cNvPicPr>
            <a:picLocks noChangeAspect="1"/>
          </p:cNvPicPr>
          <p:nvPr/>
        </p:nvPicPr>
        <p:blipFill>
          <a:blip r:embed="rId22"/>
          <a:stretch>
            <a:fillRect/>
          </a:stretch>
        </p:blipFill>
        <p:spPr>
          <a:xfrm>
            <a:off x="6586022" y="2962434"/>
            <a:ext cx="1794294" cy="182804"/>
          </a:xfrm>
          <a:prstGeom prst="rect">
            <a:avLst/>
          </a:prstGeom>
        </p:spPr>
      </p:pic>
      <p:sp>
        <p:nvSpPr>
          <p:cNvPr id="83" name="文本框 82">
            <a:extLst>
              <a:ext uri="{FF2B5EF4-FFF2-40B4-BE49-F238E27FC236}">
                <a16:creationId xmlns:a16="http://schemas.microsoft.com/office/drawing/2014/main" id="{B41B2584-7667-4279-B799-631B586F9838}"/>
              </a:ext>
            </a:extLst>
          </p:cNvPr>
          <p:cNvSpPr txBox="1"/>
          <p:nvPr/>
        </p:nvSpPr>
        <p:spPr>
          <a:xfrm>
            <a:off x="5052696" y="2886487"/>
            <a:ext cx="4824535" cy="338554"/>
          </a:xfrm>
          <a:prstGeom prst="rect">
            <a:avLst/>
          </a:prstGeom>
          <a:noFill/>
        </p:spPr>
        <p:txBody>
          <a:bodyPr wrap="square">
            <a:spAutoFit/>
          </a:bodyPr>
          <a:lstStyle/>
          <a:p>
            <a:pPr algn="ctr"/>
            <a:r>
              <a:rPr lang="en-US" altLang="zh-CN" sz="1600" b="1" kern="0" dirty="0">
                <a:latin typeface="微软雅黑" panose="020B0503020204020204" pitchFamily="34" charset="-122"/>
                <a:ea typeface="微软雅黑" panose="020B0503020204020204" pitchFamily="34" charset="-122"/>
              </a:rPr>
              <a:t>IM7587</a:t>
            </a:r>
            <a:r>
              <a:rPr lang="zh-CN" altLang="en-US" sz="1600" b="1" kern="0" dirty="0">
                <a:latin typeface="微软雅黑" panose="020B0503020204020204" pitchFamily="34" charset="-122"/>
                <a:ea typeface="微软雅黑" panose="020B0503020204020204" pitchFamily="34" charset="-122"/>
              </a:rPr>
              <a:t>阻抗分析仪</a:t>
            </a:r>
            <a:endParaRPr lang="zh-CN" altLang="en-US" sz="1600" b="1" dirty="0"/>
          </a:p>
        </p:txBody>
      </p:sp>
      <p:pic>
        <p:nvPicPr>
          <p:cNvPr id="8207" name="图片 8206">
            <a:extLst>
              <a:ext uri="{FF2B5EF4-FFF2-40B4-BE49-F238E27FC236}">
                <a16:creationId xmlns:a16="http://schemas.microsoft.com/office/drawing/2014/main" id="{165474E8-8082-44D6-997F-A68B20DFF080}"/>
              </a:ext>
            </a:extLst>
          </p:cNvPr>
          <p:cNvPicPr>
            <a:picLocks noChangeAspect="1"/>
          </p:cNvPicPr>
          <p:nvPr/>
        </p:nvPicPr>
        <p:blipFill>
          <a:blip r:embed="rId23"/>
          <a:stretch>
            <a:fillRect/>
          </a:stretch>
        </p:blipFill>
        <p:spPr>
          <a:xfrm>
            <a:off x="4875943" y="5568163"/>
            <a:ext cx="1317493" cy="512359"/>
          </a:xfrm>
          <a:prstGeom prst="rect">
            <a:avLst/>
          </a:prstGeom>
        </p:spPr>
      </p:pic>
      <p:sp>
        <p:nvSpPr>
          <p:cNvPr id="86" name="文本框 85">
            <a:extLst>
              <a:ext uri="{FF2B5EF4-FFF2-40B4-BE49-F238E27FC236}">
                <a16:creationId xmlns:a16="http://schemas.microsoft.com/office/drawing/2014/main" id="{B7E7A4E1-F437-49FD-AB9B-AB74B4C3A7FB}"/>
              </a:ext>
            </a:extLst>
          </p:cNvPr>
          <p:cNvSpPr txBox="1"/>
          <p:nvPr/>
        </p:nvSpPr>
        <p:spPr>
          <a:xfrm>
            <a:off x="3116962" y="5637208"/>
            <a:ext cx="4824535" cy="338554"/>
          </a:xfrm>
          <a:prstGeom prst="rect">
            <a:avLst/>
          </a:prstGeom>
          <a:noFill/>
        </p:spPr>
        <p:txBody>
          <a:bodyPr wrap="square">
            <a:spAutoFit/>
          </a:bodyPr>
          <a:lstStyle/>
          <a:p>
            <a:pPr algn="ctr"/>
            <a:r>
              <a:rPr lang="zh-CN" altLang="en-US" sz="1600" b="1" kern="0" dirty="0">
                <a:latin typeface="微软雅黑" panose="020B0503020204020204" pitchFamily="34" charset="-122"/>
                <a:ea typeface="微软雅黑" panose="020B0503020204020204" pitchFamily="34" charset="-122"/>
              </a:rPr>
              <a:t>电池检测系统</a:t>
            </a:r>
            <a:endParaRPr lang="zh-CN" altLang="en-US" sz="1600" b="1" dirty="0"/>
          </a:p>
        </p:txBody>
      </p:sp>
      <p:sp>
        <p:nvSpPr>
          <p:cNvPr id="88" name="箭头: 右 87">
            <a:extLst>
              <a:ext uri="{FF2B5EF4-FFF2-40B4-BE49-F238E27FC236}">
                <a16:creationId xmlns:a16="http://schemas.microsoft.com/office/drawing/2014/main" id="{143DA9D6-D93D-42D4-96F1-6D325594B0AF}"/>
              </a:ext>
            </a:extLst>
          </p:cNvPr>
          <p:cNvSpPr/>
          <p:nvPr/>
        </p:nvSpPr>
        <p:spPr>
          <a:xfrm>
            <a:off x="8397504" y="3370175"/>
            <a:ext cx="612986" cy="898942"/>
          </a:xfrm>
          <a:prstGeom prst="rightArrow">
            <a:avLst/>
          </a:prstGeom>
          <a:gradFill flip="none" rotWithShape="1">
            <a:gsLst>
              <a:gs pos="0">
                <a:srgbClr val="F4FAFD"/>
              </a:gs>
              <a:gs pos="100000">
                <a:srgbClr val="1B69B4"/>
              </a:gs>
            </a:gsLst>
            <a:lin ang="0" scaled="1"/>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500"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anim calcmode="lin" valueType="num">
                                      <p:cBhvr>
                                        <p:cTn id="8" dur="500" fill="hold"/>
                                        <p:tgtEl>
                                          <p:spTgt spid="28"/>
                                        </p:tgtEl>
                                        <p:attrNameLst>
                                          <p:attrName>ppt_x</p:attrName>
                                        </p:attrNameLst>
                                      </p:cBhvr>
                                      <p:tavLst>
                                        <p:tav tm="0">
                                          <p:val>
                                            <p:strVal val="#ppt_x"/>
                                          </p:val>
                                        </p:tav>
                                        <p:tav tm="100000">
                                          <p:val>
                                            <p:strVal val="#ppt_x"/>
                                          </p:val>
                                        </p:tav>
                                      </p:tavLst>
                                    </p:anim>
                                    <p:anim calcmode="lin" valueType="num">
                                      <p:cBhvr>
                                        <p:cTn id="9" dur="5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6" name="组合 1"/>
          <p:cNvGrpSpPr/>
          <p:nvPr/>
        </p:nvGrpSpPr>
        <p:grpSpPr bwMode="auto">
          <a:xfrm>
            <a:off x="268288" y="103188"/>
            <a:ext cx="6043736" cy="892552"/>
            <a:chOff x="267858" y="102478"/>
            <a:chExt cx="3438433" cy="893905"/>
          </a:xfrm>
        </p:grpSpPr>
        <p:sp>
          <p:nvSpPr>
            <p:cNvPr id="5" name="矩形 65"/>
            <p:cNvSpPr>
              <a:spLocks noChangeArrowheads="1"/>
            </p:cNvSpPr>
            <p:nvPr/>
          </p:nvSpPr>
          <p:spPr bwMode="auto">
            <a:xfrm>
              <a:off x="267858" y="102478"/>
              <a:ext cx="3438433" cy="893905"/>
            </a:xfrm>
            <a:prstGeom prst="rect">
              <a:avLst/>
            </a:prstGeom>
            <a:no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685800" eaLnBrk="1" fontAlgn="auto" hangingPunct="1">
                <a:spcBef>
                  <a:spcPct val="0"/>
                </a:spcBef>
                <a:spcAft>
                  <a:spcPts val="0"/>
                </a:spcAft>
                <a:buNone/>
                <a:defRPr/>
              </a:pPr>
              <a:r>
                <a:rPr lang="en-US" altLang="zh-CN" b="1" spc="300" dirty="0">
                  <a:ln w="6350">
                    <a:noFill/>
                  </a:ln>
                  <a:solidFill>
                    <a:srgbClr val="1B69B4"/>
                  </a:solidFill>
                  <a:latin typeface="微软雅黑" panose="020B0503020204020204" pitchFamily="34" charset="-122"/>
                  <a:ea typeface="微软雅黑" panose="020B0503020204020204" pitchFamily="34" charset="-122"/>
                </a:rPr>
                <a:t>11EIS</a:t>
              </a:r>
              <a:r>
                <a:rPr lang="zh-CN" altLang="en-US" b="1" spc="300" dirty="0">
                  <a:ln w="6350">
                    <a:noFill/>
                  </a:ln>
                  <a:solidFill>
                    <a:srgbClr val="1B69B4"/>
                  </a:solidFill>
                  <a:latin typeface="微软雅黑" panose="020B0503020204020204" pitchFamily="34" charset="-122"/>
                  <a:ea typeface="微软雅黑" panose="020B0503020204020204" pitchFamily="34" charset="-122"/>
                </a:rPr>
                <a:t>特征测试结果 </a:t>
              </a:r>
              <a:r>
                <a:rPr lang="zh-CN" altLang="en-US" sz="2000" b="1" spc="300" dirty="0">
                  <a:ln w="6350">
                    <a:noFill/>
                  </a:ln>
                  <a:solidFill>
                    <a:srgbClr val="1B69B4"/>
                  </a:solidFill>
                  <a:latin typeface="微软雅黑" panose="020B0503020204020204" pitchFamily="34" charset="-122"/>
                  <a:ea typeface="微软雅黑" panose="020B0503020204020204" pitchFamily="34" charset="-122"/>
                </a:rPr>
                <a:t>规律分析</a:t>
              </a:r>
            </a:p>
          </p:txBody>
        </p:sp>
        <p:sp>
          <p:nvSpPr>
            <p:cNvPr id="6" name="矩形 5"/>
            <p:cNvSpPr/>
            <p:nvPr/>
          </p:nvSpPr>
          <p:spPr>
            <a:xfrm>
              <a:off x="333094" y="659333"/>
              <a:ext cx="2653687" cy="45719"/>
            </a:xfrm>
            <a:prstGeom prst="rect">
              <a:avLst/>
            </a:prstGeom>
            <a:gradFill flip="none" rotWithShape="1">
              <a:gsLst>
                <a:gs pos="100000">
                  <a:schemeClr val="bg1">
                    <a:alpha val="0"/>
                  </a:schemeClr>
                </a:gs>
                <a:gs pos="4000">
                  <a:srgbClr val="1B69B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1B69B4"/>
                </a:solidFill>
              </a:endParaRPr>
            </a:p>
          </p:txBody>
        </p:sp>
      </p:grpSp>
      <p:pic>
        <p:nvPicPr>
          <p:cNvPr id="28" name="图片 27"/>
          <p:cNvPicPr>
            <a:picLocks noChangeAspect="1"/>
          </p:cNvPicPr>
          <p:nvPr/>
        </p:nvPicPr>
        <p:blipFill>
          <a:blip r:embed="rId2"/>
          <a:stretch>
            <a:fillRect/>
          </a:stretch>
        </p:blipFill>
        <p:spPr>
          <a:xfrm>
            <a:off x="191135" y="825500"/>
            <a:ext cx="6229350" cy="6032500"/>
          </a:xfrm>
          <a:prstGeom prst="rect">
            <a:avLst/>
          </a:prstGeom>
        </p:spPr>
      </p:pic>
      <p:sp>
        <p:nvSpPr>
          <p:cNvPr id="33" name="矩形 32"/>
          <p:cNvSpPr/>
          <p:nvPr/>
        </p:nvSpPr>
        <p:spPr>
          <a:xfrm>
            <a:off x="6560185" y="1005840"/>
            <a:ext cx="5389880" cy="5744845"/>
          </a:xfrm>
          <a:prstGeom prst="rect">
            <a:avLst/>
          </a:prstGeom>
          <a:noFill/>
          <a:ln w="38100">
            <a:solidFill>
              <a:srgbClr val="1B69B4"/>
            </a:solidFill>
            <a:prstDash val="dash"/>
          </a:ln>
          <a:effectLst>
            <a:outerShdw blurRad="63500" sx="102000" sy="102000" algn="ctr" rotWithShape="0">
              <a:srgbClr val="1B69B4">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3"/>
          <p:cNvSpPr/>
          <p:nvPr/>
        </p:nvSpPr>
        <p:spPr>
          <a:xfrm>
            <a:off x="8298815" y="766445"/>
            <a:ext cx="2424430" cy="411480"/>
          </a:xfrm>
          <a:prstGeom prst="roundRect">
            <a:avLst/>
          </a:prstGeom>
          <a:solidFill>
            <a:srgbClr val="1B69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结果分析</a:t>
            </a:r>
          </a:p>
        </p:txBody>
      </p:sp>
      <p:sp>
        <p:nvSpPr>
          <p:cNvPr id="30" name="文本框 29"/>
          <p:cNvSpPr txBox="1"/>
          <p:nvPr/>
        </p:nvSpPr>
        <p:spPr>
          <a:xfrm>
            <a:off x="6714490" y="1485265"/>
            <a:ext cx="5253355" cy="3723005"/>
          </a:xfrm>
          <a:prstGeom prst="rect">
            <a:avLst/>
          </a:prstGeom>
        </p:spPr>
        <p:txBody>
          <a:bodyPr wrap="square">
            <a:spAutoFit/>
          </a:bodyPr>
          <a:lstStyle/>
          <a:p>
            <a:pPr marL="0" indent="304800" defTabSz="266700" fontAlgn="ctr" latinLnBrk="0">
              <a:lnSpc>
                <a:spcPct val="150000"/>
              </a:lnSpc>
              <a:spcBef>
                <a:spcPts val="600"/>
              </a:spcBef>
              <a:spcAft>
                <a:spcPts val="600"/>
              </a:spcAft>
            </a:pP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）在高频区（</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&gt;100Hz</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），阻抗谱呈现与欧姆内阻相关的实部截距，受</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SOC</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变化影响较小；</a:t>
            </a:r>
          </a:p>
          <a:p>
            <a:pPr marL="0" indent="304800" defTabSz="266700" fontAlgn="ctr" latinLnBrk="0">
              <a:lnSpc>
                <a:spcPct val="150000"/>
              </a:lnSpc>
              <a:spcBef>
                <a:spcPts val="600"/>
              </a:spcBef>
              <a:spcAft>
                <a:spcPts val="600"/>
              </a:spcAft>
            </a:pP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）在中频区（</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0.1-100Hz</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），容抗弧半径随</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SOC</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降低而显著增大，表明电荷传递过程对电池状态具有敏感响应；</a:t>
            </a:r>
          </a:p>
          <a:p>
            <a:pPr marL="0" indent="304800" defTabSz="266700" fontAlgn="ctr" latinLnBrk="0">
              <a:lnSpc>
                <a:spcPct val="150000"/>
              </a:lnSpc>
              <a:spcBef>
                <a:spcPts val="600"/>
              </a:spcBef>
              <a:spcAft>
                <a:spcPts val="600"/>
              </a:spcAft>
            </a:pP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）在低频区（</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&lt;0.1Hz</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Warburg</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扩散特征与锂离子在电极中的传输速率密切相关，呈现明显的</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SOC</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依赖性。</a:t>
            </a:r>
          </a:p>
        </p:txBody>
      </p:sp>
      <p:sp>
        <p:nvSpPr>
          <p:cNvPr id="32" name="矩形 31"/>
          <p:cNvSpPr/>
          <p:nvPr/>
        </p:nvSpPr>
        <p:spPr>
          <a:xfrm>
            <a:off x="6643370" y="5415915"/>
            <a:ext cx="5201920" cy="1082675"/>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为后续建立基于特征频率的快速检测方法提供了重要依据</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85224" y="1014436"/>
            <a:ext cx="3303743" cy="5650206"/>
          </a:xfrm>
          <a:prstGeom prst="rect">
            <a:avLst/>
          </a:prstGeom>
          <a:noFill/>
          <a:ln w="38100">
            <a:solidFill>
              <a:srgbClr val="1B69B4"/>
            </a:solidFill>
            <a:prstDash val="dash"/>
          </a:ln>
          <a:effectLst>
            <a:outerShdw blurRad="63500" sx="102000" sy="102000" algn="ctr" rotWithShape="0">
              <a:srgbClr val="1B69B4">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bwMode="auto">
          <a:xfrm>
            <a:off x="370657" y="659200"/>
            <a:ext cx="4164223" cy="45650"/>
          </a:xfrm>
          <a:prstGeom prst="rect">
            <a:avLst/>
          </a:prstGeom>
          <a:gradFill flip="none" rotWithShape="1">
            <a:gsLst>
              <a:gs pos="100000">
                <a:schemeClr val="bg1">
                  <a:alpha val="0"/>
                </a:schemeClr>
              </a:gs>
              <a:gs pos="4000">
                <a:srgbClr val="1B69B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1B69B4"/>
              </a:solidFill>
            </a:endParaRPr>
          </a:p>
        </p:txBody>
      </p:sp>
      <p:pic>
        <p:nvPicPr>
          <p:cNvPr id="41" name="图片 4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80376" y="195720"/>
            <a:ext cx="2514152" cy="673296"/>
          </a:xfrm>
          <a:prstGeom prst="rect">
            <a:avLst/>
          </a:prstGeom>
        </p:spPr>
      </p:pic>
      <p:sp>
        <p:nvSpPr>
          <p:cNvPr id="7" name="文本框 6"/>
          <p:cNvSpPr txBox="1"/>
          <p:nvPr/>
        </p:nvSpPr>
        <p:spPr>
          <a:xfrm>
            <a:off x="4316047" y="1411220"/>
            <a:ext cx="3418530" cy="2116798"/>
          </a:xfrm>
          <a:prstGeom prst="rect">
            <a:avLst/>
          </a:prstGeom>
          <a:noFill/>
        </p:spPr>
        <p:txBody>
          <a:bodyPr wrap="square" rtlCol="0">
            <a:spAutoFit/>
          </a:bodyPr>
          <a:lstStyle/>
          <a:p>
            <a:pPr algn="just">
              <a:lnSpc>
                <a:spcPct val="120000"/>
              </a:lnSpc>
            </a:pPr>
            <a:r>
              <a:rPr lang="zh-CN" altLang="en-US" sz="28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完成便携式</a:t>
            </a:r>
            <a:r>
              <a:rPr lang="en-US" altLang="zh-CN" sz="28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EIS</a:t>
            </a:r>
            <a:r>
              <a:rPr lang="zh-CN" altLang="en-US" sz="28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硬件原型搭建与软硬件联调，实现快速阻抗采集与状态识别。</a:t>
            </a:r>
          </a:p>
        </p:txBody>
      </p:sp>
      <p:sp>
        <p:nvSpPr>
          <p:cNvPr id="9" name="矩形 8"/>
          <p:cNvSpPr/>
          <p:nvPr/>
        </p:nvSpPr>
        <p:spPr>
          <a:xfrm>
            <a:off x="738193" y="1411220"/>
            <a:ext cx="3114816" cy="2246769"/>
          </a:xfrm>
          <a:prstGeom prst="rect">
            <a:avLst/>
          </a:prstGeom>
        </p:spPr>
        <p:txBody>
          <a:bodyPr wrap="square">
            <a:spAutoFit/>
          </a:bodyPr>
          <a:lstStyle/>
          <a:p>
            <a:r>
              <a:rPr lang="zh-CN" altLang="en-US" sz="28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深入分析</a:t>
            </a:r>
            <a:r>
              <a:rPr lang="en-US" altLang="zh-CN" sz="28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EIS</a:t>
            </a:r>
            <a:r>
              <a:rPr lang="zh-CN" altLang="en-US" sz="28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数据，建立</a:t>
            </a:r>
            <a:r>
              <a:rPr lang="en-US" altLang="zh-CN" sz="28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SOC/SOH</a:t>
            </a:r>
            <a:r>
              <a:rPr lang="zh-CN" altLang="en-US" sz="28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与阻抗特征的映射模型，完成电池状态评估算法原型</a:t>
            </a:r>
            <a:r>
              <a:rPr lang="en-US" altLang="zh-CN" sz="28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8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矩形: 圆角 28"/>
          <p:cNvSpPr/>
          <p:nvPr/>
        </p:nvSpPr>
        <p:spPr>
          <a:xfrm>
            <a:off x="1197964" y="845540"/>
            <a:ext cx="2117203" cy="341202"/>
          </a:xfrm>
          <a:prstGeom prst="roundRect">
            <a:avLst/>
          </a:prstGeom>
          <a:solidFill>
            <a:srgbClr val="1B69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计划一</a:t>
            </a:r>
          </a:p>
        </p:txBody>
      </p:sp>
      <p:sp>
        <p:nvSpPr>
          <p:cNvPr id="31" name="矩形 30"/>
          <p:cNvSpPr/>
          <p:nvPr/>
        </p:nvSpPr>
        <p:spPr>
          <a:xfrm>
            <a:off x="4266189" y="1012595"/>
            <a:ext cx="3468388" cy="5650206"/>
          </a:xfrm>
          <a:prstGeom prst="rect">
            <a:avLst/>
          </a:prstGeom>
          <a:noFill/>
          <a:ln w="38100">
            <a:solidFill>
              <a:srgbClr val="1B69B4"/>
            </a:solidFill>
            <a:prstDash val="dash"/>
          </a:ln>
          <a:effectLst>
            <a:outerShdw blurRad="63500" sx="102000" sy="102000" algn="ctr" rotWithShape="0">
              <a:srgbClr val="1B69B4">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圆角 31"/>
          <p:cNvSpPr/>
          <p:nvPr/>
        </p:nvSpPr>
        <p:spPr>
          <a:xfrm>
            <a:off x="4871864" y="845540"/>
            <a:ext cx="2117203" cy="341202"/>
          </a:xfrm>
          <a:prstGeom prst="roundRect">
            <a:avLst/>
          </a:prstGeom>
          <a:solidFill>
            <a:srgbClr val="1B69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计划二</a:t>
            </a:r>
          </a:p>
        </p:txBody>
      </p:sp>
      <p:sp>
        <p:nvSpPr>
          <p:cNvPr id="33" name="矩形 32"/>
          <p:cNvSpPr/>
          <p:nvPr/>
        </p:nvSpPr>
        <p:spPr>
          <a:xfrm>
            <a:off x="7988351" y="1022109"/>
            <a:ext cx="3468388" cy="5650205"/>
          </a:xfrm>
          <a:prstGeom prst="rect">
            <a:avLst/>
          </a:prstGeom>
          <a:noFill/>
          <a:ln w="38100">
            <a:solidFill>
              <a:srgbClr val="1B69B4"/>
            </a:solidFill>
            <a:prstDash val="dash"/>
          </a:ln>
          <a:effectLst>
            <a:outerShdw blurRad="63500" sx="102000" sy="102000" algn="ctr" rotWithShape="0">
              <a:srgbClr val="1B69B4">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3"/>
          <p:cNvSpPr/>
          <p:nvPr/>
        </p:nvSpPr>
        <p:spPr>
          <a:xfrm>
            <a:off x="8520431" y="847963"/>
            <a:ext cx="2424580" cy="341202"/>
          </a:xfrm>
          <a:prstGeom prst="roundRect">
            <a:avLst/>
          </a:prstGeom>
          <a:solidFill>
            <a:srgbClr val="1B69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计划三</a:t>
            </a:r>
          </a:p>
        </p:txBody>
      </p:sp>
      <p:sp>
        <p:nvSpPr>
          <p:cNvPr id="39" name="矩形 38"/>
          <p:cNvSpPr/>
          <p:nvPr/>
        </p:nvSpPr>
        <p:spPr>
          <a:xfrm flipH="1">
            <a:off x="8201320" y="1352809"/>
            <a:ext cx="3117261" cy="2677656"/>
          </a:xfrm>
          <a:prstGeom prst="rect">
            <a:avLst/>
          </a:prstGeom>
        </p:spPr>
        <p:txBody>
          <a:bodyPr wrap="square">
            <a:spAutoFit/>
          </a:bodyPr>
          <a:lstStyle/>
          <a:p>
            <a:r>
              <a:rPr lang="zh-CN" altLang="en-US" sz="2800" b="1" dirty="0">
                <a:solidFill>
                  <a:srgbClr val="1B69B4"/>
                </a:solidFill>
                <a:latin typeface="微软雅黑" panose="020B0503020204020204" pitchFamily="34" charset="-122"/>
                <a:ea typeface="微软雅黑" panose="020B0503020204020204" pitchFamily="34" charset="-122"/>
                <a:cs typeface="Times New Roman" panose="02020603050405020304" pitchFamily="18" charset="0"/>
              </a:rPr>
              <a:t>系统集成测试与性能验证，撰写结题报告，提交论文或专利申请，申请参加一项科技竞赛，准备结题答辩。</a:t>
            </a:r>
          </a:p>
        </p:txBody>
      </p:sp>
      <p:sp>
        <p:nvSpPr>
          <p:cNvPr id="30" name="矩形 65"/>
          <p:cNvSpPr>
            <a:spLocks noChangeArrowheads="1"/>
          </p:cNvSpPr>
          <p:nvPr/>
        </p:nvSpPr>
        <p:spPr bwMode="auto">
          <a:xfrm>
            <a:off x="268288" y="103188"/>
            <a:ext cx="7051848" cy="583565"/>
          </a:xfrm>
          <a:prstGeom prst="rect">
            <a:avLst/>
          </a:prstGeom>
          <a:no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685800" eaLnBrk="1" fontAlgn="auto" hangingPunct="1">
              <a:spcBef>
                <a:spcPct val="0"/>
              </a:spcBef>
              <a:spcAft>
                <a:spcPts val="0"/>
              </a:spcAft>
              <a:buNone/>
              <a:defRPr/>
            </a:pPr>
            <a:r>
              <a:rPr lang="en-US" altLang="zh-CN" b="1" spc="300" dirty="0">
                <a:ln w="6350">
                  <a:noFill/>
                </a:ln>
                <a:solidFill>
                  <a:srgbClr val="1B69B4"/>
                </a:solidFill>
                <a:latin typeface="微软雅黑" panose="020B0503020204020204" pitchFamily="34" charset="-122"/>
                <a:ea typeface="微软雅黑" panose="020B0503020204020204" pitchFamily="34" charset="-122"/>
              </a:rPr>
              <a:t>12</a:t>
            </a:r>
            <a:r>
              <a:rPr lang="zh-CN" altLang="en-US" b="1" spc="300" dirty="0">
                <a:ln w="6350">
                  <a:noFill/>
                </a:ln>
                <a:solidFill>
                  <a:srgbClr val="1B69B4"/>
                </a:solidFill>
                <a:latin typeface="微软雅黑" panose="020B0503020204020204" pitchFamily="34" charset="-122"/>
                <a:ea typeface="微软雅黑" panose="020B0503020204020204" pitchFamily="34" charset="-122"/>
              </a:rPr>
              <a:t>未来计划</a:t>
            </a:r>
          </a:p>
        </p:txBody>
      </p:sp>
      <p:sp>
        <p:nvSpPr>
          <p:cNvPr id="3" name="下箭头 24">
            <a:extLst>
              <a:ext uri="{FF2B5EF4-FFF2-40B4-BE49-F238E27FC236}">
                <a16:creationId xmlns:a16="http://schemas.microsoft.com/office/drawing/2014/main" id="{6E281566-1A5B-ADD7-D2E4-4EB44BE94C28}"/>
              </a:ext>
            </a:extLst>
          </p:cNvPr>
          <p:cNvSpPr/>
          <p:nvPr/>
        </p:nvSpPr>
        <p:spPr>
          <a:xfrm rot="16200000">
            <a:off x="3305998" y="4243188"/>
            <a:ext cx="319435" cy="546298"/>
          </a:xfrm>
          <a:prstGeom prst="downArrow">
            <a:avLst/>
          </a:prstGeom>
          <a:gradFill>
            <a:gsLst>
              <a:gs pos="0">
                <a:srgbClr val="F5F7FC"/>
              </a:gs>
              <a:gs pos="100000">
                <a:srgbClr val="4685C2"/>
              </a:gs>
            </a:gsLst>
            <a:lin ang="5400000" scaled="0"/>
          </a:gradFill>
          <a:ln>
            <a:noFill/>
          </a:ln>
        </p:spPr>
        <p:style>
          <a:lnRef idx="1">
            <a:schemeClr val="accent1"/>
          </a:lnRef>
          <a:fillRef idx="2">
            <a:schemeClr val="accent1"/>
          </a:fillRef>
          <a:effectRef idx="1">
            <a:schemeClr val="accent1"/>
          </a:effectRef>
          <a:fontRef idx="minor">
            <a:schemeClr val="dk1"/>
          </a:fontRef>
        </p:style>
        <p:txBody>
          <a:bodyPr rtlCol="0" anchor="ctr"/>
          <a:lstStyle>
            <a:defPPr>
              <a:defRPr lang="en-US"/>
            </a:defPPr>
            <a:lvl1pPr algn="l" defTabSz="457200" rtl="0" eaLnBrk="0" fontAlgn="base" hangingPunct="0">
              <a:spcBef>
                <a:spcPct val="0"/>
              </a:spcBef>
              <a:spcAft>
                <a:spcPct val="0"/>
              </a:spcAft>
              <a:defRPr kern="1200">
                <a:solidFill>
                  <a:schemeClr val="dk1"/>
                </a:solidFill>
                <a:latin typeface="+mn-lt"/>
                <a:ea typeface="+mn-ea"/>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黑体" panose="02010609060101010101" charset="-122"/>
              <a:ea typeface="黑体" panose="02010609060101010101" charset="-122"/>
            </a:endParaRPr>
          </a:p>
        </p:txBody>
      </p:sp>
      <p:pic>
        <p:nvPicPr>
          <p:cNvPr id="5" name="图片 4">
            <a:extLst>
              <a:ext uri="{FF2B5EF4-FFF2-40B4-BE49-F238E27FC236}">
                <a16:creationId xmlns:a16="http://schemas.microsoft.com/office/drawing/2014/main" id="{82821004-5EBD-8BDC-08E9-79352128BE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129" y="3784754"/>
            <a:ext cx="2280433" cy="1463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DCFFAF83-5A64-8DDF-1DB8-8772A8CAA0F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14490" y="5441969"/>
            <a:ext cx="1019954" cy="1019954"/>
          </a:xfrm>
          <a:prstGeom prst="rect">
            <a:avLst/>
          </a:prstGeom>
        </p:spPr>
      </p:pic>
      <p:pic>
        <p:nvPicPr>
          <p:cNvPr id="19" name="图片 18">
            <a:extLst>
              <a:ext uri="{FF2B5EF4-FFF2-40B4-BE49-F238E27FC236}">
                <a16:creationId xmlns:a16="http://schemas.microsoft.com/office/drawing/2014/main" id="{D0084605-8599-688D-8E6C-E4D9B82CFBC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294721" y="4185512"/>
            <a:ext cx="2855648" cy="1903765"/>
          </a:xfrm>
          <a:prstGeom prst="rect">
            <a:avLst/>
          </a:prstGeom>
        </p:spPr>
      </p:pic>
      <p:pic>
        <p:nvPicPr>
          <p:cNvPr id="21" name="图片 20">
            <a:extLst>
              <a:ext uri="{FF2B5EF4-FFF2-40B4-BE49-F238E27FC236}">
                <a16:creationId xmlns:a16="http://schemas.microsoft.com/office/drawing/2014/main" id="{2A83145A-0BA7-2185-BDAE-928D2182FB5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37635" y="4185512"/>
            <a:ext cx="2925495" cy="195033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顶角 6"/>
          <p:cNvSpPr/>
          <p:nvPr/>
        </p:nvSpPr>
        <p:spPr>
          <a:xfrm rot="5400000">
            <a:off x="4578900" y="-2294535"/>
            <a:ext cx="2541476" cy="10740523"/>
          </a:xfrm>
          <a:prstGeom prst="round2SameRect">
            <a:avLst>
              <a:gd name="adj1" fmla="val 0"/>
              <a:gd name="adj2" fmla="val 0"/>
            </a:avLst>
          </a:prstGeom>
          <a:gradFill flip="none" rotWithShape="1">
            <a:gsLst>
              <a:gs pos="23000">
                <a:srgbClr val="F2FCFF"/>
              </a:gs>
              <a:gs pos="100000">
                <a:srgbClr val="FFFFFF">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矩形: 圆顶角 7"/>
          <p:cNvSpPr/>
          <p:nvPr/>
        </p:nvSpPr>
        <p:spPr>
          <a:xfrm rot="16200000">
            <a:off x="4398642" y="2385033"/>
            <a:ext cx="2541474" cy="6433217"/>
          </a:xfrm>
          <a:prstGeom prst="round2SameRect">
            <a:avLst>
              <a:gd name="adj1" fmla="val 0"/>
              <a:gd name="adj2" fmla="val 0"/>
            </a:avLst>
          </a:prstGeom>
          <a:gradFill flip="none" rotWithShape="1">
            <a:gsLst>
              <a:gs pos="19000">
                <a:srgbClr val="F2FCFF"/>
              </a:gs>
              <a:gs pos="100000">
                <a:srgbClr val="FFFFFF">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8196" name="组合 1"/>
          <p:cNvGrpSpPr/>
          <p:nvPr/>
        </p:nvGrpSpPr>
        <p:grpSpPr bwMode="auto">
          <a:xfrm>
            <a:off x="268288" y="103188"/>
            <a:ext cx="5293023" cy="601662"/>
            <a:chOff x="267858" y="102478"/>
            <a:chExt cx="3373024" cy="602574"/>
          </a:xfrm>
        </p:grpSpPr>
        <p:sp>
          <p:nvSpPr>
            <p:cNvPr id="3" name="矩形 65"/>
            <p:cNvSpPr>
              <a:spLocks noChangeArrowheads="1"/>
            </p:cNvSpPr>
            <p:nvPr/>
          </p:nvSpPr>
          <p:spPr bwMode="auto">
            <a:xfrm>
              <a:off x="267858" y="102478"/>
              <a:ext cx="3373024" cy="585661"/>
            </a:xfrm>
            <a:prstGeom prst="rect">
              <a:avLst/>
            </a:prstGeom>
            <a:no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685800" eaLnBrk="1" fontAlgn="auto" hangingPunct="1">
                <a:spcBef>
                  <a:spcPct val="0"/>
                </a:spcBef>
                <a:spcAft>
                  <a:spcPts val="0"/>
                </a:spcAft>
                <a:buNone/>
                <a:defRPr/>
              </a:pPr>
              <a:r>
                <a:rPr lang="en-US" altLang="zh-CN" b="1" spc="300" dirty="0">
                  <a:ln w="6350">
                    <a:noFill/>
                  </a:ln>
                  <a:solidFill>
                    <a:srgbClr val="1B69B4"/>
                  </a:solidFill>
                  <a:latin typeface="微软雅黑" panose="020B0503020204020204" pitchFamily="34" charset="-122"/>
                  <a:ea typeface="微软雅黑" panose="020B0503020204020204" pitchFamily="34" charset="-122"/>
                </a:rPr>
                <a:t>13</a:t>
              </a:r>
              <a:r>
                <a:rPr lang="zh-CN" altLang="en-US" b="1" spc="300" dirty="0">
                  <a:ln w="6350">
                    <a:noFill/>
                  </a:ln>
                  <a:solidFill>
                    <a:srgbClr val="1B69B4"/>
                  </a:solidFill>
                  <a:latin typeface="微软雅黑" panose="020B0503020204020204" pitchFamily="34" charset="-122"/>
                  <a:ea typeface="微软雅黑" panose="020B0503020204020204" pitchFamily="34" charset="-122"/>
                </a:rPr>
                <a:t>经费安排</a:t>
              </a:r>
            </a:p>
          </p:txBody>
        </p:sp>
        <p:sp>
          <p:nvSpPr>
            <p:cNvPr id="4" name="矩形 3"/>
            <p:cNvSpPr/>
            <p:nvPr/>
          </p:nvSpPr>
          <p:spPr>
            <a:xfrm>
              <a:off x="333094" y="659333"/>
              <a:ext cx="2653687" cy="45719"/>
            </a:xfrm>
            <a:prstGeom prst="rect">
              <a:avLst/>
            </a:prstGeom>
            <a:gradFill flip="none" rotWithShape="1">
              <a:gsLst>
                <a:gs pos="100000">
                  <a:schemeClr val="bg1">
                    <a:alpha val="0"/>
                  </a:schemeClr>
                </a:gs>
                <a:gs pos="4000">
                  <a:srgbClr val="1B69B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1B69B4"/>
                </a:solidFill>
              </a:endParaRPr>
            </a:p>
          </p:txBody>
        </p:sp>
      </p:grpSp>
      <p:sp>
        <p:nvSpPr>
          <p:cNvPr id="5" name="矩形: 圆顶角 4"/>
          <p:cNvSpPr/>
          <p:nvPr/>
        </p:nvSpPr>
        <p:spPr>
          <a:xfrm rot="5400000">
            <a:off x="1417899" y="-624052"/>
            <a:ext cx="2922983" cy="5758784"/>
          </a:xfrm>
          <a:prstGeom prst="round2SameRect">
            <a:avLst>
              <a:gd name="adj1" fmla="val 0"/>
              <a:gd name="adj2" fmla="val 0"/>
            </a:avLst>
          </a:prstGeom>
          <a:gradFill flip="none" rotWithShape="1">
            <a:gsLst>
              <a:gs pos="25000">
                <a:srgbClr val="F2FCFF"/>
              </a:gs>
              <a:gs pos="100000">
                <a:srgbClr val="FFFFFF">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 name="矩形: 圆顶角 5"/>
          <p:cNvSpPr/>
          <p:nvPr/>
        </p:nvSpPr>
        <p:spPr>
          <a:xfrm rot="16200000">
            <a:off x="7540582" y="2194133"/>
            <a:ext cx="2919763" cy="6433217"/>
          </a:xfrm>
          <a:prstGeom prst="round2SameRect">
            <a:avLst>
              <a:gd name="adj1" fmla="val 0"/>
              <a:gd name="adj2" fmla="val 0"/>
            </a:avLst>
          </a:prstGeom>
          <a:gradFill flip="none" rotWithShape="1">
            <a:gsLst>
              <a:gs pos="34000">
                <a:srgbClr val="F2FCFF"/>
              </a:gs>
              <a:gs pos="100000">
                <a:srgbClr val="FFFFFF">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89" name="矩形: 圆角 88"/>
          <p:cNvSpPr/>
          <p:nvPr/>
        </p:nvSpPr>
        <p:spPr>
          <a:xfrm>
            <a:off x="1514077" y="701805"/>
            <a:ext cx="8156786" cy="341202"/>
          </a:xfrm>
          <a:prstGeom prst="roundRect">
            <a:avLst/>
          </a:prstGeom>
          <a:solidFill>
            <a:srgbClr val="1B69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当前经费</a:t>
            </a:r>
          </a:p>
        </p:txBody>
      </p:sp>
      <p:pic>
        <p:nvPicPr>
          <p:cNvPr id="54"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80376" y="195720"/>
            <a:ext cx="2514152" cy="673296"/>
          </a:xfrm>
          <a:prstGeom prst="rect">
            <a:avLst/>
          </a:prstGeom>
        </p:spPr>
      </p:pic>
      <p:graphicFrame>
        <p:nvGraphicFramePr>
          <p:cNvPr id="15" name="表格 14">
            <a:extLst>
              <a:ext uri="{FF2B5EF4-FFF2-40B4-BE49-F238E27FC236}">
                <a16:creationId xmlns:a16="http://schemas.microsoft.com/office/drawing/2014/main" id="{EDC03027-310C-9719-1EAB-3D8BEC51175F}"/>
              </a:ext>
            </a:extLst>
          </p:cNvPr>
          <p:cNvGraphicFramePr>
            <a:graphicFrameLocks noGrp="1"/>
          </p:cNvGraphicFramePr>
          <p:nvPr>
            <p:extLst>
              <p:ext uri="{D42A27DB-BD31-4B8C-83A1-F6EECF244321}">
                <p14:modId xmlns:p14="http://schemas.microsoft.com/office/powerpoint/2010/main" val="3059417628"/>
              </p:ext>
            </p:extLst>
          </p:nvPr>
        </p:nvGraphicFramePr>
        <p:xfrm>
          <a:off x="679987" y="1256358"/>
          <a:ext cx="10312556" cy="2164080"/>
        </p:xfrm>
        <a:graphic>
          <a:graphicData uri="http://schemas.openxmlformats.org/drawingml/2006/table">
            <a:tbl>
              <a:tblPr>
                <a:tableStyleId>{69CF1AB2-1976-4502-BF36-3FF5EA218861}</a:tableStyleId>
              </a:tblPr>
              <a:tblGrid>
                <a:gridCol w="2578139">
                  <a:extLst>
                    <a:ext uri="{9D8B030D-6E8A-4147-A177-3AD203B41FA5}">
                      <a16:colId xmlns:a16="http://schemas.microsoft.com/office/drawing/2014/main" val="184913875"/>
                    </a:ext>
                  </a:extLst>
                </a:gridCol>
                <a:gridCol w="2578139">
                  <a:extLst>
                    <a:ext uri="{9D8B030D-6E8A-4147-A177-3AD203B41FA5}">
                      <a16:colId xmlns:a16="http://schemas.microsoft.com/office/drawing/2014/main" val="2070852927"/>
                    </a:ext>
                  </a:extLst>
                </a:gridCol>
                <a:gridCol w="2578139">
                  <a:extLst>
                    <a:ext uri="{9D8B030D-6E8A-4147-A177-3AD203B41FA5}">
                      <a16:colId xmlns:a16="http://schemas.microsoft.com/office/drawing/2014/main" val="803184106"/>
                    </a:ext>
                  </a:extLst>
                </a:gridCol>
                <a:gridCol w="2578139">
                  <a:extLst>
                    <a:ext uri="{9D8B030D-6E8A-4147-A177-3AD203B41FA5}">
                      <a16:colId xmlns:a16="http://schemas.microsoft.com/office/drawing/2014/main" val="1963539926"/>
                    </a:ext>
                  </a:extLst>
                </a:gridCol>
              </a:tblGrid>
              <a:tr h="0">
                <a:tc>
                  <a:txBody>
                    <a:bodyPr/>
                    <a:lstStyle/>
                    <a:p>
                      <a:pPr>
                        <a:buNone/>
                      </a:pPr>
                      <a:r>
                        <a:rPr lang="zh-CN" altLang="en-US" sz="1400">
                          <a:latin typeface="微软雅黑" panose="020B0503020204020204" pitchFamily="34" charset="-122"/>
                          <a:ea typeface="微软雅黑" panose="020B0503020204020204" pitchFamily="34" charset="-122"/>
                        </a:rPr>
                        <a:t>经费使用项目</a:t>
                      </a:r>
                    </a:p>
                  </a:txBody>
                  <a:tcPr anchor="ctr"/>
                </a:tc>
                <a:tc>
                  <a:txBody>
                    <a:bodyPr/>
                    <a:lstStyle/>
                    <a:p>
                      <a:pPr>
                        <a:buNone/>
                      </a:pPr>
                      <a:r>
                        <a:rPr lang="zh-CN" altLang="en-US" sz="1400">
                          <a:latin typeface="微软雅黑" panose="020B0503020204020204" pitchFamily="34" charset="-122"/>
                          <a:ea typeface="微软雅黑" panose="020B0503020204020204" pitchFamily="34" charset="-122"/>
                        </a:rPr>
                        <a:t>主要内容说明</a:t>
                      </a:r>
                    </a:p>
                  </a:txBody>
                  <a:tcPr anchor="ctr"/>
                </a:tc>
                <a:tc>
                  <a:txBody>
                    <a:bodyPr/>
                    <a:lstStyle/>
                    <a:p>
                      <a:pPr>
                        <a:buNone/>
                      </a:pPr>
                      <a:r>
                        <a:rPr lang="zh-CN" altLang="en-US" sz="1400">
                          <a:latin typeface="微软雅黑" panose="020B0503020204020204" pitchFamily="34" charset="-122"/>
                          <a:ea typeface="微软雅黑" panose="020B0503020204020204" pitchFamily="34" charset="-122"/>
                        </a:rPr>
                        <a:t>费用（元）</a:t>
                      </a:r>
                    </a:p>
                  </a:txBody>
                  <a:tcPr anchor="ctr"/>
                </a:tc>
                <a:tc>
                  <a:txBody>
                    <a:bodyPr/>
                    <a:lstStyle/>
                    <a:p>
                      <a:pPr>
                        <a:buNone/>
                      </a:pPr>
                      <a:r>
                        <a:rPr lang="zh-CN" altLang="en-US" sz="1400">
                          <a:latin typeface="微软雅黑" panose="020B0503020204020204" pitchFamily="34" charset="-122"/>
                          <a:ea typeface="微软雅黑" panose="020B0503020204020204" pitchFamily="34" charset="-122"/>
                        </a:rPr>
                        <a:t>备注</a:t>
                      </a:r>
                    </a:p>
                  </a:txBody>
                  <a:tcPr anchor="ctr"/>
                </a:tc>
                <a:extLst>
                  <a:ext uri="{0D108BD9-81ED-4DB2-BD59-A6C34878D82A}">
                    <a16:rowId xmlns:a16="http://schemas.microsoft.com/office/drawing/2014/main" val="3731829500"/>
                  </a:ext>
                </a:extLst>
              </a:tr>
              <a:tr h="0">
                <a:tc>
                  <a:txBody>
                    <a:bodyPr/>
                    <a:lstStyle/>
                    <a:p>
                      <a:pPr>
                        <a:buNone/>
                      </a:pPr>
                      <a:r>
                        <a:rPr lang="zh-CN" altLang="en-US" sz="1400" b="1">
                          <a:latin typeface="微软雅黑" panose="020B0503020204020204" pitchFamily="34" charset="-122"/>
                          <a:ea typeface="微软雅黑" panose="020B0503020204020204" pitchFamily="34" charset="-122"/>
                        </a:rPr>
                        <a:t>设备使用费</a:t>
                      </a:r>
                      <a:endParaRPr lang="zh-CN" altLang="en-US" sz="1400">
                        <a:latin typeface="微软雅黑" panose="020B0503020204020204" pitchFamily="34" charset="-122"/>
                        <a:ea typeface="微软雅黑" panose="020B0503020204020204" pitchFamily="34" charset="-122"/>
                      </a:endParaRPr>
                    </a:p>
                  </a:txBody>
                  <a:tcPr anchor="ctr"/>
                </a:tc>
                <a:tc>
                  <a:txBody>
                    <a:bodyPr/>
                    <a:lstStyle/>
                    <a:p>
                      <a:pPr>
                        <a:buNone/>
                      </a:pPr>
                      <a:r>
                        <a:rPr lang="zh-CN" altLang="en-US" sz="1400" dirty="0">
                          <a:latin typeface="微软雅黑" panose="020B0503020204020204" pitchFamily="34" charset="-122"/>
                          <a:ea typeface="微软雅黑" panose="020B0503020204020204" pitchFamily="34" charset="-122"/>
                        </a:rPr>
                        <a:t>电化学阻抗测试平台、恒电位仪、实验室仪器租用等</a:t>
                      </a:r>
                    </a:p>
                  </a:txBody>
                  <a:tcPr anchor="ctr"/>
                </a:tc>
                <a:tc>
                  <a:txBody>
                    <a:bodyPr/>
                    <a:lstStyle/>
                    <a:p>
                      <a:pPr>
                        <a:buNone/>
                      </a:pPr>
                      <a:r>
                        <a:rPr lang="en-US" altLang="zh-CN" sz="1400" dirty="0">
                          <a:latin typeface="微软雅黑" panose="020B0503020204020204" pitchFamily="34" charset="-122"/>
                          <a:ea typeface="微软雅黑" panose="020B0503020204020204" pitchFamily="34" charset="-122"/>
                        </a:rPr>
                        <a:t>2,000</a:t>
                      </a:r>
                    </a:p>
                  </a:txBody>
                  <a:tcPr anchor="ctr"/>
                </a:tc>
                <a:tc>
                  <a:txBody>
                    <a:bodyPr/>
                    <a:lstStyle/>
                    <a:p>
                      <a:pPr>
                        <a:buNone/>
                      </a:pPr>
                      <a:r>
                        <a:rPr lang="zh-CN" altLang="en-US" sz="1400">
                          <a:latin typeface="微软雅黑" panose="020B0503020204020204" pitchFamily="34" charset="-122"/>
                          <a:ea typeface="微软雅黑" panose="020B0503020204020204" pitchFamily="34" charset="-122"/>
                        </a:rPr>
                        <a:t>前期</a:t>
                      </a:r>
                      <a:r>
                        <a:rPr lang="en-US" altLang="zh-CN" sz="1400">
                          <a:latin typeface="微软雅黑" panose="020B0503020204020204" pitchFamily="34" charset="-122"/>
                          <a:ea typeface="微软雅黑" panose="020B0503020204020204" pitchFamily="34" charset="-122"/>
                        </a:rPr>
                        <a:t>EIS</a:t>
                      </a:r>
                      <a:r>
                        <a:rPr lang="zh-CN" altLang="en-US" sz="1400">
                          <a:latin typeface="微软雅黑" panose="020B0503020204020204" pitchFamily="34" charset="-122"/>
                          <a:ea typeface="微软雅黑" panose="020B0503020204020204" pitchFamily="34" charset="-122"/>
                        </a:rPr>
                        <a:t>数据采集</a:t>
                      </a:r>
                    </a:p>
                  </a:txBody>
                  <a:tcPr anchor="ctr"/>
                </a:tc>
                <a:extLst>
                  <a:ext uri="{0D108BD9-81ED-4DB2-BD59-A6C34878D82A}">
                    <a16:rowId xmlns:a16="http://schemas.microsoft.com/office/drawing/2014/main" val="2127831632"/>
                  </a:ext>
                </a:extLst>
              </a:tr>
              <a:tr h="0">
                <a:tc>
                  <a:txBody>
                    <a:bodyPr/>
                    <a:lstStyle/>
                    <a:p>
                      <a:pPr>
                        <a:buNone/>
                      </a:pPr>
                      <a:r>
                        <a:rPr lang="zh-CN" altLang="en-US" sz="1400" b="1">
                          <a:latin typeface="微软雅黑" panose="020B0503020204020204" pitchFamily="34" charset="-122"/>
                          <a:ea typeface="微软雅黑" panose="020B0503020204020204" pitchFamily="34" charset="-122"/>
                        </a:rPr>
                        <a:t>实验材料费</a:t>
                      </a:r>
                      <a:endParaRPr lang="zh-CN" altLang="en-US" sz="1400">
                        <a:latin typeface="微软雅黑" panose="020B0503020204020204" pitchFamily="34" charset="-122"/>
                        <a:ea typeface="微软雅黑" panose="020B0503020204020204" pitchFamily="34" charset="-122"/>
                      </a:endParaRPr>
                    </a:p>
                  </a:txBody>
                  <a:tcPr anchor="ctr"/>
                </a:tc>
                <a:tc>
                  <a:txBody>
                    <a:bodyPr/>
                    <a:lstStyle/>
                    <a:p>
                      <a:pPr>
                        <a:buNone/>
                      </a:pPr>
                      <a:r>
                        <a:rPr lang="zh-CN" altLang="en-US" sz="1400">
                          <a:latin typeface="微软雅黑" panose="020B0503020204020204" pitchFamily="34" charset="-122"/>
                          <a:ea typeface="微软雅黑" panose="020B0503020204020204" pitchFamily="34" charset="-122"/>
                        </a:rPr>
                        <a:t>电池样品、导线、测试夹具、接头等</a:t>
                      </a:r>
                    </a:p>
                  </a:txBody>
                  <a:tcPr anchor="ctr"/>
                </a:tc>
                <a:tc>
                  <a:txBody>
                    <a:bodyPr/>
                    <a:lstStyle/>
                    <a:p>
                      <a:pPr>
                        <a:buNone/>
                      </a:pPr>
                      <a:r>
                        <a:rPr lang="en-US" altLang="zh-CN" sz="1400">
                          <a:latin typeface="微软雅黑" panose="020B0503020204020204" pitchFamily="34" charset="-122"/>
                          <a:ea typeface="微软雅黑" panose="020B0503020204020204" pitchFamily="34" charset="-122"/>
                        </a:rPr>
                        <a:t>1,500</a:t>
                      </a:r>
                    </a:p>
                  </a:txBody>
                  <a:tcPr anchor="ctr"/>
                </a:tc>
                <a:tc>
                  <a:txBody>
                    <a:bodyPr/>
                    <a:lstStyle/>
                    <a:p>
                      <a:pPr>
                        <a:buNone/>
                      </a:pPr>
                      <a:r>
                        <a:rPr lang="zh-CN" altLang="en-US" sz="1400">
                          <a:latin typeface="微软雅黑" panose="020B0503020204020204" pitchFamily="34" charset="-122"/>
                          <a:ea typeface="微软雅黑" panose="020B0503020204020204" pitchFamily="34" charset="-122"/>
                        </a:rPr>
                        <a:t>用于多组样品测试</a:t>
                      </a:r>
                    </a:p>
                  </a:txBody>
                  <a:tcPr anchor="ctr"/>
                </a:tc>
                <a:extLst>
                  <a:ext uri="{0D108BD9-81ED-4DB2-BD59-A6C34878D82A}">
                    <a16:rowId xmlns:a16="http://schemas.microsoft.com/office/drawing/2014/main" val="2979656010"/>
                  </a:ext>
                </a:extLst>
              </a:tr>
              <a:tr h="0">
                <a:tc>
                  <a:txBody>
                    <a:bodyPr/>
                    <a:lstStyle/>
                    <a:p>
                      <a:pPr>
                        <a:buNone/>
                      </a:pPr>
                      <a:r>
                        <a:rPr lang="zh-CN" altLang="en-US" sz="1400" b="1" dirty="0">
                          <a:latin typeface="微软雅黑" panose="020B0503020204020204" pitchFamily="34" charset="-122"/>
                          <a:ea typeface="微软雅黑" panose="020B0503020204020204" pitchFamily="34" charset="-122"/>
                        </a:rPr>
                        <a:t>资料与印刷费</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buNone/>
                      </a:pPr>
                      <a:r>
                        <a:rPr lang="zh-CN" altLang="en-US" sz="1400">
                          <a:latin typeface="微软雅黑" panose="020B0503020204020204" pitchFamily="34" charset="-122"/>
                          <a:ea typeface="微软雅黑" panose="020B0503020204020204" pitchFamily="34" charset="-122"/>
                        </a:rPr>
                        <a:t>资料查阅、论文打印、报告装订等</a:t>
                      </a:r>
                    </a:p>
                  </a:txBody>
                  <a:tcPr anchor="ctr"/>
                </a:tc>
                <a:tc>
                  <a:txBody>
                    <a:bodyPr/>
                    <a:lstStyle/>
                    <a:p>
                      <a:pPr>
                        <a:buNone/>
                      </a:pPr>
                      <a:r>
                        <a:rPr lang="en-US" altLang="zh-CN" sz="1400">
                          <a:latin typeface="微软雅黑" panose="020B0503020204020204" pitchFamily="34" charset="-122"/>
                          <a:ea typeface="微软雅黑" panose="020B0503020204020204" pitchFamily="34" charset="-122"/>
                        </a:rPr>
                        <a:t>500</a:t>
                      </a:r>
                    </a:p>
                  </a:txBody>
                  <a:tcPr anchor="ctr"/>
                </a:tc>
                <a:tc>
                  <a:txBody>
                    <a:bodyPr/>
                    <a:lstStyle/>
                    <a:p>
                      <a:pPr>
                        <a:buNone/>
                      </a:pPr>
                      <a:r>
                        <a:rPr lang="zh-CN" altLang="en-US" sz="1400">
                          <a:latin typeface="微软雅黑" panose="020B0503020204020204" pitchFamily="34" charset="-122"/>
                          <a:ea typeface="微软雅黑" panose="020B0503020204020204" pitchFamily="34" charset="-122"/>
                        </a:rPr>
                        <a:t>阶段性报告准备</a:t>
                      </a:r>
                    </a:p>
                  </a:txBody>
                  <a:tcPr anchor="ctr"/>
                </a:tc>
                <a:extLst>
                  <a:ext uri="{0D108BD9-81ED-4DB2-BD59-A6C34878D82A}">
                    <a16:rowId xmlns:a16="http://schemas.microsoft.com/office/drawing/2014/main" val="2536758846"/>
                  </a:ext>
                </a:extLst>
              </a:tr>
              <a:tr h="0">
                <a:tc>
                  <a:txBody>
                    <a:bodyPr/>
                    <a:lstStyle/>
                    <a:p>
                      <a:pPr>
                        <a:buNone/>
                      </a:pPr>
                      <a:r>
                        <a:rPr lang="zh-CN" altLang="en-US" sz="1400" b="1">
                          <a:latin typeface="微软雅黑" panose="020B0503020204020204" pitchFamily="34" charset="-122"/>
                          <a:ea typeface="微软雅黑" panose="020B0503020204020204" pitchFamily="34" charset="-122"/>
                        </a:rPr>
                        <a:t>合计</a:t>
                      </a:r>
                      <a:endParaRPr lang="zh-CN" altLang="en-US" sz="1400">
                        <a:latin typeface="微软雅黑" panose="020B0503020204020204" pitchFamily="34" charset="-122"/>
                        <a:ea typeface="微软雅黑" panose="020B0503020204020204" pitchFamily="34" charset="-122"/>
                      </a:endParaRPr>
                    </a:p>
                  </a:txBody>
                  <a:tcPr anchor="ctr"/>
                </a:tc>
                <a:tc>
                  <a:txBody>
                    <a:bodyPr/>
                    <a:lstStyle/>
                    <a:p>
                      <a:pPr>
                        <a:buNone/>
                      </a:pPr>
                      <a:r>
                        <a:rPr lang="en-US" altLang="zh-CN" sz="1400" dirty="0">
                          <a:latin typeface="微软雅黑" panose="020B0503020204020204" pitchFamily="34" charset="-122"/>
                          <a:ea typeface="微软雅黑" panose="020B0503020204020204" pitchFamily="34" charset="-122"/>
                        </a:rPr>
                        <a:t>—</a:t>
                      </a:r>
                    </a:p>
                  </a:txBody>
                  <a:tcPr anchor="ctr"/>
                </a:tc>
                <a:tc>
                  <a:txBody>
                    <a:bodyPr/>
                    <a:lstStyle/>
                    <a:p>
                      <a:pPr>
                        <a:buNone/>
                      </a:pPr>
                      <a:r>
                        <a:rPr lang="zh-CN" altLang="en-US" sz="1400" b="1" dirty="0">
                          <a:latin typeface="微软雅黑" panose="020B0503020204020204" pitchFamily="34" charset="-122"/>
                          <a:ea typeface="微软雅黑" panose="020B0503020204020204" pitchFamily="34" charset="-122"/>
                        </a:rPr>
                        <a:t>约 </a:t>
                      </a:r>
                      <a:r>
                        <a:rPr lang="en-US" altLang="zh-CN" sz="1400" b="1" dirty="0">
                          <a:latin typeface="微软雅黑" panose="020B0503020204020204" pitchFamily="34" charset="-122"/>
                          <a:ea typeface="微软雅黑" panose="020B0503020204020204" pitchFamily="34" charset="-122"/>
                        </a:rPr>
                        <a:t>4,000 </a:t>
                      </a:r>
                      <a:r>
                        <a:rPr lang="zh-CN" altLang="en-US" sz="1400" b="1" dirty="0">
                          <a:latin typeface="微软雅黑" panose="020B0503020204020204" pitchFamily="34" charset="-122"/>
                          <a:ea typeface="微软雅黑" panose="020B0503020204020204" pitchFamily="34" charset="-122"/>
                        </a:rPr>
                        <a:t>元</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buNone/>
                      </a:pPr>
                      <a:endParaRPr lang="zh-CN" altLang="en-US" sz="14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610248"/>
                  </a:ext>
                </a:extLst>
              </a:tr>
            </a:tbl>
          </a:graphicData>
        </a:graphic>
      </p:graphicFrame>
      <p:sp>
        <p:nvSpPr>
          <p:cNvPr id="16" name="矩形: 圆角 15">
            <a:extLst>
              <a:ext uri="{FF2B5EF4-FFF2-40B4-BE49-F238E27FC236}">
                <a16:creationId xmlns:a16="http://schemas.microsoft.com/office/drawing/2014/main" id="{795BA621-ACAE-1C00-99FC-2B356F565507}"/>
              </a:ext>
            </a:extLst>
          </p:cNvPr>
          <p:cNvSpPr/>
          <p:nvPr/>
        </p:nvSpPr>
        <p:spPr>
          <a:xfrm>
            <a:off x="1559496" y="3547985"/>
            <a:ext cx="8156786" cy="341202"/>
          </a:xfrm>
          <a:prstGeom prst="roundRect">
            <a:avLst/>
          </a:prstGeom>
          <a:solidFill>
            <a:srgbClr val="1B69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未来经费规划</a:t>
            </a:r>
          </a:p>
        </p:txBody>
      </p:sp>
      <p:graphicFrame>
        <p:nvGraphicFramePr>
          <p:cNvPr id="17" name="表格 16">
            <a:extLst>
              <a:ext uri="{FF2B5EF4-FFF2-40B4-BE49-F238E27FC236}">
                <a16:creationId xmlns:a16="http://schemas.microsoft.com/office/drawing/2014/main" id="{DFD3E167-5824-7370-7588-FB58B215CE7F}"/>
              </a:ext>
            </a:extLst>
          </p:cNvPr>
          <p:cNvGraphicFramePr>
            <a:graphicFrameLocks noGrp="1"/>
          </p:cNvGraphicFramePr>
          <p:nvPr>
            <p:extLst>
              <p:ext uri="{D42A27DB-BD31-4B8C-83A1-F6EECF244321}">
                <p14:modId xmlns:p14="http://schemas.microsoft.com/office/powerpoint/2010/main" val="1740931472"/>
              </p:ext>
            </p:extLst>
          </p:nvPr>
        </p:nvGraphicFramePr>
        <p:xfrm>
          <a:off x="725406" y="4096876"/>
          <a:ext cx="10312556" cy="2593056"/>
        </p:xfrm>
        <a:graphic>
          <a:graphicData uri="http://schemas.openxmlformats.org/drawingml/2006/table">
            <a:tbl>
              <a:tblPr>
                <a:tableStyleId>{69CF1AB2-1976-4502-BF36-3FF5EA218861}</a:tableStyleId>
              </a:tblPr>
              <a:tblGrid>
                <a:gridCol w="2578139">
                  <a:extLst>
                    <a:ext uri="{9D8B030D-6E8A-4147-A177-3AD203B41FA5}">
                      <a16:colId xmlns:a16="http://schemas.microsoft.com/office/drawing/2014/main" val="1468019682"/>
                    </a:ext>
                  </a:extLst>
                </a:gridCol>
                <a:gridCol w="2578139">
                  <a:extLst>
                    <a:ext uri="{9D8B030D-6E8A-4147-A177-3AD203B41FA5}">
                      <a16:colId xmlns:a16="http://schemas.microsoft.com/office/drawing/2014/main" val="319627613"/>
                    </a:ext>
                  </a:extLst>
                </a:gridCol>
                <a:gridCol w="2578139">
                  <a:extLst>
                    <a:ext uri="{9D8B030D-6E8A-4147-A177-3AD203B41FA5}">
                      <a16:colId xmlns:a16="http://schemas.microsoft.com/office/drawing/2014/main" val="3413155336"/>
                    </a:ext>
                  </a:extLst>
                </a:gridCol>
                <a:gridCol w="2578139">
                  <a:extLst>
                    <a:ext uri="{9D8B030D-6E8A-4147-A177-3AD203B41FA5}">
                      <a16:colId xmlns:a16="http://schemas.microsoft.com/office/drawing/2014/main" val="3647612510"/>
                    </a:ext>
                  </a:extLst>
                </a:gridCol>
              </a:tblGrid>
              <a:tr h="235618">
                <a:tc>
                  <a:txBody>
                    <a:bodyPr/>
                    <a:lstStyle/>
                    <a:p>
                      <a:pPr>
                        <a:buNone/>
                      </a:pPr>
                      <a:r>
                        <a:rPr lang="zh-CN" altLang="en-US" sz="1400"/>
                        <a:t>经费使用项目</a:t>
                      </a:r>
                    </a:p>
                  </a:txBody>
                  <a:tcPr anchor="ctr"/>
                </a:tc>
                <a:tc>
                  <a:txBody>
                    <a:bodyPr/>
                    <a:lstStyle/>
                    <a:p>
                      <a:pPr>
                        <a:buNone/>
                      </a:pPr>
                      <a:r>
                        <a:rPr lang="zh-CN" altLang="en-US" sz="1400"/>
                        <a:t>主要内容说明</a:t>
                      </a:r>
                    </a:p>
                  </a:txBody>
                  <a:tcPr anchor="ctr"/>
                </a:tc>
                <a:tc>
                  <a:txBody>
                    <a:bodyPr/>
                    <a:lstStyle/>
                    <a:p>
                      <a:pPr>
                        <a:buNone/>
                      </a:pPr>
                      <a:r>
                        <a:rPr lang="zh-CN" altLang="en-US" sz="1400"/>
                        <a:t>预计费用（元）</a:t>
                      </a:r>
                    </a:p>
                  </a:txBody>
                  <a:tcPr anchor="ctr"/>
                </a:tc>
                <a:tc>
                  <a:txBody>
                    <a:bodyPr/>
                    <a:lstStyle/>
                    <a:p>
                      <a:pPr>
                        <a:buNone/>
                      </a:pPr>
                      <a:r>
                        <a:rPr lang="zh-CN" altLang="en-US" sz="1400"/>
                        <a:t>备注</a:t>
                      </a:r>
                    </a:p>
                  </a:txBody>
                  <a:tcPr anchor="ctr"/>
                </a:tc>
                <a:extLst>
                  <a:ext uri="{0D108BD9-81ED-4DB2-BD59-A6C34878D82A}">
                    <a16:rowId xmlns:a16="http://schemas.microsoft.com/office/drawing/2014/main" val="4014364652"/>
                  </a:ext>
                </a:extLst>
              </a:tr>
              <a:tr h="568014">
                <a:tc>
                  <a:txBody>
                    <a:bodyPr/>
                    <a:lstStyle/>
                    <a:p>
                      <a:pPr>
                        <a:buNone/>
                      </a:pPr>
                      <a:r>
                        <a:rPr lang="zh-CN" altLang="en-US" sz="1400" b="1" dirty="0"/>
                        <a:t>硬件核心元件采购</a:t>
                      </a:r>
                      <a:endParaRPr lang="zh-CN" altLang="en-US" sz="1400" dirty="0"/>
                    </a:p>
                  </a:txBody>
                  <a:tcPr anchor="ctr"/>
                </a:tc>
                <a:tc>
                  <a:txBody>
                    <a:bodyPr/>
                    <a:lstStyle/>
                    <a:p>
                      <a:pPr>
                        <a:buNone/>
                      </a:pPr>
                      <a:r>
                        <a:rPr lang="zh-CN" altLang="en-US" sz="1400"/>
                        <a:t>包括高精度电容、电阻、采样模块、放大芯片等</a:t>
                      </a:r>
                    </a:p>
                  </a:txBody>
                  <a:tcPr anchor="ctr"/>
                </a:tc>
                <a:tc>
                  <a:txBody>
                    <a:bodyPr/>
                    <a:lstStyle/>
                    <a:p>
                      <a:pPr>
                        <a:buNone/>
                      </a:pPr>
                      <a:r>
                        <a:rPr lang="en-US" altLang="zh-CN" sz="1400"/>
                        <a:t>1,200</a:t>
                      </a:r>
                    </a:p>
                  </a:txBody>
                  <a:tcPr anchor="ctr"/>
                </a:tc>
                <a:tc>
                  <a:txBody>
                    <a:bodyPr/>
                    <a:lstStyle/>
                    <a:p>
                      <a:pPr>
                        <a:buNone/>
                      </a:pPr>
                      <a:r>
                        <a:rPr lang="zh-CN" altLang="en-US" sz="1400"/>
                        <a:t>便携式</a:t>
                      </a:r>
                      <a:r>
                        <a:rPr lang="en-US" altLang="zh-CN" sz="1400"/>
                        <a:t>EIS</a:t>
                      </a:r>
                      <a:r>
                        <a:rPr lang="zh-CN" altLang="en-US" sz="1400"/>
                        <a:t>原型核心器件</a:t>
                      </a:r>
                    </a:p>
                  </a:txBody>
                  <a:tcPr anchor="ctr"/>
                </a:tc>
                <a:extLst>
                  <a:ext uri="{0D108BD9-81ED-4DB2-BD59-A6C34878D82A}">
                    <a16:rowId xmlns:a16="http://schemas.microsoft.com/office/drawing/2014/main" val="2960697930"/>
                  </a:ext>
                </a:extLst>
              </a:tr>
              <a:tr h="341961">
                <a:tc>
                  <a:txBody>
                    <a:bodyPr/>
                    <a:lstStyle/>
                    <a:p>
                      <a:pPr>
                        <a:buNone/>
                      </a:pPr>
                      <a:r>
                        <a:rPr lang="zh-CN" altLang="en-US" sz="1400" b="1"/>
                        <a:t>电路板制作与焊接</a:t>
                      </a:r>
                      <a:endParaRPr lang="zh-CN" altLang="en-US" sz="1400"/>
                    </a:p>
                  </a:txBody>
                  <a:tcPr anchor="ctr"/>
                </a:tc>
                <a:tc>
                  <a:txBody>
                    <a:bodyPr/>
                    <a:lstStyle/>
                    <a:p>
                      <a:pPr>
                        <a:buNone/>
                      </a:pPr>
                      <a:r>
                        <a:rPr lang="en-US" altLang="zh-CN" sz="1400"/>
                        <a:t>PCB</a:t>
                      </a:r>
                      <a:r>
                        <a:rPr lang="zh-CN" altLang="en-US" sz="1400"/>
                        <a:t>绘制、打样、贴片及调试</a:t>
                      </a:r>
                    </a:p>
                  </a:txBody>
                  <a:tcPr anchor="ctr"/>
                </a:tc>
                <a:tc>
                  <a:txBody>
                    <a:bodyPr/>
                    <a:lstStyle/>
                    <a:p>
                      <a:pPr>
                        <a:buNone/>
                      </a:pPr>
                      <a:r>
                        <a:rPr lang="en-US" altLang="zh-CN" sz="1400"/>
                        <a:t>1,000</a:t>
                      </a:r>
                    </a:p>
                  </a:txBody>
                  <a:tcPr anchor="ctr"/>
                </a:tc>
                <a:tc>
                  <a:txBody>
                    <a:bodyPr/>
                    <a:lstStyle/>
                    <a:p>
                      <a:pPr>
                        <a:buNone/>
                      </a:pPr>
                      <a:r>
                        <a:rPr lang="zh-CN" altLang="en-US" sz="1400"/>
                        <a:t>原型功能测试阶段</a:t>
                      </a:r>
                    </a:p>
                  </a:txBody>
                  <a:tcPr anchor="ctr"/>
                </a:tc>
                <a:extLst>
                  <a:ext uri="{0D108BD9-81ED-4DB2-BD59-A6C34878D82A}">
                    <a16:rowId xmlns:a16="http://schemas.microsoft.com/office/drawing/2014/main" val="3023625249"/>
                  </a:ext>
                </a:extLst>
              </a:tr>
              <a:tr h="482769">
                <a:tc>
                  <a:txBody>
                    <a:bodyPr/>
                    <a:lstStyle/>
                    <a:p>
                      <a:pPr>
                        <a:buNone/>
                      </a:pPr>
                      <a:r>
                        <a:rPr lang="zh-CN" altLang="en-US" sz="1400" b="1"/>
                        <a:t>机箱与辅助材料</a:t>
                      </a:r>
                      <a:endParaRPr lang="zh-CN" altLang="en-US" sz="1400"/>
                    </a:p>
                  </a:txBody>
                  <a:tcPr anchor="ctr"/>
                </a:tc>
                <a:tc>
                  <a:txBody>
                    <a:bodyPr/>
                    <a:lstStyle/>
                    <a:p>
                      <a:pPr>
                        <a:buNone/>
                      </a:pPr>
                      <a:r>
                        <a:rPr lang="zh-CN" altLang="en-US" sz="1400"/>
                        <a:t>外壳、连接线、电源模块、小型结构件等</a:t>
                      </a:r>
                    </a:p>
                  </a:txBody>
                  <a:tcPr anchor="ctr"/>
                </a:tc>
                <a:tc>
                  <a:txBody>
                    <a:bodyPr/>
                    <a:lstStyle/>
                    <a:p>
                      <a:pPr>
                        <a:buNone/>
                      </a:pPr>
                      <a:r>
                        <a:rPr lang="en-US" altLang="zh-CN" sz="1400"/>
                        <a:t>500</a:t>
                      </a:r>
                    </a:p>
                  </a:txBody>
                  <a:tcPr anchor="ctr"/>
                </a:tc>
                <a:tc>
                  <a:txBody>
                    <a:bodyPr/>
                    <a:lstStyle/>
                    <a:p>
                      <a:pPr>
                        <a:buNone/>
                      </a:pPr>
                      <a:r>
                        <a:rPr lang="zh-CN" altLang="en-US" sz="1400"/>
                        <a:t>硬件结构与稳定性提升</a:t>
                      </a:r>
                    </a:p>
                  </a:txBody>
                  <a:tcPr anchor="ctr"/>
                </a:tc>
                <a:extLst>
                  <a:ext uri="{0D108BD9-81ED-4DB2-BD59-A6C34878D82A}">
                    <a16:rowId xmlns:a16="http://schemas.microsoft.com/office/drawing/2014/main" val="1171135092"/>
                  </a:ext>
                </a:extLst>
              </a:tr>
              <a:tr h="400550">
                <a:tc>
                  <a:txBody>
                    <a:bodyPr/>
                    <a:lstStyle/>
                    <a:p>
                      <a:pPr>
                        <a:buNone/>
                      </a:pPr>
                      <a:r>
                        <a:rPr lang="zh-CN" altLang="en-US" sz="1400" b="1"/>
                        <a:t>性能验证与测试耗材</a:t>
                      </a:r>
                      <a:endParaRPr lang="zh-CN" altLang="en-US" sz="1400"/>
                    </a:p>
                  </a:txBody>
                  <a:tcPr anchor="ctr"/>
                </a:tc>
                <a:tc>
                  <a:txBody>
                    <a:bodyPr/>
                    <a:lstStyle/>
                    <a:p>
                      <a:pPr>
                        <a:buNone/>
                      </a:pPr>
                      <a:r>
                        <a:rPr lang="zh-CN" altLang="en-US" sz="1400"/>
                        <a:t>电池样品、测试夹具及辅助组件</a:t>
                      </a:r>
                    </a:p>
                  </a:txBody>
                  <a:tcPr anchor="ctr"/>
                </a:tc>
                <a:tc>
                  <a:txBody>
                    <a:bodyPr/>
                    <a:lstStyle/>
                    <a:p>
                      <a:pPr>
                        <a:buNone/>
                      </a:pPr>
                      <a:r>
                        <a:rPr lang="en-US" altLang="zh-CN" sz="1400"/>
                        <a:t>300</a:t>
                      </a:r>
                    </a:p>
                  </a:txBody>
                  <a:tcPr anchor="ctr"/>
                </a:tc>
                <a:tc>
                  <a:txBody>
                    <a:bodyPr/>
                    <a:lstStyle/>
                    <a:p>
                      <a:pPr>
                        <a:buNone/>
                      </a:pPr>
                      <a:r>
                        <a:rPr lang="zh-CN" altLang="en-US" sz="1400"/>
                        <a:t>系统验证阶段消耗</a:t>
                      </a:r>
                    </a:p>
                  </a:txBody>
                  <a:tcPr anchor="ctr"/>
                </a:tc>
                <a:extLst>
                  <a:ext uri="{0D108BD9-81ED-4DB2-BD59-A6C34878D82A}">
                    <a16:rowId xmlns:a16="http://schemas.microsoft.com/office/drawing/2014/main" val="3486189490"/>
                  </a:ext>
                </a:extLst>
              </a:tr>
              <a:tr h="341961">
                <a:tc>
                  <a:txBody>
                    <a:bodyPr/>
                    <a:lstStyle/>
                    <a:p>
                      <a:pPr>
                        <a:buNone/>
                      </a:pPr>
                      <a:r>
                        <a:rPr lang="zh-CN" altLang="en-US" sz="1400" b="1"/>
                        <a:t>合计</a:t>
                      </a:r>
                      <a:endParaRPr lang="zh-CN" altLang="en-US" sz="1400"/>
                    </a:p>
                  </a:txBody>
                  <a:tcPr anchor="ctr"/>
                </a:tc>
                <a:tc>
                  <a:txBody>
                    <a:bodyPr/>
                    <a:lstStyle/>
                    <a:p>
                      <a:pPr>
                        <a:buNone/>
                      </a:pPr>
                      <a:r>
                        <a:rPr lang="en-US" altLang="zh-CN" sz="1400"/>
                        <a:t>—</a:t>
                      </a:r>
                    </a:p>
                  </a:txBody>
                  <a:tcPr anchor="ctr"/>
                </a:tc>
                <a:tc>
                  <a:txBody>
                    <a:bodyPr/>
                    <a:lstStyle/>
                    <a:p>
                      <a:pPr>
                        <a:buNone/>
                      </a:pPr>
                      <a:r>
                        <a:rPr lang="zh-CN" altLang="en-US" sz="1400" b="1"/>
                        <a:t>约 </a:t>
                      </a:r>
                      <a:r>
                        <a:rPr lang="en-US" altLang="zh-CN" sz="1400" b="1"/>
                        <a:t>3,000 </a:t>
                      </a:r>
                      <a:r>
                        <a:rPr lang="zh-CN" altLang="en-US" sz="1400" b="1"/>
                        <a:t>元</a:t>
                      </a:r>
                      <a:endParaRPr lang="zh-CN" altLang="en-US" sz="1400"/>
                    </a:p>
                  </a:txBody>
                  <a:tcPr anchor="ctr"/>
                </a:tc>
                <a:tc>
                  <a:txBody>
                    <a:bodyPr/>
                    <a:lstStyle/>
                    <a:p>
                      <a:pPr>
                        <a:buNone/>
                      </a:pPr>
                      <a:endParaRPr lang="zh-CN" altLang="en-US" sz="1400" dirty="0"/>
                    </a:p>
                  </a:txBody>
                  <a:tcPr anchor="ctr"/>
                </a:tc>
                <a:extLst>
                  <a:ext uri="{0D108BD9-81ED-4DB2-BD59-A6C34878D82A}">
                    <a16:rowId xmlns:a16="http://schemas.microsoft.com/office/drawing/2014/main" val="4004508778"/>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平行四边形 17"/>
          <p:cNvSpPr/>
          <p:nvPr/>
        </p:nvSpPr>
        <p:spPr>
          <a:xfrm>
            <a:off x="-384720" y="5216640"/>
            <a:ext cx="4465624" cy="156578"/>
          </a:xfrm>
          <a:prstGeom prst="parallelogram">
            <a:avLst>
              <a:gd name="adj" fmla="val 6142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7957" y="1911477"/>
            <a:ext cx="6465965" cy="3315412"/>
          </a:xfrm>
          <a:prstGeom prst="rect">
            <a:avLst/>
          </a:prstGeom>
        </p:spPr>
      </p:pic>
      <p:sp>
        <p:nvSpPr>
          <p:cNvPr id="2" name="直角三角形 1"/>
          <p:cNvSpPr/>
          <p:nvPr/>
        </p:nvSpPr>
        <p:spPr>
          <a:xfrm flipH="1">
            <a:off x="4038719" y="1866898"/>
            <a:ext cx="2129289" cy="3362302"/>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p:cNvSpPr/>
          <p:nvPr/>
        </p:nvSpPr>
        <p:spPr>
          <a:xfrm>
            <a:off x="9395331" y="0"/>
            <a:ext cx="5520696" cy="6858000"/>
          </a:xfrm>
          <a:prstGeom prst="parallelogram">
            <a:avLst>
              <a:gd name="adj" fmla="val 76100"/>
            </a:avLst>
          </a:prstGeom>
          <a:gradFill>
            <a:gsLst>
              <a:gs pos="0">
                <a:srgbClr val="0070C0"/>
              </a:gs>
              <a:gs pos="100000">
                <a:srgbClr val="002060"/>
              </a:gs>
            </a:gsLst>
            <a:lin ang="2700000" scaled="1"/>
          </a:gradFill>
          <a:ln>
            <a:noFill/>
          </a:ln>
          <a:effectLst>
            <a:outerShdw blurRad="762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14" name="平行四边形 13"/>
          <p:cNvSpPr/>
          <p:nvPr/>
        </p:nvSpPr>
        <p:spPr>
          <a:xfrm>
            <a:off x="-4160345" y="1627322"/>
            <a:ext cx="6973806" cy="5230678"/>
          </a:xfrm>
          <a:prstGeom prst="parallelogram">
            <a:avLst>
              <a:gd name="adj" fmla="val 60655"/>
            </a:avLst>
          </a:prstGeom>
          <a:solidFill>
            <a:srgbClr val="0070C0"/>
          </a:solidFill>
          <a:ln>
            <a:noFill/>
          </a:ln>
          <a:effectLst>
            <a:outerShdw blurRad="508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16" name="三角形 15"/>
          <p:cNvSpPr/>
          <p:nvPr/>
        </p:nvSpPr>
        <p:spPr>
          <a:xfrm>
            <a:off x="2003698" y="1631111"/>
            <a:ext cx="1627559" cy="1337504"/>
          </a:xfrm>
          <a:prstGeom prst="triangle">
            <a:avLst/>
          </a:prstGeom>
          <a:gradFill flip="none" rotWithShape="1">
            <a:gsLst>
              <a:gs pos="0">
                <a:srgbClr val="0070C0"/>
              </a:gs>
              <a:gs pos="100000">
                <a:srgbClr val="002060"/>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30" name="三角形 29"/>
          <p:cNvSpPr/>
          <p:nvPr/>
        </p:nvSpPr>
        <p:spPr>
          <a:xfrm rot="10800000">
            <a:off x="2987725" y="1911477"/>
            <a:ext cx="1266785" cy="1041025"/>
          </a:xfrm>
          <a:prstGeom prst="triangle">
            <a:avLst/>
          </a:prstGeom>
          <a:solidFill>
            <a:srgbClr val="0064C8"/>
          </a:solidFill>
          <a:ln>
            <a:noFill/>
          </a:ln>
          <a:effectLst>
            <a:outerShdw blurRad="762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cxnSp>
        <p:nvCxnSpPr>
          <p:cNvPr id="25" name="直线连接符 24"/>
          <p:cNvCxnSpPr/>
          <p:nvPr/>
        </p:nvCxnSpPr>
        <p:spPr>
          <a:xfrm flipH="1">
            <a:off x="11098400" y="5047329"/>
            <a:ext cx="1093600" cy="1810671"/>
          </a:xfrm>
          <a:prstGeom prst="line">
            <a:avLst/>
          </a:prstGeom>
          <a:ln w="25400">
            <a:solidFill>
              <a:srgbClr val="0064C8"/>
            </a:solidFill>
          </a:ln>
        </p:spPr>
        <p:style>
          <a:lnRef idx="1">
            <a:schemeClr val="accent1"/>
          </a:lnRef>
          <a:fillRef idx="0">
            <a:schemeClr val="accent1"/>
          </a:fillRef>
          <a:effectRef idx="0">
            <a:schemeClr val="accent1"/>
          </a:effectRef>
          <a:fontRef idx="minor">
            <a:schemeClr val="tx1"/>
          </a:fontRef>
        </p:style>
      </p:cxnSp>
      <p:cxnSp>
        <p:nvCxnSpPr>
          <p:cNvPr id="54" name="直线连接符 53"/>
          <p:cNvCxnSpPr/>
          <p:nvPr/>
        </p:nvCxnSpPr>
        <p:spPr>
          <a:xfrm flipH="1">
            <a:off x="5680255" y="1484784"/>
            <a:ext cx="927761" cy="1483831"/>
          </a:xfrm>
          <a:prstGeom prst="line">
            <a:avLst/>
          </a:prstGeom>
          <a:ln w="25400">
            <a:solidFill>
              <a:srgbClr val="0064C8"/>
            </a:solidFill>
          </a:ln>
        </p:spPr>
        <p:style>
          <a:lnRef idx="1">
            <a:schemeClr val="accent1"/>
          </a:lnRef>
          <a:fillRef idx="0">
            <a:schemeClr val="accent1"/>
          </a:fillRef>
          <a:effectRef idx="0">
            <a:schemeClr val="accent1"/>
          </a:effectRef>
          <a:fontRef idx="minor">
            <a:schemeClr val="tx1"/>
          </a:fontRef>
        </p:style>
      </p:cxnSp>
      <p:cxnSp>
        <p:nvCxnSpPr>
          <p:cNvPr id="55" name="直线连接符 54"/>
          <p:cNvCxnSpPr/>
          <p:nvPr/>
        </p:nvCxnSpPr>
        <p:spPr>
          <a:xfrm flipH="1">
            <a:off x="-228600" y="5572016"/>
            <a:ext cx="904030" cy="1501632"/>
          </a:xfrm>
          <a:prstGeom prst="line">
            <a:avLst/>
          </a:prstGeom>
          <a:ln w="25400">
            <a:solidFill>
              <a:srgbClr val="0064C8"/>
            </a:solidFill>
          </a:ln>
        </p:spPr>
        <p:style>
          <a:lnRef idx="1">
            <a:schemeClr val="accent1"/>
          </a:lnRef>
          <a:fillRef idx="0">
            <a:schemeClr val="accent1"/>
          </a:fillRef>
          <a:effectRef idx="0">
            <a:schemeClr val="accent1"/>
          </a:effectRef>
          <a:fontRef idx="minor">
            <a:schemeClr val="tx1"/>
          </a:fontRef>
        </p:style>
      </p:cxnSp>
      <p:sp>
        <p:nvSpPr>
          <p:cNvPr id="57" name="平行四边形 56"/>
          <p:cNvSpPr/>
          <p:nvPr/>
        </p:nvSpPr>
        <p:spPr>
          <a:xfrm>
            <a:off x="-5637890" y="2431990"/>
            <a:ext cx="6973806" cy="5230678"/>
          </a:xfrm>
          <a:prstGeom prst="parallelogram">
            <a:avLst>
              <a:gd name="adj" fmla="val 60655"/>
            </a:avLst>
          </a:prstGeom>
          <a:gradFill flip="none" rotWithShape="1">
            <a:gsLst>
              <a:gs pos="0">
                <a:srgbClr val="0070C0"/>
              </a:gs>
              <a:gs pos="100000">
                <a:srgbClr val="002060"/>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22" name="矩形 21"/>
          <p:cNvSpPr/>
          <p:nvPr/>
        </p:nvSpPr>
        <p:spPr>
          <a:xfrm>
            <a:off x="5122195" y="2850285"/>
            <a:ext cx="5803271" cy="886781"/>
          </a:xfrm>
          <a:prstGeom prst="rect">
            <a:avLst/>
          </a:prstGeom>
          <a:noFill/>
        </p:spPr>
        <p:txBody>
          <a:bodyPr wrap="square">
            <a:spAutoFit/>
          </a:bodyPr>
          <a:lstStyle/>
          <a:p>
            <a:pPr lvl="0" algn="ctr">
              <a:lnSpc>
                <a:spcPct val="130000"/>
              </a:lnSpc>
              <a:defRPr/>
            </a:pPr>
            <a:r>
              <a:rPr kumimoji="1" lang="zh-CN" altLang="en-US" sz="4400" b="1" dirty="0">
                <a:solidFill>
                  <a:srgbClr val="00467F"/>
                </a:solidFill>
                <a:latin typeface="微软雅黑" panose="020B0503020204020204" pitchFamily="34" charset="-122"/>
                <a:ea typeface="微软雅黑" panose="020B0503020204020204" pitchFamily="34" charset="-122"/>
                <a:cs typeface="Calibri" panose="020F0502020204030204" pitchFamily="34" charset="0"/>
              </a:rPr>
              <a:t>感谢聆听！</a:t>
            </a:r>
            <a:endParaRPr kumimoji="1" lang="en-US" altLang="zh-CN" sz="4400" b="1" dirty="0">
              <a:solidFill>
                <a:srgbClr val="00467F"/>
              </a:solidFill>
              <a:latin typeface="微软雅黑" panose="020B0503020204020204" pitchFamily="34" charset="-122"/>
              <a:ea typeface="微软雅黑" panose="020B0503020204020204" pitchFamily="34" charset="-122"/>
              <a:cs typeface="Calibri" panose="020F0502020204030204" pitchFamily="34" charset="0"/>
            </a:endParaRPr>
          </a:p>
        </p:txBody>
      </p:sp>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1168" y="1530250"/>
            <a:ext cx="2514152" cy="673296"/>
          </a:xfrm>
          <a:prstGeom prst="rect">
            <a:avLst/>
          </a:prstGeom>
        </p:spPr>
      </p:pic>
      <p:sp>
        <p:nvSpPr>
          <p:cNvPr id="6" name="平行四边形 5"/>
          <p:cNvSpPr/>
          <p:nvPr/>
        </p:nvSpPr>
        <p:spPr>
          <a:xfrm>
            <a:off x="3863752" y="2060848"/>
            <a:ext cx="2305311" cy="3312368"/>
          </a:xfrm>
          <a:prstGeom prst="parallelogram">
            <a:avLst>
              <a:gd name="adj" fmla="val 9258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a:spLocks noChangeArrowheads="1"/>
          </p:cNvSpPr>
          <p:nvPr/>
        </p:nvSpPr>
        <p:spPr bwMode="auto">
          <a:xfrm>
            <a:off x="6767396" y="4922511"/>
            <a:ext cx="3420497" cy="808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r">
              <a:lnSpc>
                <a:spcPts val="2800"/>
              </a:lnSpc>
              <a:spcBef>
                <a:spcPct val="0"/>
              </a:spcBef>
              <a:buFontTx/>
              <a:buNone/>
            </a:pPr>
            <a:r>
              <a:rPr lang="zh-CN" altLang="en-US" sz="2400" b="1" dirty="0">
                <a:solidFill>
                  <a:srgbClr val="0058A3"/>
                </a:solidFill>
                <a:latin typeface="微软雅黑" panose="020B0503020204020204" pitchFamily="34" charset="-122"/>
                <a:ea typeface="微软雅黑" panose="020B0503020204020204" pitchFamily="34" charset="-122"/>
              </a:rPr>
              <a:t>答辩人：莫智超</a:t>
            </a:r>
          </a:p>
          <a:p>
            <a:pPr algn="r">
              <a:lnSpc>
                <a:spcPts val="2800"/>
              </a:lnSpc>
              <a:spcBef>
                <a:spcPct val="0"/>
              </a:spcBef>
              <a:buFontTx/>
              <a:buNone/>
            </a:pPr>
            <a:r>
              <a:rPr lang="en-US" altLang="zh-CN" sz="2400" b="1" dirty="0">
                <a:solidFill>
                  <a:srgbClr val="0058A3"/>
                </a:solidFill>
                <a:latin typeface="微软雅黑" panose="020B0503020204020204" pitchFamily="34" charset="-122"/>
                <a:ea typeface="微软雅黑" panose="020B0503020204020204" pitchFamily="34" charset="-122"/>
              </a:rPr>
              <a:t>2025.10.29</a:t>
            </a:r>
            <a:endParaRPr lang="en-US" altLang="zh-CN" b="1" dirty="0">
              <a:solidFill>
                <a:srgbClr val="0058A3"/>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75.0925196850393,&quot;left&quot;:74.14456692913386,&quot;top&quot;:228.28984251968504,&quot;width&quot;:633.8840944881889}"/>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75.0925196850393,&quot;left&quot;:74.14456692913386,&quot;top&quot;:228.28984251968504,&quot;width&quot;:633.8840944881889}"/>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28.58472440944877,&quot;left&quot;:36.96212598425197,&quot;top&quot;:92.84818897637794,&quot;width&quot;:886.075669291338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28.58472440944877,&quot;left&quot;:36.96212598425197,&quot;top&quot;:92.84818897637794,&quot;width&quot;:886.0756692913386}"/>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408.5737007874016,&quot;left&quot;:26.937637795275588,&quot;top&quot;:71.78669291338582,&quot;width&quot;:808.879842519685}"/>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408.5737007874016,&quot;left&quot;:26.937637795275588,&quot;top&quot;:71.78669291338582,&quot;width&quot;:808.879842519685}"/>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408.5737007874016,&quot;left&quot;:26.937637795275588,&quot;top&quot;:71.78669291338582,&quot;width&quot;:808.879842519685}"/>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80.6174015748032,&quot;left&quot;:43.4,&quot;top&quot;:113.55,&quot;width&quot;:859.65}"/>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80.6174015748032,&quot;left&quot;:43.4,&quot;top&quot;:113.55,&quot;width&quot;:859.65}"/>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80.6174015748032,&quot;left&quot;:43.4,&quot;top&quot;:113.55,&quot;width&quot;:859.65}"/>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80.6174015748032,&quot;left&quot;:43.4,&quot;top&quot;:113.55,&quot;width&quot;:859.65}"/>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28.58472440944877,&quot;left&quot;:36.96212598425197,&quot;top&quot;:92.84818897637794,&quot;width&quot;:886.0756692913386}"/>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610.5374015748032,&quot;left&quot;:-13.943307086614187,&quot;top&quot;:91.0455118110236,&quot;width&quot;:1194.285905511811}"/>
</p:tagLst>
</file>

<file path=ppt/theme/theme1.xml><?xml version="1.0" encoding="utf-8"?>
<a:theme xmlns:a="http://schemas.openxmlformats.org/drawingml/2006/main" name="默认设计模板">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vert="eaVert" wrap="square" rtlCol="0">
        <a:spAutoFit/>
      </a:bodyPr>
      <a:lstStyle>
        <a:defPPr algn="l">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308</TotalTime>
  <Words>1416</Words>
  <Application>Microsoft Macintosh PowerPoint</Application>
  <PresentationFormat>宽屏</PresentationFormat>
  <Paragraphs>208</Paragraphs>
  <Slides>16</Slides>
  <Notes>10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16</vt:i4>
      </vt:variant>
    </vt:vector>
  </HeadingPairs>
  <TitlesOfParts>
    <vt:vector size="27" baseType="lpstr">
      <vt:lpstr>等线</vt:lpstr>
      <vt:lpstr>黑体</vt:lpstr>
      <vt:lpstr>微软雅黑</vt:lpstr>
      <vt:lpstr>Arial</vt:lpstr>
      <vt:lpstr>Calibri</vt:lpstr>
      <vt:lpstr>Calibri Light</vt:lpstr>
      <vt:lpstr>Cambria Math</vt:lpstr>
      <vt:lpstr>Times New Roman</vt:lpstr>
      <vt:lpstr>Wingdings</vt:lpstr>
      <vt:lpstr>默认设计模板</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Think</dc:creator>
  <cp:lastModifiedBy>智超 莫</cp:lastModifiedBy>
  <cp:revision>997</cp:revision>
  <dcterms:created xsi:type="dcterms:W3CDTF">2016-12-02T08:56:00Z</dcterms:created>
  <dcterms:modified xsi:type="dcterms:W3CDTF">2026-04-16T01:33:41Z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CBFC7385DC6146E08A2CDFEEFAF30872_12</vt:lpwstr>
  </property>
</Properties>
</file>