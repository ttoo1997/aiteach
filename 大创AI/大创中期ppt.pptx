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05" r:id="rId3"/>
    <p:sldId id="354" r:id="rId5"/>
    <p:sldId id="355" r:id="rId6"/>
    <p:sldId id="294" r:id="rId7"/>
    <p:sldId id="306" r:id="rId8"/>
    <p:sldId id="356" r:id="rId9"/>
    <p:sldId id="357" r:id="rId10"/>
    <p:sldId id="315" r:id="rId11"/>
    <p:sldId id="360" r:id="rId12"/>
    <p:sldId id="361" r:id="rId13"/>
    <p:sldId id="335" r:id="rId14"/>
    <p:sldId id="358" r:id="rId15"/>
    <p:sldId id="359" r:id="rId16"/>
    <p:sldId id="353" r:id="rId17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9B4"/>
    <a:srgbClr val="ED7D31"/>
    <a:srgbClr val="CDE2F1"/>
    <a:srgbClr val="FFC000"/>
    <a:srgbClr val="6A9BCB"/>
    <a:srgbClr val="A9C8E3"/>
    <a:srgbClr val="A9C9E3"/>
    <a:srgbClr val="F6FDFF"/>
    <a:srgbClr val="B2D0E7"/>
    <a:srgbClr val="A3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85017" autoAdjust="0"/>
  </p:normalViewPr>
  <p:slideViewPr>
    <p:cSldViewPr showGuides="1">
      <p:cViewPr varScale="1">
        <p:scale>
          <a:sx n="46" d="100"/>
          <a:sy n="46" d="100"/>
        </p:scale>
        <p:origin x="52" y="1028"/>
      </p:cViewPr>
      <p:guideLst>
        <p:guide orient="horz" pos="2160"/>
        <p:guide pos="38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31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6C5B0BD-72DF-4D5B-AAB4-FC3B769B24E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等线" panose="02010600030101010101" pitchFamily="2" charset="-122"/>
              </a:defRPr>
            </a:lvl1pPr>
          </a:lstStyle>
          <a:p>
            <a:fld id="{6A34B6FE-EB21-40E0-852B-9A05BC649D5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FD9A6-9F83-4999-8E6A-8E8C3F5744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78C66-A1FC-419C-B011-F5E9D315D4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F0A1E-EBEF-458A-8A7B-559305B0D41C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1F706-337C-476C-9317-9720C3BE107D}" type="slidenum">
              <a:rPr lang="zh-CN" altLang="zh-CN"/>
            </a:fld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1F706-337C-476C-9317-9720C3BE107D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1048604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0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0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6"/>
          <a:srcRect r="44579" b="48974"/>
          <a:stretch>
            <a:fillRect/>
          </a:stretch>
        </p:blipFill>
        <p:spPr>
          <a:xfrm rot="16200000">
            <a:off x="5090434" y="292343"/>
            <a:ext cx="7373332" cy="678864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6"/>
          <a:srcRect r="44579" b="48974"/>
          <a:stretch>
            <a:fillRect/>
          </a:stretch>
        </p:blipFill>
        <p:spPr>
          <a:xfrm rot="5400000">
            <a:off x="-312918" y="-211878"/>
            <a:ext cx="7373332" cy="6788647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3" name="矩形 12"/>
          <p:cNvSpPr/>
          <p:nvPr userDrawn="1"/>
        </p:nvSpPr>
        <p:spPr>
          <a:xfrm>
            <a:off x="-24496" y="-27384"/>
            <a:ext cx="12241176" cy="689660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40DD9E5C-1B64-4A2C-AD29-42F405CF0F9F}" type="slidenum">
              <a:rPr lang="zh-CN" altLang="zh-CN" smtClean="0"/>
            </a:fld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9.jpeg"/><Relationship Id="rId2" Type="http://schemas.openxmlformats.org/officeDocument/2006/relationships/tags" Target="../tags/tag6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.png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17.jpe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2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3" Type="http://schemas.microsoft.com/office/2007/relationships/hdphoto" Target="../media/image21.wdp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1" Type="http://schemas.openxmlformats.org/officeDocument/2006/relationships/slideLayout" Target="../slideLayouts/slideLayout5.xml"/><Relationship Id="rId30" Type="http://schemas.openxmlformats.org/officeDocument/2006/relationships/tags" Target="../tags/tag34.xml"/><Relationship Id="rId3" Type="http://schemas.openxmlformats.org/officeDocument/2006/relationships/tags" Target="../tags/tag11.xml"/><Relationship Id="rId29" Type="http://schemas.openxmlformats.org/officeDocument/2006/relationships/tags" Target="../tags/tag33.xml"/><Relationship Id="rId28" Type="http://schemas.openxmlformats.org/officeDocument/2006/relationships/image" Target="../media/image10.jpeg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image" Target="../media/image25.png"/><Relationship Id="rId20" Type="http://schemas.openxmlformats.org/officeDocument/2006/relationships/tags" Target="../tags/tag26.xml"/><Relationship Id="rId2" Type="http://schemas.openxmlformats.org/officeDocument/2006/relationships/tags" Target="../tags/tag10.xml"/><Relationship Id="rId19" Type="http://schemas.openxmlformats.org/officeDocument/2006/relationships/image" Target="../media/image24.png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7.png"/><Relationship Id="rId11" Type="http://schemas.openxmlformats.org/officeDocument/2006/relationships/image" Target="../media/image36.jpeg"/><Relationship Id="rId10" Type="http://schemas.openxmlformats.org/officeDocument/2006/relationships/image" Target="../media/image35.jpe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tags" Target="../tags/tag38.xml"/><Relationship Id="rId4" Type="http://schemas.openxmlformats.org/officeDocument/2006/relationships/image" Target="../media/image38.jpe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3.e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平行四边形 17"/>
          <p:cNvSpPr/>
          <p:nvPr/>
        </p:nvSpPr>
        <p:spPr>
          <a:xfrm>
            <a:off x="-384720" y="5216640"/>
            <a:ext cx="4465624" cy="156578"/>
          </a:xfrm>
          <a:prstGeom prst="parallelogram">
            <a:avLst>
              <a:gd name="adj" fmla="val 614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957" y="1911477"/>
            <a:ext cx="6465965" cy="3315412"/>
          </a:xfrm>
          <a:prstGeom prst="rect">
            <a:avLst/>
          </a:prstGeom>
        </p:spPr>
      </p:pic>
      <p:sp>
        <p:nvSpPr>
          <p:cNvPr id="2" name="直角三角形 1"/>
          <p:cNvSpPr/>
          <p:nvPr/>
        </p:nvSpPr>
        <p:spPr>
          <a:xfrm flipH="1">
            <a:off x="4038719" y="1866898"/>
            <a:ext cx="2129289" cy="336230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平行四边形 33"/>
          <p:cNvSpPr/>
          <p:nvPr/>
        </p:nvSpPr>
        <p:spPr>
          <a:xfrm>
            <a:off x="9395331" y="0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/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/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/>
          <p:cNvCxnSpPr/>
          <p:nvPr/>
        </p:nvCxnSpPr>
        <p:spPr>
          <a:xfrm flipH="1">
            <a:off x="11098400" y="5047329"/>
            <a:ext cx="1093600" cy="181067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/>
          <p:cNvCxnSpPr/>
          <p:nvPr/>
        </p:nvCxnSpPr>
        <p:spPr>
          <a:xfrm flipH="1">
            <a:off x="5680255" y="1484784"/>
            <a:ext cx="927761" cy="148383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/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447665" y="2348865"/>
            <a:ext cx="637730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kumimoji="1" lang="zh-CN" altLang="en-US" sz="40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基于交流阻抗技术的储能</a:t>
            </a:r>
            <a:endParaRPr kumimoji="1" lang="zh-CN" altLang="en-US" sz="40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0" algn="ctr">
              <a:lnSpc>
                <a:spcPct val="130000"/>
              </a:lnSpc>
              <a:defRPr/>
            </a:pPr>
            <a:r>
              <a:rPr kumimoji="1" lang="zh-CN" altLang="en-US" sz="40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电池状态快速检测系统</a:t>
            </a:r>
            <a:endParaRPr kumimoji="1" lang="zh-CN" altLang="en-US" sz="40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168" y="1530250"/>
            <a:ext cx="2514152" cy="673296"/>
          </a:xfrm>
          <a:prstGeom prst="rect">
            <a:avLst/>
          </a:prstGeom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767396" y="4922511"/>
            <a:ext cx="3420497" cy="80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58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答辩人：莫智超</a:t>
            </a:r>
            <a:endParaRPr lang="zh-CN" altLang="en-US" sz="2400" b="1" dirty="0">
              <a:solidFill>
                <a:srgbClr val="0058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58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2025.XX.XX</a:t>
            </a:r>
            <a:endParaRPr lang="en-US" altLang="zh-CN" b="1" dirty="0">
              <a:solidFill>
                <a:srgbClr val="0058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3863752" y="2060848"/>
            <a:ext cx="2305311" cy="3312368"/>
          </a:xfrm>
          <a:prstGeom prst="parallelogram">
            <a:avLst>
              <a:gd name="adj" fmla="val 9258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1"/>
          <p:cNvGrpSpPr/>
          <p:nvPr/>
        </p:nvGrpSpPr>
        <p:grpSpPr bwMode="auto">
          <a:xfrm>
            <a:off x="-189" y="49001"/>
            <a:ext cx="4819457" cy="657539"/>
            <a:chOff x="287705" y="46516"/>
            <a:chExt cx="3070393" cy="658536"/>
          </a:xfrm>
        </p:grpSpPr>
        <p:sp>
          <p:nvSpPr>
            <p:cNvPr id="1048630" name="矩形 65"/>
            <p:cNvSpPr>
              <a:spLocks noChangeArrowheads="1"/>
            </p:cNvSpPr>
            <p:nvPr/>
          </p:nvSpPr>
          <p:spPr bwMode="auto">
            <a:xfrm>
              <a:off x="287705" y="46516"/>
              <a:ext cx="3025004" cy="5844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altLang="zh-CN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r>
                <a:rPr lang="zh-CN" altLang="en-US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国家政策</a:t>
              </a:r>
              <a:endParaRPr lang="zh-CN" altLang="en-US" sz="2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631" name="矩形 104"/>
            <p:cNvSpPr/>
            <p:nvPr/>
          </p:nvSpPr>
          <p:spPr>
            <a:xfrm>
              <a:off x="333094" y="659264"/>
              <a:ext cx="3025004" cy="45788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72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grpSp>
        <p:nvGrpSpPr>
          <p:cNvPr id="49" name="组合 3"/>
          <p:cNvGrpSpPr/>
          <p:nvPr/>
        </p:nvGrpSpPr>
        <p:grpSpPr>
          <a:xfrm>
            <a:off x="1030376" y="878558"/>
            <a:ext cx="3790459" cy="2343627"/>
            <a:chOff x="1305622" y="1846379"/>
            <a:chExt cx="3790459" cy="2343627"/>
          </a:xfrm>
        </p:grpSpPr>
        <p:grpSp>
          <p:nvGrpSpPr>
            <p:cNvPr id="50" name="组合 4"/>
            <p:cNvGrpSpPr/>
            <p:nvPr/>
          </p:nvGrpSpPr>
          <p:grpSpPr>
            <a:xfrm>
              <a:off x="1305622" y="1846379"/>
              <a:ext cx="3790459" cy="1916856"/>
              <a:chOff x="581722" y="1890688"/>
              <a:chExt cx="3790459" cy="1916856"/>
            </a:xfrm>
          </p:grpSpPr>
          <p:grpSp>
            <p:nvGrpSpPr>
              <p:cNvPr id="51" name="组合 5"/>
              <p:cNvGrpSpPr/>
              <p:nvPr/>
            </p:nvGrpSpPr>
            <p:grpSpPr>
              <a:xfrm>
                <a:off x="1118065" y="1890688"/>
                <a:ext cx="3254116" cy="1916856"/>
                <a:chOff x="-4358705" y="2703291"/>
                <a:chExt cx="3254116" cy="1916856"/>
              </a:xfrm>
            </p:grpSpPr>
            <p:sp>
              <p:nvSpPr>
                <p:cNvPr id="1048632" name="矩形 6"/>
                <p:cNvSpPr/>
                <p:nvPr/>
              </p:nvSpPr>
              <p:spPr>
                <a:xfrm>
                  <a:off x="-4358705" y="2703291"/>
                  <a:ext cx="3254116" cy="1916856"/>
                </a:xfrm>
                <a:prstGeom prst="rect">
                  <a:avLst/>
                </a:prstGeom>
                <a:solidFill>
                  <a:srgbClr val="E8F5FE"/>
                </a:solidFill>
                <a:ln>
                  <a:noFill/>
                </a:ln>
                <a:effectLst>
                  <a:outerShdw blurRad="177800" dist="762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eaLnBrk="1" hangingPunct="1"/>
                  <a:endParaRPr lang="zh-CN" altLang="en-US" sz="1600"/>
                </a:p>
              </p:txBody>
            </p:sp>
            <p:pic>
              <p:nvPicPr>
                <p:cNvPr id="2097163" name="图片 7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-4269805" y="2783301"/>
                  <a:ext cx="3099435" cy="175704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grpSp>
            <p:nvGrpSpPr>
              <p:cNvPr id="52" name="组合 8"/>
              <p:cNvGrpSpPr/>
              <p:nvPr/>
            </p:nvGrpSpPr>
            <p:grpSpPr>
              <a:xfrm>
                <a:off x="581722" y="2600977"/>
                <a:ext cx="512107" cy="512107"/>
                <a:chOff x="7680176" y="4123213"/>
                <a:chExt cx="2808312" cy="2808312"/>
              </a:xfrm>
            </p:grpSpPr>
            <p:sp>
              <p:nvSpPr>
                <p:cNvPr id="1048633" name="椭圆 9"/>
                <p:cNvSpPr/>
                <p:nvPr/>
              </p:nvSpPr>
              <p:spPr>
                <a:xfrm>
                  <a:off x="7680176" y="4123213"/>
                  <a:ext cx="2808312" cy="280831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77800" dist="63500" dir="13200000" algn="b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8634" name="椭圆 10"/>
                <p:cNvSpPr/>
                <p:nvPr/>
              </p:nvSpPr>
              <p:spPr>
                <a:xfrm>
                  <a:off x="7680176" y="4123213"/>
                  <a:ext cx="2808312" cy="2808312"/>
                </a:xfrm>
                <a:prstGeom prst="ellipse">
                  <a:avLst/>
                </a:prstGeom>
                <a:solidFill>
                  <a:srgbClr val="E9F5FE"/>
                </a:solidFill>
                <a:ln>
                  <a:noFill/>
                </a:ln>
                <a:effectLst>
                  <a:outerShdw blurRad="304800" dist="165100" dir="18900000" algn="bl" rotWithShape="0">
                    <a:schemeClr val="bg1">
                      <a:lumMod val="9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>
                      <a:solidFill>
                        <a:srgbClr val="4987C3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1</a:t>
                  </a:r>
                  <a:endParaRPr lang="zh-CN" altLang="en-US" sz="2400" b="1" dirty="0">
                    <a:solidFill>
                      <a:srgbClr val="4987C3"/>
                    </a:solidFill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p:grpSp>
        </p:grpSp>
        <p:sp>
          <p:nvSpPr>
            <p:cNvPr id="1048635" name="矩形 11"/>
            <p:cNvSpPr>
              <a:spLocks noChangeArrowheads="1"/>
            </p:cNvSpPr>
            <p:nvPr/>
          </p:nvSpPr>
          <p:spPr bwMode="auto">
            <a:xfrm>
              <a:off x="1850080" y="3793766"/>
              <a:ext cx="3027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zh-CN" sz="2000" b="1" dirty="0">
                  <a:gradFill>
                    <a:gsLst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2015.5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中国制造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2025》</a:t>
              </a:r>
              <a:endParaRPr lang="zh-CN" altLang="en-US" b="1" dirty="0">
                <a:solidFill>
                  <a:srgbClr val="0B298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23"/>
          <p:cNvGrpSpPr/>
          <p:nvPr/>
        </p:nvGrpSpPr>
        <p:grpSpPr>
          <a:xfrm>
            <a:off x="5876125" y="878558"/>
            <a:ext cx="5398370" cy="2339985"/>
            <a:chOff x="6397689" y="1861624"/>
            <a:chExt cx="5398370" cy="2329060"/>
          </a:xfrm>
        </p:grpSpPr>
        <p:grpSp>
          <p:nvGrpSpPr>
            <p:cNvPr id="58" name="组合 24"/>
            <p:cNvGrpSpPr/>
            <p:nvPr/>
          </p:nvGrpSpPr>
          <p:grpSpPr>
            <a:xfrm>
              <a:off x="6957709" y="1861624"/>
              <a:ext cx="3766224" cy="1916856"/>
              <a:chOff x="6957709" y="1890688"/>
              <a:chExt cx="3766224" cy="1916856"/>
            </a:xfrm>
          </p:grpSpPr>
          <p:grpSp>
            <p:nvGrpSpPr>
              <p:cNvPr id="59" name="组合 25"/>
              <p:cNvGrpSpPr/>
              <p:nvPr/>
            </p:nvGrpSpPr>
            <p:grpSpPr>
              <a:xfrm>
                <a:off x="7469817" y="1890688"/>
                <a:ext cx="3254116" cy="1916856"/>
                <a:chOff x="6498297" y="1612169"/>
                <a:chExt cx="3254116" cy="1916856"/>
              </a:xfrm>
            </p:grpSpPr>
            <p:sp>
              <p:nvSpPr>
                <p:cNvPr id="1048641" name="矩形 26"/>
                <p:cNvSpPr/>
                <p:nvPr/>
              </p:nvSpPr>
              <p:spPr>
                <a:xfrm>
                  <a:off x="6498297" y="1612169"/>
                  <a:ext cx="3254116" cy="1916856"/>
                </a:xfrm>
                <a:prstGeom prst="rect">
                  <a:avLst/>
                </a:prstGeom>
                <a:solidFill>
                  <a:srgbClr val="E8F5FE"/>
                </a:solidFill>
                <a:ln>
                  <a:noFill/>
                </a:ln>
                <a:effectLst>
                  <a:outerShdw blurRad="177800" dist="762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eaLnBrk="1" hangingPunct="1"/>
                  <a:endParaRPr lang="zh-CN" altLang="en-US" sz="1600"/>
                </a:p>
              </p:txBody>
            </p:sp>
            <p:pic>
              <p:nvPicPr>
                <p:cNvPr id="209716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6573862" y="1715191"/>
                  <a:ext cx="3103245" cy="1710287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sp>
            <p:nvSpPr>
              <p:cNvPr id="1048642" name="椭圆 28"/>
              <p:cNvSpPr/>
              <p:nvPr/>
            </p:nvSpPr>
            <p:spPr>
              <a:xfrm>
                <a:off x="6957709" y="2590108"/>
                <a:ext cx="512107" cy="512107"/>
              </a:xfrm>
              <a:prstGeom prst="ellipse">
                <a:avLst/>
              </a:prstGeom>
              <a:solidFill>
                <a:srgbClr val="E9F5FE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rgbClr val="4987C3"/>
                    </a:solidFill>
                    <a:latin typeface="黑体" panose="02010609060101010101" charset="-122"/>
                    <a:ea typeface="黑体" panose="02010609060101010101" charset="-122"/>
                  </a:rPr>
                  <a:t>3</a:t>
                </a:r>
                <a:endParaRPr lang="zh-CN" altLang="en-US" sz="2400" b="1" dirty="0">
                  <a:solidFill>
                    <a:srgbClr val="4987C3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sp>
          <p:nvSpPr>
            <p:cNvPr id="1048643" name="文本框 8"/>
            <p:cNvSpPr txBox="1">
              <a:spLocks noChangeArrowheads="1"/>
            </p:cNvSpPr>
            <p:nvPr/>
          </p:nvSpPr>
          <p:spPr bwMode="auto">
            <a:xfrm>
              <a:off x="6397689" y="3793766"/>
              <a:ext cx="5398370" cy="3969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zh-CN" sz="2000" b="1" dirty="0">
                  <a:gradFill>
                    <a:gsLst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2022.03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“十四五”新型储能发展实施方案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8644" name="文本框 37"/>
          <p:cNvSpPr txBox="1"/>
          <p:nvPr/>
        </p:nvSpPr>
        <p:spPr>
          <a:xfrm>
            <a:off x="0" y="3280737"/>
            <a:ext cx="12192000" cy="583565"/>
          </a:xfrm>
          <a:prstGeom prst="rect">
            <a:avLst/>
          </a:prstGeom>
          <a:gradFill>
            <a:gsLst>
              <a:gs pos="11000">
                <a:schemeClr val="accent1">
                  <a:lumMod val="75000"/>
                </a:schemeClr>
              </a:gs>
              <a:gs pos="100000">
                <a:srgbClr val="00C0FA"/>
              </a:gs>
            </a:gsLst>
            <a:lin ang="2700000" scaled="1"/>
          </a:gra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新能源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发展提速，</a:t>
            </a:r>
            <a:r>
              <a:rPr lang="zh-CN" altLang="en-US" sz="3200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电池储能行业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扩张迎来新周期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45" name="文本框 1"/>
          <p:cNvSpPr txBox="1"/>
          <p:nvPr/>
        </p:nvSpPr>
        <p:spPr>
          <a:xfrm>
            <a:off x="11852910" y="6513195"/>
            <a:ext cx="339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1</a:t>
            </a:r>
            <a:endParaRPr lang="en-US" altLang="zh-CN" sz="1200" b="1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03290" y="4008120"/>
            <a:ext cx="5656580" cy="2312670"/>
            <a:chOff x="9454" y="6312"/>
            <a:chExt cx="8908" cy="3642"/>
          </a:xfrm>
        </p:grpSpPr>
        <p:grpSp>
          <p:nvGrpSpPr>
            <p:cNvPr id="60" name="组合 30"/>
            <p:cNvGrpSpPr/>
            <p:nvPr/>
          </p:nvGrpSpPr>
          <p:grpSpPr>
            <a:xfrm>
              <a:off x="9454" y="6312"/>
              <a:ext cx="8908" cy="3642"/>
              <a:chOff x="6520056" y="4197772"/>
              <a:chExt cx="5656580" cy="2312848"/>
            </a:xfrm>
          </p:grpSpPr>
          <p:grpSp>
            <p:nvGrpSpPr>
              <p:cNvPr id="61" name="组合 31"/>
              <p:cNvGrpSpPr/>
              <p:nvPr/>
            </p:nvGrpSpPr>
            <p:grpSpPr>
              <a:xfrm>
                <a:off x="6957709" y="4197772"/>
                <a:ext cx="3766223" cy="1916855"/>
                <a:chOff x="6957709" y="3996387"/>
                <a:chExt cx="3766223" cy="1916855"/>
              </a:xfrm>
            </p:grpSpPr>
            <p:sp>
              <p:nvSpPr>
                <p:cNvPr id="1048646" name="矩形 33"/>
                <p:cNvSpPr/>
                <p:nvPr/>
              </p:nvSpPr>
              <p:spPr>
                <a:xfrm>
                  <a:off x="7469816" y="3996387"/>
                  <a:ext cx="3254116" cy="1916855"/>
                </a:xfrm>
                <a:prstGeom prst="rect">
                  <a:avLst/>
                </a:prstGeom>
                <a:solidFill>
                  <a:srgbClr val="E8F5FE"/>
                </a:solidFill>
                <a:ln>
                  <a:noFill/>
                </a:ln>
                <a:effectLst>
                  <a:outerShdw blurRad="177800" dist="76200" dir="8100000" algn="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eaLnBrk="1" hangingPunct="1"/>
                  <a:endParaRPr lang="zh-CN" altLang="en-US" sz="1600"/>
                </a:p>
              </p:txBody>
            </p:sp>
            <p:sp>
              <p:nvSpPr>
                <p:cNvPr id="1048647" name="椭圆 35"/>
                <p:cNvSpPr/>
                <p:nvPr/>
              </p:nvSpPr>
              <p:spPr>
                <a:xfrm>
                  <a:off x="6957709" y="4698760"/>
                  <a:ext cx="512107" cy="512107"/>
                </a:xfrm>
                <a:prstGeom prst="ellipse">
                  <a:avLst/>
                </a:prstGeom>
                <a:solidFill>
                  <a:srgbClr val="E9F5FE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b="1" dirty="0">
                      <a:solidFill>
                        <a:srgbClr val="4987C3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4</a:t>
                  </a:r>
                  <a:endParaRPr lang="zh-CN" altLang="en-US" sz="2400" b="1" dirty="0">
                    <a:solidFill>
                      <a:srgbClr val="4987C3"/>
                    </a:solidFill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p:grpSp>
          <p:sp>
            <p:nvSpPr>
              <p:cNvPr id="1048648" name="矩形 36"/>
              <p:cNvSpPr>
                <a:spLocks noChangeArrowheads="1"/>
              </p:cNvSpPr>
              <p:nvPr/>
            </p:nvSpPr>
            <p:spPr bwMode="auto">
              <a:xfrm>
                <a:off x="6520056" y="6114356"/>
                <a:ext cx="5656580" cy="396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/>
                <a:r>
                  <a:rPr lang="en-US" altLang="zh-CN" sz="2000" b="1" dirty="0">
                    <a:gradFill>
                      <a:gsLst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50000">
                          <a:schemeClr val="accent1"/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2025.02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《新型储能制造业高质量发展行动方案》</a:t>
                </a:r>
                <a:endParaRPr lang="zh-CN" altLang="en-US" sz="2000" b="1" dirty="0">
                  <a:solidFill>
                    <a:srgbClr val="0B2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097165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78" y="6447"/>
              <a:ext cx="4893" cy="27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" name="组合 2"/>
          <p:cNvGrpSpPr/>
          <p:nvPr/>
        </p:nvGrpSpPr>
        <p:grpSpPr>
          <a:xfrm>
            <a:off x="52070" y="4008120"/>
            <a:ext cx="6044565" cy="2308860"/>
            <a:chOff x="82" y="6312"/>
            <a:chExt cx="9519" cy="3636"/>
          </a:xfrm>
        </p:grpSpPr>
        <p:grpSp>
          <p:nvGrpSpPr>
            <p:cNvPr id="53" name="组合 12"/>
            <p:cNvGrpSpPr/>
            <p:nvPr/>
          </p:nvGrpSpPr>
          <p:grpSpPr>
            <a:xfrm>
              <a:off x="82" y="6312"/>
              <a:ext cx="9519" cy="3636"/>
              <a:chOff x="721131" y="4197771"/>
              <a:chExt cx="6044565" cy="2308860"/>
            </a:xfrm>
          </p:grpSpPr>
          <p:grpSp>
            <p:nvGrpSpPr>
              <p:cNvPr id="54" name="组合 13"/>
              <p:cNvGrpSpPr/>
              <p:nvPr/>
            </p:nvGrpSpPr>
            <p:grpSpPr>
              <a:xfrm>
                <a:off x="1699321" y="4197771"/>
                <a:ext cx="3790460" cy="1916856"/>
                <a:chOff x="581721" y="4095143"/>
                <a:chExt cx="3790460" cy="1916856"/>
              </a:xfrm>
            </p:grpSpPr>
            <p:grpSp>
              <p:nvGrpSpPr>
                <p:cNvPr id="55" name="组合 14"/>
                <p:cNvGrpSpPr/>
                <p:nvPr/>
              </p:nvGrpSpPr>
              <p:grpSpPr>
                <a:xfrm>
                  <a:off x="581721" y="4797518"/>
                  <a:ext cx="512107" cy="512107"/>
                  <a:chOff x="7680176" y="4123213"/>
                  <a:chExt cx="2808312" cy="2808312"/>
                </a:xfrm>
              </p:grpSpPr>
              <p:sp>
                <p:nvSpPr>
                  <p:cNvPr id="1048636" name="椭圆 15"/>
                  <p:cNvSpPr/>
                  <p:nvPr/>
                </p:nvSpPr>
                <p:spPr>
                  <a:xfrm>
                    <a:off x="7680176" y="4123213"/>
                    <a:ext cx="2808312" cy="280831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>
                    <a:outerShdw blurRad="177800" dist="63500" dir="13200000" algn="b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8637" name="椭圆 16"/>
                  <p:cNvSpPr/>
                  <p:nvPr/>
                </p:nvSpPr>
                <p:spPr>
                  <a:xfrm>
                    <a:off x="7680176" y="4123213"/>
                    <a:ext cx="2808312" cy="2808312"/>
                  </a:xfrm>
                  <a:prstGeom prst="ellipse">
                    <a:avLst/>
                  </a:prstGeom>
                  <a:solidFill>
                    <a:srgbClr val="E9F5FE"/>
                  </a:solidFill>
                  <a:ln>
                    <a:noFill/>
                  </a:ln>
                  <a:effectLst>
                    <a:outerShdw blurRad="304800" dist="165100" dir="18900000" algn="bl" rotWithShape="0">
                      <a:schemeClr val="bg1">
                        <a:lumMod val="9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2400" b="1" dirty="0">
                        <a:solidFill>
                          <a:srgbClr val="4987C3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2</a:t>
                    </a:r>
                    <a:endParaRPr lang="zh-CN" altLang="en-US" sz="2400" b="1" dirty="0">
                      <a:solidFill>
                        <a:srgbClr val="4987C3"/>
                      </a:solidFill>
                      <a:latin typeface="黑体" panose="02010609060101010101" charset="-122"/>
                      <a:ea typeface="黑体" panose="02010609060101010101" charset="-122"/>
                    </a:endParaRPr>
                  </a:p>
                </p:txBody>
              </p:sp>
            </p:grpSp>
            <p:grpSp>
              <p:nvGrpSpPr>
                <p:cNvPr id="56" name="组合 18"/>
                <p:cNvGrpSpPr/>
                <p:nvPr/>
              </p:nvGrpSpPr>
              <p:grpSpPr>
                <a:xfrm>
                  <a:off x="1118065" y="4095143"/>
                  <a:ext cx="3254116" cy="1916856"/>
                  <a:chOff x="520894" y="4229883"/>
                  <a:chExt cx="3047889" cy="1716291"/>
                </a:xfrm>
              </p:grpSpPr>
              <p:sp>
                <p:nvSpPr>
                  <p:cNvPr id="1048638" name="矩形 19"/>
                  <p:cNvSpPr/>
                  <p:nvPr/>
                </p:nvSpPr>
                <p:spPr>
                  <a:xfrm>
                    <a:off x="520894" y="4229883"/>
                    <a:ext cx="3047889" cy="1716291"/>
                  </a:xfrm>
                  <a:prstGeom prst="rect">
                    <a:avLst/>
                  </a:prstGeom>
                  <a:solidFill>
                    <a:srgbClr val="E8F5FE"/>
                  </a:solidFill>
                  <a:ln>
                    <a:noFill/>
                  </a:ln>
                  <a:effectLst>
                    <a:outerShdw blurRad="203200" dist="76200" dir="18900000" algn="bl" rotWithShape="0">
                      <a:schemeClr val="bg1"/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eaLnBrk="1" hangingPunct="1"/>
                    <a:endParaRPr lang="zh-CN" altLang="en-US" sz="1600"/>
                  </a:p>
                </p:txBody>
              </p:sp>
              <p:sp>
                <p:nvSpPr>
                  <p:cNvPr id="1048639" name="矩形 20"/>
                  <p:cNvSpPr/>
                  <p:nvPr/>
                </p:nvSpPr>
                <p:spPr>
                  <a:xfrm>
                    <a:off x="520894" y="4229883"/>
                    <a:ext cx="3047889" cy="1716291"/>
                  </a:xfrm>
                  <a:prstGeom prst="rect">
                    <a:avLst/>
                  </a:prstGeom>
                  <a:solidFill>
                    <a:srgbClr val="E8F5FE"/>
                  </a:solidFill>
                  <a:ln>
                    <a:noFill/>
                  </a:ln>
                  <a:effectLst>
                    <a:outerShdw blurRad="177800" dist="762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eaLnBrk="1" hangingPunct="1"/>
                    <a:endParaRPr lang="zh-CN" altLang="en-US" sz="1600"/>
                  </a:p>
                </p:txBody>
              </p:sp>
            </p:grpSp>
          </p:grpSp>
          <p:sp>
            <p:nvSpPr>
              <p:cNvPr id="1048640" name="文本框 8"/>
              <p:cNvSpPr txBox="1">
                <a:spLocks noChangeArrowheads="1"/>
              </p:cNvSpPr>
              <p:nvPr/>
            </p:nvSpPr>
            <p:spPr bwMode="auto">
              <a:xfrm>
                <a:off x="721131" y="6107851"/>
                <a:ext cx="6044565" cy="398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/>
                <a:r>
                  <a:rPr lang="en-US" altLang="zh-CN" sz="2000" b="1" dirty="0">
                    <a:gradFill>
                      <a:gsLst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50000">
                          <a:schemeClr val="accent1"/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2021.07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《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关于加快推动新型储能发展的指导意见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》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097166" name="图片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5" y="6447"/>
              <a:ext cx="4867" cy="276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196" name="组合 1"/>
          <p:cNvGrpSpPr/>
          <p:nvPr/>
        </p:nvGrpSpPr>
        <p:grpSpPr bwMode="auto">
          <a:xfrm>
            <a:off x="268288" y="103188"/>
            <a:ext cx="4747591" cy="601662"/>
            <a:chOff x="267858" y="102478"/>
            <a:chExt cx="3025443" cy="602574"/>
          </a:xfrm>
        </p:grpSpPr>
        <p:sp>
          <p:nvSpPr>
            <p:cNvPr id="5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02544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国家政策</a:t>
              </a: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4" grpId="0" bldLvl="0" animBg="1"/>
      <p:bldP spid="104864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1"/>
          <p:cNvGrpSpPr/>
          <p:nvPr/>
        </p:nvGrpSpPr>
        <p:grpSpPr bwMode="auto">
          <a:xfrm>
            <a:off x="-189" y="49001"/>
            <a:ext cx="4819457" cy="657539"/>
            <a:chOff x="287705" y="46516"/>
            <a:chExt cx="3070393" cy="658536"/>
          </a:xfrm>
        </p:grpSpPr>
        <p:sp>
          <p:nvSpPr>
            <p:cNvPr id="1048630" name="矩形 65"/>
            <p:cNvSpPr>
              <a:spLocks noChangeArrowheads="1"/>
            </p:cNvSpPr>
            <p:nvPr/>
          </p:nvSpPr>
          <p:spPr bwMode="auto">
            <a:xfrm>
              <a:off x="287705" y="46516"/>
              <a:ext cx="3025004" cy="5844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altLang="zh-CN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r>
                <a:rPr lang="zh-CN" altLang="en-US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国家政策</a:t>
              </a:r>
              <a:endParaRPr lang="zh-CN" altLang="en-US" sz="2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631" name="矩形 104"/>
            <p:cNvSpPr/>
            <p:nvPr/>
          </p:nvSpPr>
          <p:spPr>
            <a:xfrm>
              <a:off x="333094" y="659264"/>
              <a:ext cx="3025004" cy="45788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72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grpSp>
        <p:nvGrpSpPr>
          <p:cNvPr id="8196" name="组合 1"/>
          <p:cNvGrpSpPr/>
          <p:nvPr/>
        </p:nvGrpSpPr>
        <p:grpSpPr bwMode="auto">
          <a:xfrm>
            <a:off x="268288" y="103188"/>
            <a:ext cx="4747591" cy="601662"/>
            <a:chOff x="267858" y="102478"/>
            <a:chExt cx="3025443" cy="602574"/>
          </a:xfrm>
        </p:grpSpPr>
        <p:sp>
          <p:nvSpPr>
            <p:cNvPr id="2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02544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现实痛点</a:t>
              </a: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pic>
        <p:nvPicPr>
          <p:cNvPr id="2097154" name="图片 2"/>
          <p:cNvPicPr/>
          <p:nvPr/>
        </p:nvPicPr>
        <p:blipFill>
          <a:blip r:embed="rId1"/>
          <a:srcRect l="10039" r="7187" b="7804"/>
          <a:stretch>
            <a:fillRect/>
          </a:stretch>
        </p:blipFill>
        <p:spPr>
          <a:xfrm>
            <a:off x="2947670" y="4066540"/>
            <a:ext cx="2514600" cy="2371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8585" name="矩形 15"/>
          <p:cNvSpPr/>
          <p:nvPr>
            <p:custDataLst>
              <p:tags r:id="rId2"/>
            </p:custDataLst>
          </p:nvPr>
        </p:nvSpPr>
        <p:spPr>
          <a:xfrm>
            <a:off x="2952750" y="4077335"/>
            <a:ext cx="2493010" cy="4933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rgbClr val="7BB4DE">
                  <a:alpha val="100000"/>
                </a:srgbClr>
              </a:gs>
              <a:gs pos="100000">
                <a:srgbClr val="0070C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97155" name="图片 1"/>
          <p:cNvPicPr/>
          <p:nvPr/>
        </p:nvPicPr>
        <p:blipFill>
          <a:blip r:embed="rId3"/>
          <a:srcRect l="28234" r="10068"/>
          <a:stretch>
            <a:fillRect/>
          </a:stretch>
        </p:blipFill>
        <p:spPr>
          <a:xfrm>
            <a:off x="695325" y="4041140"/>
            <a:ext cx="2212340" cy="23882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8586" name="矩形 32"/>
          <p:cNvSpPr/>
          <p:nvPr>
            <p:custDataLst>
              <p:tags r:id="rId4"/>
            </p:custDataLst>
          </p:nvPr>
        </p:nvSpPr>
        <p:spPr>
          <a:xfrm>
            <a:off x="623570" y="4041140"/>
            <a:ext cx="2284095" cy="4933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rgbClr val="7BB4DE">
                  <a:alpha val="100000"/>
                </a:srgbClr>
              </a:gs>
              <a:gs pos="100000">
                <a:srgbClr val="0070C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587" name="箭头: 右 30"/>
          <p:cNvSpPr/>
          <p:nvPr/>
        </p:nvSpPr>
        <p:spPr>
          <a:xfrm>
            <a:off x="5583555" y="899160"/>
            <a:ext cx="1258570" cy="5108575"/>
          </a:xfrm>
          <a:custGeom>
            <a:avLst/>
            <a:gdLst>
              <a:gd name="connsiteX0" fmla="*/ 0 w 535224"/>
              <a:gd name="connsiteY0" fmla="*/ 73011 h 292042"/>
              <a:gd name="connsiteX1" fmla="*/ 363754 w 535224"/>
              <a:gd name="connsiteY1" fmla="*/ 73011 h 292042"/>
              <a:gd name="connsiteX2" fmla="*/ 363754 w 535224"/>
              <a:gd name="connsiteY2" fmla="*/ 0 h 292042"/>
              <a:gd name="connsiteX3" fmla="*/ 535224 w 535224"/>
              <a:gd name="connsiteY3" fmla="*/ 146021 h 292042"/>
              <a:gd name="connsiteX4" fmla="*/ 363754 w 535224"/>
              <a:gd name="connsiteY4" fmla="*/ 292042 h 292042"/>
              <a:gd name="connsiteX5" fmla="*/ 363754 w 535224"/>
              <a:gd name="connsiteY5" fmla="*/ 219032 h 292042"/>
              <a:gd name="connsiteX6" fmla="*/ 0 w 535224"/>
              <a:gd name="connsiteY6" fmla="*/ 219032 h 292042"/>
              <a:gd name="connsiteX7" fmla="*/ 0 w 535224"/>
              <a:gd name="connsiteY7" fmla="*/ 73011 h 292042"/>
              <a:gd name="connsiteX0-1" fmla="*/ 0 w 549511"/>
              <a:gd name="connsiteY0-2" fmla="*/ 0 h 923881"/>
              <a:gd name="connsiteX1-3" fmla="*/ 378041 w 549511"/>
              <a:gd name="connsiteY1-4" fmla="*/ 704850 h 923881"/>
              <a:gd name="connsiteX2-5" fmla="*/ 378041 w 549511"/>
              <a:gd name="connsiteY2-6" fmla="*/ 631839 h 923881"/>
              <a:gd name="connsiteX3-7" fmla="*/ 549511 w 549511"/>
              <a:gd name="connsiteY3-8" fmla="*/ 777860 h 923881"/>
              <a:gd name="connsiteX4-9" fmla="*/ 378041 w 549511"/>
              <a:gd name="connsiteY4-10" fmla="*/ 923881 h 923881"/>
              <a:gd name="connsiteX5-11" fmla="*/ 378041 w 549511"/>
              <a:gd name="connsiteY5-12" fmla="*/ 850871 h 923881"/>
              <a:gd name="connsiteX6-13" fmla="*/ 14287 w 549511"/>
              <a:gd name="connsiteY6-14" fmla="*/ 850871 h 923881"/>
              <a:gd name="connsiteX7-15" fmla="*/ 0 w 549511"/>
              <a:gd name="connsiteY7-16" fmla="*/ 0 h 923881"/>
              <a:gd name="connsiteX0-17" fmla="*/ 0 w 549511"/>
              <a:gd name="connsiteY0-18" fmla="*/ 0 h 1541433"/>
              <a:gd name="connsiteX1-19" fmla="*/ 378041 w 549511"/>
              <a:gd name="connsiteY1-20" fmla="*/ 704850 h 1541433"/>
              <a:gd name="connsiteX2-21" fmla="*/ 378041 w 549511"/>
              <a:gd name="connsiteY2-22" fmla="*/ 631839 h 1541433"/>
              <a:gd name="connsiteX3-23" fmla="*/ 549511 w 549511"/>
              <a:gd name="connsiteY3-24" fmla="*/ 777860 h 1541433"/>
              <a:gd name="connsiteX4-25" fmla="*/ 378041 w 549511"/>
              <a:gd name="connsiteY4-26" fmla="*/ 923881 h 1541433"/>
              <a:gd name="connsiteX5-27" fmla="*/ 378041 w 549511"/>
              <a:gd name="connsiteY5-28" fmla="*/ 850871 h 1541433"/>
              <a:gd name="connsiteX6-29" fmla="*/ 19050 w 549511"/>
              <a:gd name="connsiteY6-30" fmla="*/ 1541433 h 1541433"/>
              <a:gd name="connsiteX7-31" fmla="*/ 0 w 549511"/>
              <a:gd name="connsiteY7-32" fmla="*/ 0 h 1541433"/>
              <a:gd name="connsiteX0-33" fmla="*/ 0 w 549511"/>
              <a:gd name="connsiteY0-34" fmla="*/ 0 h 1541433"/>
              <a:gd name="connsiteX1-35" fmla="*/ 244159 w 549511"/>
              <a:gd name="connsiteY1-36" fmla="*/ 636994 h 1541433"/>
              <a:gd name="connsiteX2-37" fmla="*/ 378041 w 549511"/>
              <a:gd name="connsiteY2-38" fmla="*/ 704850 h 1541433"/>
              <a:gd name="connsiteX3-39" fmla="*/ 378041 w 549511"/>
              <a:gd name="connsiteY3-40" fmla="*/ 631839 h 1541433"/>
              <a:gd name="connsiteX4-41" fmla="*/ 549511 w 549511"/>
              <a:gd name="connsiteY4-42" fmla="*/ 777860 h 1541433"/>
              <a:gd name="connsiteX5-43" fmla="*/ 378041 w 549511"/>
              <a:gd name="connsiteY5-44" fmla="*/ 923881 h 1541433"/>
              <a:gd name="connsiteX6-45" fmla="*/ 378041 w 549511"/>
              <a:gd name="connsiteY6-46" fmla="*/ 850871 h 1541433"/>
              <a:gd name="connsiteX7-47" fmla="*/ 19050 w 549511"/>
              <a:gd name="connsiteY7-48" fmla="*/ 1541433 h 1541433"/>
              <a:gd name="connsiteX8" fmla="*/ 0 w 549511"/>
              <a:gd name="connsiteY8" fmla="*/ 0 h 1541433"/>
              <a:gd name="connsiteX0-49" fmla="*/ 0 w 549511"/>
              <a:gd name="connsiteY0-50" fmla="*/ 0 h 1541433"/>
              <a:gd name="connsiteX1-51" fmla="*/ 267971 w 549511"/>
              <a:gd name="connsiteY1-52" fmla="*/ 625088 h 1541433"/>
              <a:gd name="connsiteX2-53" fmla="*/ 378041 w 549511"/>
              <a:gd name="connsiteY2-54" fmla="*/ 704850 h 1541433"/>
              <a:gd name="connsiteX3-55" fmla="*/ 378041 w 549511"/>
              <a:gd name="connsiteY3-56" fmla="*/ 631839 h 1541433"/>
              <a:gd name="connsiteX4-57" fmla="*/ 549511 w 549511"/>
              <a:gd name="connsiteY4-58" fmla="*/ 777860 h 1541433"/>
              <a:gd name="connsiteX5-59" fmla="*/ 378041 w 549511"/>
              <a:gd name="connsiteY5-60" fmla="*/ 923881 h 1541433"/>
              <a:gd name="connsiteX6-61" fmla="*/ 378041 w 549511"/>
              <a:gd name="connsiteY6-62" fmla="*/ 850871 h 1541433"/>
              <a:gd name="connsiteX7-63" fmla="*/ 19050 w 549511"/>
              <a:gd name="connsiteY7-64" fmla="*/ 1541433 h 1541433"/>
              <a:gd name="connsiteX8-65" fmla="*/ 0 w 549511"/>
              <a:gd name="connsiteY8-66" fmla="*/ 0 h 1541433"/>
              <a:gd name="connsiteX0-67" fmla="*/ 0 w 549511"/>
              <a:gd name="connsiteY0-68" fmla="*/ 0 h 1541433"/>
              <a:gd name="connsiteX1-69" fmla="*/ 267971 w 549511"/>
              <a:gd name="connsiteY1-70" fmla="*/ 625088 h 1541433"/>
              <a:gd name="connsiteX2-71" fmla="*/ 378041 w 549511"/>
              <a:gd name="connsiteY2-72" fmla="*/ 704850 h 1541433"/>
              <a:gd name="connsiteX3-73" fmla="*/ 378041 w 549511"/>
              <a:gd name="connsiteY3-74" fmla="*/ 631839 h 1541433"/>
              <a:gd name="connsiteX4-75" fmla="*/ 549511 w 549511"/>
              <a:gd name="connsiteY4-76" fmla="*/ 777860 h 1541433"/>
              <a:gd name="connsiteX5-77" fmla="*/ 378041 w 549511"/>
              <a:gd name="connsiteY5-78" fmla="*/ 923881 h 1541433"/>
              <a:gd name="connsiteX6-79" fmla="*/ 378041 w 549511"/>
              <a:gd name="connsiteY6-80" fmla="*/ 850871 h 1541433"/>
              <a:gd name="connsiteX7-81" fmla="*/ 19050 w 549511"/>
              <a:gd name="connsiteY7-82" fmla="*/ 1541433 h 1541433"/>
              <a:gd name="connsiteX8-83" fmla="*/ 0 w 549511"/>
              <a:gd name="connsiteY8-84" fmla="*/ 0 h 1541433"/>
              <a:gd name="connsiteX0-85" fmla="*/ 0 w 549511"/>
              <a:gd name="connsiteY0-86" fmla="*/ 0 h 1541433"/>
              <a:gd name="connsiteX1-87" fmla="*/ 267971 w 549511"/>
              <a:gd name="connsiteY1-88" fmla="*/ 625088 h 1541433"/>
              <a:gd name="connsiteX2-89" fmla="*/ 378041 w 549511"/>
              <a:gd name="connsiteY2-90" fmla="*/ 704850 h 1541433"/>
              <a:gd name="connsiteX3-91" fmla="*/ 378041 w 549511"/>
              <a:gd name="connsiteY3-92" fmla="*/ 631839 h 1541433"/>
              <a:gd name="connsiteX4-93" fmla="*/ 549511 w 549511"/>
              <a:gd name="connsiteY4-94" fmla="*/ 777860 h 1541433"/>
              <a:gd name="connsiteX5-95" fmla="*/ 378041 w 549511"/>
              <a:gd name="connsiteY5-96" fmla="*/ 923881 h 1541433"/>
              <a:gd name="connsiteX6-97" fmla="*/ 378041 w 549511"/>
              <a:gd name="connsiteY6-98" fmla="*/ 850871 h 1541433"/>
              <a:gd name="connsiteX7-99" fmla="*/ 253684 w 549511"/>
              <a:gd name="connsiteY7-100" fmla="*/ 920363 h 1541433"/>
              <a:gd name="connsiteX8-101" fmla="*/ 19050 w 549511"/>
              <a:gd name="connsiteY8-102" fmla="*/ 1541433 h 1541433"/>
              <a:gd name="connsiteX9" fmla="*/ 0 w 549511"/>
              <a:gd name="connsiteY9" fmla="*/ 0 h 1541433"/>
              <a:gd name="connsiteX0-103" fmla="*/ 0 w 549511"/>
              <a:gd name="connsiteY0-104" fmla="*/ 0 h 1541433"/>
              <a:gd name="connsiteX1-105" fmla="*/ 267971 w 549511"/>
              <a:gd name="connsiteY1-106" fmla="*/ 625088 h 1541433"/>
              <a:gd name="connsiteX2-107" fmla="*/ 378041 w 549511"/>
              <a:gd name="connsiteY2-108" fmla="*/ 704850 h 1541433"/>
              <a:gd name="connsiteX3-109" fmla="*/ 378041 w 549511"/>
              <a:gd name="connsiteY3-110" fmla="*/ 631839 h 1541433"/>
              <a:gd name="connsiteX4-111" fmla="*/ 549511 w 549511"/>
              <a:gd name="connsiteY4-112" fmla="*/ 777860 h 1541433"/>
              <a:gd name="connsiteX5-113" fmla="*/ 378041 w 549511"/>
              <a:gd name="connsiteY5-114" fmla="*/ 923881 h 1541433"/>
              <a:gd name="connsiteX6-115" fmla="*/ 378041 w 549511"/>
              <a:gd name="connsiteY6-116" fmla="*/ 850871 h 1541433"/>
              <a:gd name="connsiteX7-117" fmla="*/ 253684 w 549511"/>
              <a:gd name="connsiteY7-118" fmla="*/ 920363 h 1541433"/>
              <a:gd name="connsiteX8-119" fmla="*/ 19050 w 549511"/>
              <a:gd name="connsiteY8-120" fmla="*/ 1541433 h 1541433"/>
              <a:gd name="connsiteX9-121" fmla="*/ 0 w 549511"/>
              <a:gd name="connsiteY9-122" fmla="*/ 0 h 1541433"/>
              <a:gd name="connsiteX0-123" fmla="*/ 0 w 549511"/>
              <a:gd name="connsiteY0-124" fmla="*/ 0 h 1541433"/>
              <a:gd name="connsiteX1-125" fmla="*/ 267971 w 549511"/>
              <a:gd name="connsiteY1-126" fmla="*/ 625088 h 1541433"/>
              <a:gd name="connsiteX2-127" fmla="*/ 378041 w 549511"/>
              <a:gd name="connsiteY2-128" fmla="*/ 704850 h 1541433"/>
              <a:gd name="connsiteX3-129" fmla="*/ 378041 w 549511"/>
              <a:gd name="connsiteY3-130" fmla="*/ 631839 h 1541433"/>
              <a:gd name="connsiteX4-131" fmla="*/ 549511 w 549511"/>
              <a:gd name="connsiteY4-132" fmla="*/ 777860 h 1541433"/>
              <a:gd name="connsiteX5-133" fmla="*/ 378041 w 549511"/>
              <a:gd name="connsiteY5-134" fmla="*/ 923881 h 1541433"/>
              <a:gd name="connsiteX6-135" fmla="*/ 378041 w 549511"/>
              <a:gd name="connsiteY6-136" fmla="*/ 850871 h 1541433"/>
              <a:gd name="connsiteX7-137" fmla="*/ 253684 w 549511"/>
              <a:gd name="connsiteY7-138" fmla="*/ 920363 h 1541433"/>
              <a:gd name="connsiteX8-139" fmla="*/ 19050 w 549511"/>
              <a:gd name="connsiteY8-140" fmla="*/ 1541433 h 1541433"/>
              <a:gd name="connsiteX9-141" fmla="*/ 0 w 549511"/>
              <a:gd name="connsiteY9-142" fmla="*/ 0 h 1541433"/>
              <a:gd name="connsiteX0-143" fmla="*/ 0 w 549511"/>
              <a:gd name="connsiteY0-144" fmla="*/ 0 h 1541433"/>
              <a:gd name="connsiteX1-145" fmla="*/ 267971 w 549511"/>
              <a:gd name="connsiteY1-146" fmla="*/ 625088 h 1541433"/>
              <a:gd name="connsiteX2-147" fmla="*/ 378041 w 549511"/>
              <a:gd name="connsiteY2-148" fmla="*/ 704850 h 1541433"/>
              <a:gd name="connsiteX3-149" fmla="*/ 378041 w 549511"/>
              <a:gd name="connsiteY3-150" fmla="*/ 631839 h 1541433"/>
              <a:gd name="connsiteX4-151" fmla="*/ 549511 w 549511"/>
              <a:gd name="connsiteY4-152" fmla="*/ 777860 h 1541433"/>
              <a:gd name="connsiteX5-153" fmla="*/ 378041 w 549511"/>
              <a:gd name="connsiteY5-154" fmla="*/ 923881 h 1541433"/>
              <a:gd name="connsiteX6-155" fmla="*/ 378041 w 549511"/>
              <a:gd name="connsiteY6-156" fmla="*/ 850871 h 1541433"/>
              <a:gd name="connsiteX7-157" fmla="*/ 253684 w 549511"/>
              <a:gd name="connsiteY7-158" fmla="*/ 920363 h 1541433"/>
              <a:gd name="connsiteX8-159" fmla="*/ 19050 w 549511"/>
              <a:gd name="connsiteY8-160" fmla="*/ 1541433 h 1541433"/>
              <a:gd name="connsiteX9-161" fmla="*/ 0 w 549511"/>
              <a:gd name="connsiteY9-162" fmla="*/ 0 h 1541433"/>
              <a:gd name="connsiteX0-163" fmla="*/ 0 w 549511"/>
              <a:gd name="connsiteY0-164" fmla="*/ 0 h 1541433"/>
              <a:gd name="connsiteX1-165" fmla="*/ 267971 w 549511"/>
              <a:gd name="connsiteY1-166" fmla="*/ 625088 h 1541433"/>
              <a:gd name="connsiteX2-167" fmla="*/ 378041 w 549511"/>
              <a:gd name="connsiteY2-168" fmla="*/ 704850 h 1541433"/>
              <a:gd name="connsiteX3-169" fmla="*/ 378041 w 549511"/>
              <a:gd name="connsiteY3-170" fmla="*/ 631839 h 1541433"/>
              <a:gd name="connsiteX4-171" fmla="*/ 549511 w 549511"/>
              <a:gd name="connsiteY4-172" fmla="*/ 777860 h 1541433"/>
              <a:gd name="connsiteX5-173" fmla="*/ 378041 w 549511"/>
              <a:gd name="connsiteY5-174" fmla="*/ 923881 h 1541433"/>
              <a:gd name="connsiteX6-175" fmla="*/ 378041 w 549511"/>
              <a:gd name="connsiteY6-176" fmla="*/ 850871 h 1541433"/>
              <a:gd name="connsiteX7-177" fmla="*/ 253684 w 549511"/>
              <a:gd name="connsiteY7-178" fmla="*/ 920363 h 1541433"/>
              <a:gd name="connsiteX8-179" fmla="*/ 19050 w 549511"/>
              <a:gd name="connsiteY8-180" fmla="*/ 1541433 h 1541433"/>
              <a:gd name="connsiteX9-181" fmla="*/ 0 w 549511"/>
              <a:gd name="connsiteY9-182" fmla="*/ 0 h 1541433"/>
              <a:gd name="connsiteX0-183" fmla="*/ 0 w 549511"/>
              <a:gd name="connsiteY0-184" fmla="*/ 0 h 1541433"/>
              <a:gd name="connsiteX1-185" fmla="*/ 267971 w 549511"/>
              <a:gd name="connsiteY1-186" fmla="*/ 625088 h 1541433"/>
              <a:gd name="connsiteX2-187" fmla="*/ 378041 w 549511"/>
              <a:gd name="connsiteY2-188" fmla="*/ 704850 h 1541433"/>
              <a:gd name="connsiteX3-189" fmla="*/ 378041 w 549511"/>
              <a:gd name="connsiteY3-190" fmla="*/ 631839 h 1541433"/>
              <a:gd name="connsiteX4-191" fmla="*/ 549511 w 549511"/>
              <a:gd name="connsiteY4-192" fmla="*/ 777860 h 1541433"/>
              <a:gd name="connsiteX5-193" fmla="*/ 378041 w 549511"/>
              <a:gd name="connsiteY5-194" fmla="*/ 923881 h 1541433"/>
              <a:gd name="connsiteX6-195" fmla="*/ 378041 w 549511"/>
              <a:gd name="connsiteY6-196" fmla="*/ 850871 h 1541433"/>
              <a:gd name="connsiteX7-197" fmla="*/ 241778 w 549511"/>
              <a:gd name="connsiteY7-198" fmla="*/ 958463 h 1541433"/>
              <a:gd name="connsiteX8-199" fmla="*/ 19050 w 549511"/>
              <a:gd name="connsiteY8-200" fmla="*/ 1541433 h 1541433"/>
              <a:gd name="connsiteX9-201" fmla="*/ 0 w 549511"/>
              <a:gd name="connsiteY9-202" fmla="*/ 0 h 1541433"/>
              <a:gd name="connsiteX0-203" fmla="*/ 0 w 549511"/>
              <a:gd name="connsiteY0-204" fmla="*/ 0 h 1541433"/>
              <a:gd name="connsiteX1-205" fmla="*/ 267971 w 549511"/>
              <a:gd name="connsiteY1-206" fmla="*/ 625088 h 1541433"/>
              <a:gd name="connsiteX2-207" fmla="*/ 378041 w 549511"/>
              <a:gd name="connsiteY2-208" fmla="*/ 704850 h 1541433"/>
              <a:gd name="connsiteX3-209" fmla="*/ 378041 w 549511"/>
              <a:gd name="connsiteY3-210" fmla="*/ 631839 h 1541433"/>
              <a:gd name="connsiteX4-211" fmla="*/ 549511 w 549511"/>
              <a:gd name="connsiteY4-212" fmla="*/ 777860 h 1541433"/>
              <a:gd name="connsiteX5-213" fmla="*/ 378041 w 549511"/>
              <a:gd name="connsiteY5-214" fmla="*/ 923881 h 1541433"/>
              <a:gd name="connsiteX6-215" fmla="*/ 378041 w 549511"/>
              <a:gd name="connsiteY6-216" fmla="*/ 850871 h 1541433"/>
              <a:gd name="connsiteX7-217" fmla="*/ 241778 w 549511"/>
              <a:gd name="connsiteY7-218" fmla="*/ 958463 h 1541433"/>
              <a:gd name="connsiteX8-219" fmla="*/ 19050 w 549511"/>
              <a:gd name="connsiteY8-220" fmla="*/ 1541433 h 1541433"/>
              <a:gd name="connsiteX9-221" fmla="*/ 0 w 549511"/>
              <a:gd name="connsiteY9-222" fmla="*/ 0 h 1541433"/>
              <a:gd name="connsiteX0-223" fmla="*/ 0 w 549511"/>
              <a:gd name="connsiteY0-224" fmla="*/ 0 h 1541433"/>
              <a:gd name="connsiteX1-225" fmla="*/ 267971 w 549511"/>
              <a:gd name="connsiteY1-226" fmla="*/ 625088 h 1541433"/>
              <a:gd name="connsiteX2-227" fmla="*/ 378041 w 549511"/>
              <a:gd name="connsiteY2-228" fmla="*/ 704850 h 1541433"/>
              <a:gd name="connsiteX3-229" fmla="*/ 378041 w 549511"/>
              <a:gd name="connsiteY3-230" fmla="*/ 631839 h 1541433"/>
              <a:gd name="connsiteX4-231" fmla="*/ 549511 w 549511"/>
              <a:gd name="connsiteY4-232" fmla="*/ 777860 h 1541433"/>
              <a:gd name="connsiteX5-233" fmla="*/ 378041 w 549511"/>
              <a:gd name="connsiteY5-234" fmla="*/ 923881 h 1541433"/>
              <a:gd name="connsiteX6-235" fmla="*/ 378041 w 549511"/>
              <a:gd name="connsiteY6-236" fmla="*/ 850871 h 1541433"/>
              <a:gd name="connsiteX7-237" fmla="*/ 287021 w 549511"/>
              <a:gd name="connsiteY7-238" fmla="*/ 917981 h 1541433"/>
              <a:gd name="connsiteX8-239" fmla="*/ 19050 w 549511"/>
              <a:gd name="connsiteY8-240" fmla="*/ 1541433 h 1541433"/>
              <a:gd name="connsiteX9-241" fmla="*/ 0 w 549511"/>
              <a:gd name="connsiteY9-242" fmla="*/ 0 h 1541433"/>
              <a:gd name="connsiteX0-243" fmla="*/ 0 w 549511"/>
              <a:gd name="connsiteY0-244" fmla="*/ 0 h 1541433"/>
              <a:gd name="connsiteX1-245" fmla="*/ 267971 w 549511"/>
              <a:gd name="connsiteY1-246" fmla="*/ 625088 h 1541433"/>
              <a:gd name="connsiteX2-247" fmla="*/ 378041 w 549511"/>
              <a:gd name="connsiteY2-248" fmla="*/ 704850 h 1541433"/>
              <a:gd name="connsiteX3-249" fmla="*/ 378041 w 549511"/>
              <a:gd name="connsiteY3-250" fmla="*/ 631839 h 1541433"/>
              <a:gd name="connsiteX4-251" fmla="*/ 549511 w 549511"/>
              <a:gd name="connsiteY4-252" fmla="*/ 777860 h 1541433"/>
              <a:gd name="connsiteX5-253" fmla="*/ 378041 w 549511"/>
              <a:gd name="connsiteY5-254" fmla="*/ 923881 h 1541433"/>
              <a:gd name="connsiteX6-255" fmla="*/ 378041 w 549511"/>
              <a:gd name="connsiteY6-256" fmla="*/ 850871 h 1541433"/>
              <a:gd name="connsiteX7-257" fmla="*/ 287021 w 549511"/>
              <a:gd name="connsiteY7-258" fmla="*/ 917981 h 1541433"/>
              <a:gd name="connsiteX8-259" fmla="*/ 19050 w 549511"/>
              <a:gd name="connsiteY8-260" fmla="*/ 1541433 h 1541433"/>
              <a:gd name="connsiteX9-261" fmla="*/ 0 w 549511"/>
              <a:gd name="connsiteY9-262" fmla="*/ 0 h 1541433"/>
              <a:gd name="connsiteX0-263" fmla="*/ 0 w 549511"/>
              <a:gd name="connsiteY0-264" fmla="*/ 0 h 1541433"/>
              <a:gd name="connsiteX1-265" fmla="*/ 267971 w 549511"/>
              <a:gd name="connsiteY1-266" fmla="*/ 625088 h 1541433"/>
              <a:gd name="connsiteX2-267" fmla="*/ 378041 w 549511"/>
              <a:gd name="connsiteY2-268" fmla="*/ 704850 h 1541433"/>
              <a:gd name="connsiteX3-269" fmla="*/ 378041 w 549511"/>
              <a:gd name="connsiteY3-270" fmla="*/ 631839 h 1541433"/>
              <a:gd name="connsiteX4-271" fmla="*/ 549511 w 549511"/>
              <a:gd name="connsiteY4-272" fmla="*/ 777860 h 1541433"/>
              <a:gd name="connsiteX5-273" fmla="*/ 378041 w 549511"/>
              <a:gd name="connsiteY5-274" fmla="*/ 923881 h 1541433"/>
              <a:gd name="connsiteX6-275" fmla="*/ 378041 w 549511"/>
              <a:gd name="connsiteY6-276" fmla="*/ 850871 h 1541433"/>
              <a:gd name="connsiteX7-277" fmla="*/ 287021 w 549511"/>
              <a:gd name="connsiteY7-278" fmla="*/ 917981 h 1541433"/>
              <a:gd name="connsiteX8-279" fmla="*/ 19050 w 549511"/>
              <a:gd name="connsiteY8-280" fmla="*/ 1541433 h 1541433"/>
              <a:gd name="connsiteX9-281" fmla="*/ 0 w 549511"/>
              <a:gd name="connsiteY9-282" fmla="*/ 0 h 1541433"/>
              <a:gd name="connsiteX0-283" fmla="*/ 0 w 549511"/>
              <a:gd name="connsiteY0-284" fmla="*/ 0 h 1541433"/>
              <a:gd name="connsiteX1-285" fmla="*/ 303689 w 549511"/>
              <a:gd name="connsiteY1-286" fmla="*/ 658426 h 1541433"/>
              <a:gd name="connsiteX2-287" fmla="*/ 378041 w 549511"/>
              <a:gd name="connsiteY2-288" fmla="*/ 704850 h 1541433"/>
              <a:gd name="connsiteX3-289" fmla="*/ 378041 w 549511"/>
              <a:gd name="connsiteY3-290" fmla="*/ 631839 h 1541433"/>
              <a:gd name="connsiteX4-291" fmla="*/ 549511 w 549511"/>
              <a:gd name="connsiteY4-292" fmla="*/ 777860 h 1541433"/>
              <a:gd name="connsiteX5-293" fmla="*/ 378041 w 549511"/>
              <a:gd name="connsiteY5-294" fmla="*/ 923881 h 1541433"/>
              <a:gd name="connsiteX6-295" fmla="*/ 378041 w 549511"/>
              <a:gd name="connsiteY6-296" fmla="*/ 850871 h 1541433"/>
              <a:gd name="connsiteX7-297" fmla="*/ 287021 w 549511"/>
              <a:gd name="connsiteY7-298" fmla="*/ 917981 h 1541433"/>
              <a:gd name="connsiteX8-299" fmla="*/ 19050 w 549511"/>
              <a:gd name="connsiteY8-300" fmla="*/ 1541433 h 1541433"/>
              <a:gd name="connsiteX9-301" fmla="*/ 0 w 549511"/>
              <a:gd name="connsiteY9-302" fmla="*/ 0 h 1541433"/>
              <a:gd name="connsiteX0-303" fmla="*/ 0 w 549511"/>
              <a:gd name="connsiteY0-304" fmla="*/ 0 h 1541433"/>
              <a:gd name="connsiteX1-305" fmla="*/ 303689 w 549511"/>
              <a:gd name="connsiteY1-306" fmla="*/ 658426 h 1541433"/>
              <a:gd name="connsiteX2-307" fmla="*/ 378041 w 549511"/>
              <a:gd name="connsiteY2-308" fmla="*/ 704850 h 1541433"/>
              <a:gd name="connsiteX3-309" fmla="*/ 378041 w 549511"/>
              <a:gd name="connsiteY3-310" fmla="*/ 631839 h 1541433"/>
              <a:gd name="connsiteX4-311" fmla="*/ 549511 w 549511"/>
              <a:gd name="connsiteY4-312" fmla="*/ 777860 h 1541433"/>
              <a:gd name="connsiteX5-313" fmla="*/ 378041 w 549511"/>
              <a:gd name="connsiteY5-314" fmla="*/ 923881 h 1541433"/>
              <a:gd name="connsiteX6-315" fmla="*/ 378041 w 549511"/>
              <a:gd name="connsiteY6-316" fmla="*/ 850871 h 1541433"/>
              <a:gd name="connsiteX7-317" fmla="*/ 287021 w 549511"/>
              <a:gd name="connsiteY7-318" fmla="*/ 917981 h 1541433"/>
              <a:gd name="connsiteX8-319" fmla="*/ 19050 w 549511"/>
              <a:gd name="connsiteY8-320" fmla="*/ 1541433 h 1541433"/>
              <a:gd name="connsiteX9-321" fmla="*/ 0 w 549511"/>
              <a:gd name="connsiteY9-322" fmla="*/ 0 h 1541433"/>
              <a:gd name="connsiteX0-323" fmla="*/ 0 w 549511"/>
              <a:gd name="connsiteY0-324" fmla="*/ 0 h 1541433"/>
              <a:gd name="connsiteX1-325" fmla="*/ 303689 w 549511"/>
              <a:gd name="connsiteY1-326" fmla="*/ 658426 h 1541433"/>
              <a:gd name="connsiteX2-327" fmla="*/ 378041 w 549511"/>
              <a:gd name="connsiteY2-328" fmla="*/ 704850 h 1541433"/>
              <a:gd name="connsiteX3-329" fmla="*/ 378041 w 549511"/>
              <a:gd name="connsiteY3-330" fmla="*/ 631839 h 1541433"/>
              <a:gd name="connsiteX4-331" fmla="*/ 549511 w 549511"/>
              <a:gd name="connsiteY4-332" fmla="*/ 777860 h 1541433"/>
              <a:gd name="connsiteX5-333" fmla="*/ 378041 w 549511"/>
              <a:gd name="connsiteY5-334" fmla="*/ 923881 h 1541433"/>
              <a:gd name="connsiteX6-335" fmla="*/ 378041 w 549511"/>
              <a:gd name="connsiteY6-336" fmla="*/ 850871 h 1541433"/>
              <a:gd name="connsiteX7-337" fmla="*/ 246542 w 549511"/>
              <a:gd name="connsiteY7-338" fmla="*/ 972243 h 1541433"/>
              <a:gd name="connsiteX8-339" fmla="*/ 19050 w 549511"/>
              <a:gd name="connsiteY8-340" fmla="*/ 1541433 h 1541433"/>
              <a:gd name="connsiteX9-341" fmla="*/ 0 w 549511"/>
              <a:gd name="connsiteY9-342" fmla="*/ 0 h 1541433"/>
              <a:gd name="connsiteX0-343" fmla="*/ 0 w 549511"/>
              <a:gd name="connsiteY0-344" fmla="*/ 0 h 1541433"/>
              <a:gd name="connsiteX1-345" fmla="*/ 303689 w 549511"/>
              <a:gd name="connsiteY1-346" fmla="*/ 658426 h 1541433"/>
              <a:gd name="connsiteX2-347" fmla="*/ 378041 w 549511"/>
              <a:gd name="connsiteY2-348" fmla="*/ 704850 h 1541433"/>
              <a:gd name="connsiteX3-349" fmla="*/ 378041 w 549511"/>
              <a:gd name="connsiteY3-350" fmla="*/ 631839 h 1541433"/>
              <a:gd name="connsiteX4-351" fmla="*/ 549511 w 549511"/>
              <a:gd name="connsiteY4-352" fmla="*/ 777860 h 1541433"/>
              <a:gd name="connsiteX5-353" fmla="*/ 378041 w 549511"/>
              <a:gd name="connsiteY5-354" fmla="*/ 923881 h 1541433"/>
              <a:gd name="connsiteX6-355" fmla="*/ 378041 w 549511"/>
              <a:gd name="connsiteY6-356" fmla="*/ 850871 h 1541433"/>
              <a:gd name="connsiteX7-357" fmla="*/ 246542 w 549511"/>
              <a:gd name="connsiteY7-358" fmla="*/ 972243 h 1541433"/>
              <a:gd name="connsiteX8-359" fmla="*/ 19050 w 549511"/>
              <a:gd name="connsiteY8-360" fmla="*/ 1541433 h 1541433"/>
              <a:gd name="connsiteX9-361" fmla="*/ 0 w 549511"/>
              <a:gd name="connsiteY9-362" fmla="*/ 0 h 1541433"/>
              <a:gd name="connsiteX0-363" fmla="*/ 0 w 549511"/>
              <a:gd name="connsiteY0-364" fmla="*/ 0 h 1541433"/>
              <a:gd name="connsiteX1-365" fmla="*/ 303689 w 549511"/>
              <a:gd name="connsiteY1-366" fmla="*/ 658426 h 1541433"/>
              <a:gd name="connsiteX2-367" fmla="*/ 378041 w 549511"/>
              <a:gd name="connsiteY2-368" fmla="*/ 704850 h 1541433"/>
              <a:gd name="connsiteX3-369" fmla="*/ 378041 w 549511"/>
              <a:gd name="connsiteY3-370" fmla="*/ 631839 h 1541433"/>
              <a:gd name="connsiteX4-371" fmla="*/ 549511 w 549511"/>
              <a:gd name="connsiteY4-372" fmla="*/ 777860 h 1541433"/>
              <a:gd name="connsiteX5-373" fmla="*/ 378041 w 549511"/>
              <a:gd name="connsiteY5-374" fmla="*/ 923881 h 1541433"/>
              <a:gd name="connsiteX6-375" fmla="*/ 378041 w 549511"/>
              <a:gd name="connsiteY6-376" fmla="*/ 850871 h 1541433"/>
              <a:gd name="connsiteX7-377" fmla="*/ 246542 w 549511"/>
              <a:gd name="connsiteY7-378" fmla="*/ 972243 h 1541433"/>
              <a:gd name="connsiteX8-379" fmla="*/ 19050 w 549511"/>
              <a:gd name="connsiteY8-380" fmla="*/ 1541433 h 1541433"/>
              <a:gd name="connsiteX9-381" fmla="*/ 0 w 549511"/>
              <a:gd name="connsiteY9-382" fmla="*/ 0 h 1541433"/>
              <a:gd name="connsiteX0-383" fmla="*/ 0 w 549511"/>
              <a:gd name="connsiteY0-384" fmla="*/ 0 h 1541433"/>
              <a:gd name="connsiteX1-385" fmla="*/ 303689 w 549511"/>
              <a:gd name="connsiteY1-386" fmla="*/ 658426 h 1541433"/>
              <a:gd name="connsiteX2-387" fmla="*/ 378041 w 549511"/>
              <a:gd name="connsiteY2-388" fmla="*/ 704850 h 1541433"/>
              <a:gd name="connsiteX3-389" fmla="*/ 378041 w 549511"/>
              <a:gd name="connsiteY3-390" fmla="*/ 631839 h 1541433"/>
              <a:gd name="connsiteX4-391" fmla="*/ 549511 w 549511"/>
              <a:gd name="connsiteY4-392" fmla="*/ 777860 h 1541433"/>
              <a:gd name="connsiteX5-393" fmla="*/ 378041 w 549511"/>
              <a:gd name="connsiteY5-394" fmla="*/ 923881 h 1541433"/>
              <a:gd name="connsiteX6-395" fmla="*/ 378041 w 549511"/>
              <a:gd name="connsiteY6-396" fmla="*/ 850871 h 1541433"/>
              <a:gd name="connsiteX7-397" fmla="*/ 246542 w 549511"/>
              <a:gd name="connsiteY7-398" fmla="*/ 972243 h 1541433"/>
              <a:gd name="connsiteX8-399" fmla="*/ 19050 w 549511"/>
              <a:gd name="connsiteY8-400" fmla="*/ 1541433 h 1541433"/>
              <a:gd name="connsiteX9-401" fmla="*/ 0 w 549511"/>
              <a:gd name="connsiteY9-402" fmla="*/ 0 h 1541433"/>
              <a:gd name="connsiteX0-403" fmla="*/ 0 w 549511"/>
              <a:gd name="connsiteY0-404" fmla="*/ 0 h 1541433"/>
              <a:gd name="connsiteX1-405" fmla="*/ 303689 w 549511"/>
              <a:gd name="connsiteY1-406" fmla="*/ 658426 h 1541433"/>
              <a:gd name="connsiteX2-407" fmla="*/ 378041 w 549511"/>
              <a:gd name="connsiteY2-408" fmla="*/ 704850 h 1541433"/>
              <a:gd name="connsiteX3-409" fmla="*/ 378041 w 549511"/>
              <a:gd name="connsiteY3-410" fmla="*/ 631839 h 1541433"/>
              <a:gd name="connsiteX4-411" fmla="*/ 549511 w 549511"/>
              <a:gd name="connsiteY4-412" fmla="*/ 777860 h 1541433"/>
              <a:gd name="connsiteX5-413" fmla="*/ 378041 w 549511"/>
              <a:gd name="connsiteY5-414" fmla="*/ 923881 h 1541433"/>
              <a:gd name="connsiteX6-415" fmla="*/ 378041 w 549511"/>
              <a:gd name="connsiteY6-416" fmla="*/ 850871 h 1541433"/>
              <a:gd name="connsiteX7-417" fmla="*/ 249719 w 549511"/>
              <a:gd name="connsiteY7-418" fmla="*/ 982109 h 1541433"/>
              <a:gd name="connsiteX8-419" fmla="*/ 19050 w 549511"/>
              <a:gd name="connsiteY8-420" fmla="*/ 1541433 h 1541433"/>
              <a:gd name="connsiteX9-421" fmla="*/ 0 w 549511"/>
              <a:gd name="connsiteY9-422" fmla="*/ 0 h 1541433"/>
              <a:gd name="connsiteX0-423" fmla="*/ 0 w 549511"/>
              <a:gd name="connsiteY0-424" fmla="*/ 0 h 1541433"/>
              <a:gd name="connsiteX1-425" fmla="*/ 303689 w 549511"/>
              <a:gd name="connsiteY1-426" fmla="*/ 658426 h 1541433"/>
              <a:gd name="connsiteX2-427" fmla="*/ 378041 w 549511"/>
              <a:gd name="connsiteY2-428" fmla="*/ 704850 h 1541433"/>
              <a:gd name="connsiteX3-429" fmla="*/ 378041 w 549511"/>
              <a:gd name="connsiteY3-430" fmla="*/ 631839 h 1541433"/>
              <a:gd name="connsiteX4-431" fmla="*/ 549511 w 549511"/>
              <a:gd name="connsiteY4-432" fmla="*/ 777860 h 1541433"/>
              <a:gd name="connsiteX5-433" fmla="*/ 378041 w 549511"/>
              <a:gd name="connsiteY5-434" fmla="*/ 923881 h 1541433"/>
              <a:gd name="connsiteX6-435" fmla="*/ 378041 w 549511"/>
              <a:gd name="connsiteY6-436" fmla="*/ 850871 h 1541433"/>
              <a:gd name="connsiteX7-437" fmla="*/ 249719 w 549511"/>
              <a:gd name="connsiteY7-438" fmla="*/ 982109 h 1541433"/>
              <a:gd name="connsiteX8-439" fmla="*/ 19050 w 549511"/>
              <a:gd name="connsiteY8-440" fmla="*/ 1541433 h 1541433"/>
              <a:gd name="connsiteX9-441" fmla="*/ 0 w 549511"/>
              <a:gd name="connsiteY9-442" fmla="*/ 0 h 1541433"/>
              <a:gd name="connsiteX0-443" fmla="*/ 0 w 549511"/>
              <a:gd name="connsiteY0-444" fmla="*/ 0 h 1541433"/>
              <a:gd name="connsiteX1-445" fmla="*/ 303689 w 549511"/>
              <a:gd name="connsiteY1-446" fmla="*/ 658426 h 1541433"/>
              <a:gd name="connsiteX2-447" fmla="*/ 378041 w 549511"/>
              <a:gd name="connsiteY2-448" fmla="*/ 704850 h 1541433"/>
              <a:gd name="connsiteX3-449" fmla="*/ 378041 w 549511"/>
              <a:gd name="connsiteY3-450" fmla="*/ 631839 h 1541433"/>
              <a:gd name="connsiteX4-451" fmla="*/ 549511 w 549511"/>
              <a:gd name="connsiteY4-452" fmla="*/ 777860 h 1541433"/>
              <a:gd name="connsiteX5-453" fmla="*/ 378041 w 549511"/>
              <a:gd name="connsiteY5-454" fmla="*/ 923881 h 1541433"/>
              <a:gd name="connsiteX6-455" fmla="*/ 378041 w 549511"/>
              <a:gd name="connsiteY6-456" fmla="*/ 850871 h 1541433"/>
              <a:gd name="connsiteX7-457" fmla="*/ 249719 w 549511"/>
              <a:gd name="connsiteY7-458" fmla="*/ 982109 h 1541433"/>
              <a:gd name="connsiteX8-459" fmla="*/ 19050 w 549511"/>
              <a:gd name="connsiteY8-460" fmla="*/ 1541433 h 1541433"/>
              <a:gd name="connsiteX9-461" fmla="*/ 0 w 549511"/>
              <a:gd name="connsiteY9-462" fmla="*/ 0 h 1541433"/>
              <a:gd name="connsiteX0-463" fmla="*/ 0 w 549511"/>
              <a:gd name="connsiteY0-464" fmla="*/ 0 h 1541433"/>
              <a:gd name="connsiteX1-465" fmla="*/ 303689 w 549511"/>
              <a:gd name="connsiteY1-466" fmla="*/ 658426 h 1541433"/>
              <a:gd name="connsiteX2-467" fmla="*/ 378041 w 549511"/>
              <a:gd name="connsiteY2-468" fmla="*/ 704850 h 1541433"/>
              <a:gd name="connsiteX3-469" fmla="*/ 378041 w 549511"/>
              <a:gd name="connsiteY3-470" fmla="*/ 631839 h 1541433"/>
              <a:gd name="connsiteX4-471" fmla="*/ 549511 w 549511"/>
              <a:gd name="connsiteY4-472" fmla="*/ 777860 h 1541433"/>
              <a:gd name="connsiteX5-473" fmla="*/ 378041 w 549511"/>
              <a:gd name="connsiteY5-474" fmla="*/ 923881 h 1541433"/>
              <a:gd name="connsiteX6-475" fmla="*/ 378041 w 549511"/>
              <a:gd name="connsiteY6-476" fmla="*/ 850871 h 1541433"/>
              <a:gd name="connsiteX7-477" fmla="*/ 249719 w 549511"/>
              <a:gd name="connsiteY7-478" fmla="*/ 982109 h 1541433"/>
              <a:gd name="connsiteX8-479" fmla="*/ 19050 w 549511"/>
              <a:gd name="connsiteY8-480" fmla="*/ 1541433 h 1541433"/>
              <a:gd name="connsiteX9-481" fmla="*/ 0 w 549511"/>
              <a:gd name="connsiteY9-482" fmla="*/ 0 h 1541433"/>
              <a:gd name="connsiteX0-483" fmla="*/ 0 w 549511"/>
              <a:gd name="connsiteY0-484" fmla="*/ 0 h 1541433"/>
              <a:gd name="connsiteX1-485" fmla="*/ 262416 w 549511"/>
              <a:gd name="connsiteY1-486" fmla="*/ 614577 h 1541433"/>
              <a:gd name="connsiteX2-487" fmla="*/ 378041 w 549511"/>
              <a:gd name="connsiteY2-488" fmla="*/ 704850 h 1541433"/>
              <a:gd name="connsiteX3-489" fmla="*/ 378041 w 549511"/>
              <a:gd name="connsiteY3-490" fmla="*/ 631839 h 1541433"/>
              <a:gd name="connsiteX4-491" fmla="*/ 549511 w 549511"/>
              <a:gd name="connsiteY4-492" fmla="*/ 777860 h 1541433"/>
              <a:gd name="connsiteX5-493" fmla="*/ 378041 w 549511"/>
              <a:gd name="connsiteY5-494" fmla="*/ 923881 h 1541433"/>
              <a:gd name="connsiteX6-495" fmla="*/ 378041 w 549511"/>
              <a:gd name="connsiteY6-496" fmla="*/ 850871 h 1541433"/>
              <a:gd name="connsiteX7-497" fmla="*/ 249719 w 549511"/>
              <a:gd name="connsiteY7-498" fmla="*/ 982109 h 1541433"/>
              <a:gd name="connsiteX8-499" fmla="*/ 19050 w 549511"/>
              <a:gd name="connsiteY8-500" fmla="*/ 1541433 h 1541433"/>
              <a:gd name="connsiteX9-501" fmla="*/ 0 w 549511"/>
              <a:gd name="connsiteY9-502" fmla="*/ 0 h 1541433"/>
              <a:gd name="connsiteX0-503" fmla="*/ 0 w 549511"/>
              <a:gd name="connsiteY0-504" fmla="*/ 0 h 1541433"/>
              <a:gd name="connsiteX1-505" fmla="*/ 262416 w 549511"/>
              <a:gd name="connsiteY1-506" fmla="*/ 614577 h 1541433"/>
              <a:gd name="connsiteX2-507" fmla="*/ 378041 w 549511"/>
              <a:gd name="connsiteY2-508" fmla="*/ 704850 h 1541433"/>
              <a:gd name="connsiteX3-509" fmla="*/ 378041 w 549511"/>
              <a:gd name="connsiteY3-510" fmla="*/ 631839 h 1541433"/>
              <a:gd name="connsiteX4-511" fmla="*/ 549511 w 549511"/>
              <a:gd name="connsiteY4-512" fmla="*/ 777860 h 1541433"/>
              <a:gd name="connsiteX5-513" fmla="*/ 378041 w 549511"/>
              <a:gd name="connsiteY5-514" fmla="*/ 923881 h 1541433"/>
              <a:gd name="connsiteX6-515" fmla="*/ 437574 w 549511"/>
              <a:gd name="connsiteY6-516" fmla="*/ 846760 h 1541433"/>
              <a:gd name="connsiteX7-517" fmla="*/ 249719 w 549511"/>
              <a:gd name="connsiteY7-518" fmla="*/ 982109 h 1541433"/>
              <a:gd name="connsiteX8-519" fmla="*/ 19050 w 549511"/>
              <a:gd name="connsiteY8-520" fmla="*/ 1541433 h 1541433"/>
              <a:gd name="connsiteX9-521" fmla="*/ 0 w 549511"/>
              <a:gd name="connsiteY9-522" fmla="*/ 0 h 1541433"/>
              <a:gd name="connsiteX0-523" fmla="*/ 0 w 549511"/>
              <a:gd name="connsiteY0-524" fmla="*/ 0 h 1541433"/>
              <a:gd name="connsiteX1-525" fmla="*/ 262416 w 549511"/>
              <a:gd name="connsiteY1-526" fmla="*/ 614577 h 1541433"/>
              <a:gd name="connsiteX2-527" fmla="*/ 437574 w 549511"/>
              <a:gd name="connsiteY2-528" fmla="*/ 713894 h 1541433"/>
              <a:gd name="connsiteX3-529" fmla="*/ 378041 w 549511"/>
              <a:gd name="connsiteY3-530" fmla="*/ 631839 h 1541433"/>
              <a:gd name="connsiteX4-531" fmla="*/ 549511 w 549511"/>
              <a:gd name="connsiteY4-532" fmla="*/ 777860 h 1541433"/>
              <a:gd name="connsiteX5-533" fmla="*/ 378041 w 549511"/>
              <a:gd name="connsiteY5-534" fmla="*/ 923881 h 1541433"/>
              <a:gd name="connsiteX6-535" fmla="*/ 437574 w 549511"/>
              <a:gd name="connsiteY6-536" fmla="*/ 846760 h 1541433"/>
              <a:gd name="connsiteX7-537" fmla="*/ 249719 w 549511"/>
              <a:gd name="connsiteY7-538" fmla="*/ 982109 h 1541433"/>
              <a:gd name="connsiteX8-539" fmla="*/ 19050 w 549511"/>
              <a:gd name="connsiteY8-540" fmla="*/ 1541433 h 1541433"/>
              <a:gd name="connsiteX9-541" fmla="*/ 0 w 549511"/>
              <a:gd name="connsiteY9-542" fmla="*/ 0 h 15414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65" y="connsiteY8-66"/>
              </a:cxn>
              <a:cxn ang="0">
                <a:pos x="connsiteX9-121" y="connsiteY9-122"/>
              </a:cxn>
            </a:cxnLst>
            <a:rect l="l" t="t" r="r" b="b"/>
            <a:pathLst>
              <a:path w="549511" h="1541433">
                <a:moveTo>
                  <a:pt x="0" y="0"/>
                </a:moveTo>
                <a:cubicBezTo>
                  <a:pt x="108374" y="201219"/>
                  <a:pt x="165948" y="544327"/>
                  <a:pt x="262416" y="614577"/>
                </a:cubicBezTo>
                <a:cubicBezTo>
                  <a:pt x="394356" y="714983"/>
                  <a:pt x="400884" y="687307"/>
                  <a:pt x="437574" y="713894"/>
                </a:cubicBezTo>
                <a:lnTo>
                  <a:pt x="378041" y="631839"/>
                </a:lnTo>
                <a:lnTo>
                  <a:pt x="549511" y="777860"/>
                </a:lnTo>
                <a:lnTo>
                  <a:pt x="378041" y="923881"/>
                </a:lnTo>
                <a:lnTo>
                  <a:pt x="437574" y="846760"/>
                </a:lnTo>
                <a:cubicBezTo>
                  <a:pt x="415172" y="892149"/>
                  <a:pt x="297535" y="887263"/>
                  <a:pt x="249719" y="982109"/>
                </a:cubicBezTo>
                <a:lnTo>
                  <a:pt x="19050" y="154143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90000">
                <a:srgbClr val="6A9BC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90" name="文本框 10"/>
          <p:cNvSpPr txBox="1"/>
          <p:nvPr/>
        </p:nvSpPr>
        <p:spPr>
          <a:xfrm>
            <a:off x="7124700" y="899160"/>
            <a:ext cx="4300855" cy="4603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基于EIS 的电池快速检测技术</a:t>
            </a:r>
            <a:endParaRPr lang="zh-CN" altLang="en-US" sz="2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56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6791960" y="3429000"/>
            <a:ext cx="4826635" cy="286067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8591" name="圆角矩形 12"/>
          <p:cNvSpPr/>
          <p:nvPr/>
        </p:nvSpPr>
        <p:spPr>
          <a:xfrm>
            <a:off x="7245985" y="882650"/>
            <a:ext cx="1233170" cy="546100"/>
          </a:xfrm>
          <a:prstGeom prst="roundRect">
            <a:avLst/>
          </a:prstGeom>
          <a:noFill/>
          <a:ln w="57150">
            <a:solidFill>
              <a:srgbClr val="C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92" name="箭头: 下 63"/>
          <p:cNvSpPr/>
          <p:nvPr/>
        </p:nvSpPr>
        <p:spPr>
          <a:xfrm>
            <a:off x="8479155" y="1443355"/>
            <a:ext cx="1529715" cy="510540"/>
          </a:xfrm>
          <a:prstGeom prst="downArrow">
            <a:avLst>
              <a:gd name="adj1" fmla="val 50000"/>
              <a:gd name="adj2" fmla="val 50000"/>
            </a:avLst>
          </a:prstGeom>
          <a:gradFill flip="none" rotWithShape="1">
            <a:gsLst>
              <a:gs pos="4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22"/>
          <p:cNvGrpSpPr/>
          <p:nvPr/>
        </p:nvGrpSpPr>
        <p:grpSpPr>
          <a:xfrm>
            <a:off x="631825" y="842010"/>
            <a:ext cx="4966970" cy="5674995"/>
            <a:chOff x="874" y="1326"/>
            <a:chExt cx="7280" cy="8472"/>
          </a:xfrm>
        </p:grpSpPr>
        <p:sp>
          <p:nvSpPr>
            <p:cNvPr id="1048593" name="文本框 3"/>
            <p:cNvSpPr txBox="1"/>
            <p:nvPr/>
          </p:nvSpPr>
          <p:spPr>
            <a:xfrm>
              <a:off x="1147" y="1416"/>
              <a:ext cx="6773" cy="687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电池储能：挑战与机遇并存</a:t>
              </a: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594" name="箭头: 右 30"/>
            <p:cNvSpPr/>
            <p:nvPr/>
          </p:nvSpPr>
          <p:spPr>
            <a:xfrm rot="5400000">
              <a:off x="3864" y="2463"/>
              <a:ext cx="1199" cy="6443"/>
            </a:xfrm>
            <a:custGeom>
              <a:avLst/>
              <a:gdLst>
                <a:gd name="connsiteX0" fmla="*/ 0 w 535224"/>
                <a:gd name="connsiteY0" fmla="*/ 73011 h 292042"/>
                <a:gd name="connsiteX1" fmla="*/ 363754 w 535224"/>
                <a:gd name="connsiteY1" fmla="*/ 73011 h 292042"/>
                <a:gd name="connsiteX2" fmla="*/ 363754 w 535224"/>
                <a:gd name="connsiteY2" fmla="*/ 0 h 292042"/>
                <a:gd name="connsiteX3" fmla="*/ 535224 w 535224"/>
                <a:gd name="connsiteY3" fmla="*/ 146021 h 292042"/>
                <a:gd name="connsiteX4" fmla="*/ 363754 w 535224"/>
                <a:gd name="connsiteY4" fmla="*/ 292042 h 292042"/>
                <a:gd name="connsiteX5" fmla="*/ 363754 w 535224"/>
                <a:gd name="connsiteY5" fmla="*/ 219032 h 292042"/>
                <a:gd name="connsiteX6" fmla="*/ 0 w 535224"/>
                <a:gd name="connsiteY6" fmla="*/ 219032 h 292042"/>
                <a:gd name="connsiteX7" fmla="*/ 0 w 535224"/>
                <a:gd name="connsiteY7" fmla="*/ 73011 h 292042"/>
                <a:gd name="connsiteX0-1" fmla="*/ 0 w 549511"/>
                <a:gd name="connsiteY0-2" fmla="*/ 0 h 923881"/>
                <a:gd name="connsiteX1-3" fmla="*/ 378041 w 549511"/>
                <a:gd name="connsiteY1-4" fmla="*/ 704850 h 923881"/>
                <a:gd name="connsiteX2-5" fmla="*/ 378041 w 549511"/>
                <a:gd name="connsiteY2-6" fmla="*/ 631839 h 923881"/>
                <a:gd name="connsiteX3-7" fmla="*/ 549511 w 549511"/>
                <a:gd name="connsiteY3-8" fmla="*/ 777860 h 923881"/>
                <a:gd name="connsiteX4-9" fmla="*/ 378041 w 549511"/>
                <a:gd name="connsiteY4-10" fmla="*/ 923881 h 923881"/>
                <a:gd name="connsiteX5-11" fmla="*/ 378041 w 549511"/>
                <a:gd name="connsiteY5-12" fmla="*/ 850871 h 923881"/>
                <a:gd name="connsiteX6-13" fmla="*/ 14287 w 549511"/>
                <a:gd name="connsiteY6-14" fmla="*/ 850871 h 923881"/>
                <a:gd name="connsiteX7-15" fmla="*/ 0 w 549511"/>
                <a:gd name="connsiteY7-16" fmla="*/ 0 h 923881"/>
                <a:gd name="connsiteX0-17" fmla="*/ 0 w 549511"/>
                <a:gd name="connsiteY0-18" fmla="*/ 0 h 1541433"/>
                <a:gd name="connsiteX1-19" fmla="*/ 378041 w 549511"/>
                <a:gd name="connsiteY1-20" fmla="*/ 704850 h 1541433"/>
                <a:gd name="connsiteX2-21" fmla="*/ 378041 w 549511"/>
                <a:gd name="connsiteY2-22" fmla="*/ 631839 h 1541433"/>
                <a:gd name="connsiteX3-23" fmla="*/ 549511 w 549511"/>
                <a:gd name="connsiteY3-24" fmla="*/ 777860 h 1541433"/>
                <a:gd name="connsiteX4-25" fmla="*/ 378041 w 549511"/>
                <a:gd name="connsiteY4-26" fmla="*/ 923881 h 1541433"/>
                <a:gd name="connsiteX5-27" fmla="*/ 378041 w 549511"/>
                <a:gd name="connsiteY5-28" fmla="*/ 850871 h 1541433"/>
                <a:gd name="connsiteX6-29" fmla="*/ 19050 w 549511"/>
                <a:gd name="connsiteY6-30" fmla="*/ 1541433 h 1541433"/>
                <a:gd name="connsiteX7-31" fmla="*/ 0 w 549511"/>
                <a:gd name="connsiteY7-32" fmla="*/ 0 h 1541433"/>
                <a:gd name="connsiteX0-33" fmla="*/ 0 w 549511"/>
                <a:gd name="connsiteY0-34" fmla="*/ 0 h 1541433"/>
                <a:gd name="connsiteX1-35" fmla="*/ 244159 w 549511"/>
                <a:gd name="connsiteY1-36" fmla="*/ 636994 h 1541433"/>
                <a:gd name="connsiteX2-37" fmla="*/ 378041 w 549511"/>
                <a:gd name="connsiteY2-38" fmla="*/ 704850 h 1541433"/>
                <a:gd name="connsiteX3-39" fmla="*/ 378041 w 549511"/>
                <a:gd name="connsiteY3-40" fmla="*/ 631839 h 1541433"/>
                <a:gd name="connsiteX4-41" fmla="*/ 549511 w 549511"/>
                <a:gd name="connsiteY4-42" fmla="*/ 777860 h 1541433"/>
                <a:gd name="connsiteX5-43" fmla="*/ 378041 w 549511"/>
                <a:gd name="connsiteY5-44" fmla="*/ 923881 h 1541433"/>
                <a:gd name="connsiteX6-45" fmla="*/ 378041 w 549511"/>
                <a:gd name="connsiteY6-46" fmla="*/ 850871 h 1541433"/>
                <a:gd name="connsiteX7-47" fmla="*/ 19050 w 549511"/>
                <a:gd name="connsiteY7-48" fmla="*/ 1541433 h 1541433"/>
                <a:gd name="connsiteX8" fmla="*/ 0 w 549511"/>
                <a:gd name="connsiteY8" fmla="*/ 0 h 1541433"/>
                <a:gd name="connsiteX0-49" fmla="*/ 0 w 549511"/>
                <a:gd name="connsiteY0-50" fmla="*/ 0 h 1541433"/>
                <a:gd name="connsiteX1-51" fmla="*/ 267971 w 549511"/>
                <a:gd name="connsiteY1-52" fmla="*/ 625088 h 1541433"/>
                <a:gd name="connsiteX2-53" fmla="*/ 378041 w 549511"/>
                <a:gd name="connsiteY2-54" fmla="*/ 704850 h 1541433"/>
                <a:gd name="connsiteX3-55" fmla="*/ 378041 w 549511"/>
                <a:gd name="connsiteY3-56" fmla="*/ 631839 h 1541433"/>
                <a:gd name="connsiteX4-57" fmla="*/ 549511 w 549511"/>
                <a:gd name="connsiteY4-58" fmla="*/ 777860 h 1541433"/>
                <a:gd name="connsiteX5-59" fmla="*/ 378041 w 549511"/>
                <a:gd name="connsiteY5-60" fmla="*/ 923881 h 1541433"/>
                <a:gd name="connsiteX6-61" fmla="*/ 378041 w 549511"/>
                <a:gd name="connsiteY6-62" fmla="*/ 850871 h 1541433"/>
                <a:gd name="connsiteX7-63" fmla="*/ 19050 w 549511"/>
                <a:gd name="connsiteY7-64" fmla="*/ 1541433 h 1541433"/>
                <a:gd name="connsiteX8-65" fmla="*/ 0 w 549511"/>
                <a:gd name="connsiteY8-66" fmla="*/ 0 h 1541433"/>
                <a:gd name="connsiteX0-67" fmla="*/ 0 w 549511"/>
                <a:gd name="connsiteY0-68" fmla="*/ 0 h 1541433"/>
                <a:gd name="connsiteX1-69" fmla="*/ 267971 w 549511"/>
                <a:gd name="connsiteY1-70" fmla="*/ 625088 h 1541433"/>
                <a:gd name="connsiteX2-71" fmla="*/ 378041 w 549511"/>
                <a:gd name="connsiteY2-72" fmla="*/ 704850 h 1541433"/>
                <a:gd name="connsiteX3-73" fmla="*/ 378041 w 549511"/>
                <a:gd name="connsiteY3-74" fmla="*/ 631839 h 1541433"/>
                <a:gd name="connsiteX4-75" fmla="*/ 549511 w 549511"/>
                <a:gd name="connsiteY4-76" fmla="*/ 777860 h 1541433"/>
                <a:gd name="connsiteX5-77" fmla="*/ 378041 w 549511"/>
                <a:gd name="connsiteY5-78" fmla="*/ 923881 h 1541433"/>
                <a:gd name="connsiteX6-79" fmla="*/ 378041 w 549511"/>
                <a:gd name="connsiteY6-80" fmla="*/ 850871 h 1541433"/>
                <a:gd name="connsiteX7-81" fmla="*/ 19050 w 549511"/>
                <a:gd name="connsiteY7-82" fmla="*/ 1541433 h 1541433"/>
                <a:gd name="connsiteX8-83" fmla="*/ 0 w 549511"/>
                <a:gd name="connsiteY8-84" fmla="*/ 0 h 1541433"/>
                <a:gd name="connsiteX0-85" fmla="*/ 0 w 549511"/>
                <a:gd name="connsiteY0-86" fmla="*/ 0 h 1541433"/>
                <a:gd name="connsiteX1-87" fmla="*/ 267971 w 549511"/>
                <a:gd name="connsiteY1-88" fmla="*/ 625088 h 1541433"/>
                <a:gd name="connsiteX2-89" fmla="*/ 378041 w 549511"/>
                <a:gd name="connsiteY2-90" fmla="*/ 704850 h 1541433"/>
                <a:gd name="connsiteX3-91" fmla="*/ 378041 w 549511"/>
                <a:gd name="connsiteY3-92" fmla="*/ 631839 h 1541433"/>
                <a:gd name="connsiteX4-93" fmla="*/ 549511 w 549511"/>
                <a:gd name="connsiteY4-94" fmla="*/ 777860 h 1541433"/>
                <a:gd name="connsiteX5-95" fmla="*/ 378041 w 549511"/>
                <a:gd name="connsiteY5-96" fmla="*/ 923881 h 1541433"/>
                <a:gd name="connsiteX6-97" fmla="*/ 378041 w 549511"/>
                <a:gd name="connsiteY6-98" fmla="*/ 850871 h 1541433"/>
                <a:gd name="connsiteX7-99" fmla="*/ 253684 w 549511"/>
                <a:gd name="connsiteY7-100" fmla="*/ 920363 h 1541433"/>
                <a:gd name="connsiteX8-101" fmla="*/ 19050 w 549511"/>
                <a:gd name="connsiteY8-102" fmla="*/ 1541433 h 1541433"/>
                <a:gd name="connsiteX9" fmla="*/ 0 w 549511"/>
                <a:gd name="connsiteY9" fmla="*/ 0 h 1541433"/>
                <a:gd name="connsiteX0-103" fmla="*/ 0 w 549511"/>
                <a:gd name="connsiteY0-104" fmla="*/ 0 h 1541433"/>
                <a:gd name="connsiteX1-105" fmla="*/ 267971 w 549511"/>
                <a:gd name="connsiteY1-106" fmla="*/ 625088 h 1541433"/>
                <a:gd name="connsiteX2-107" fmla="*/ 378041 w 549511"/>
                <a:gd name="connsiteY2-108" fmla="*/ 704850 h 1541433"/>
                <a:gd name="connsiteX3-109" fmla="*/ 378041 w 549511"/>
                <a:gd name="connsiteY3-110" fmla="*/ 631839 h 1541433"/>
                <a:gd name="connsiteX4-111" fmla="*/ 549511 w 549511"/>
                <a:gd name="connsiteY4-112" fmla="*/ 777860 h 1541433"/>
                <a:gd name="connsiteX5-113" fmla="*/ 378041 w 549511"/>
                <a:gd name="connsiteY5-114" fmla="*/ 923881 h 1541433"/>
                <a:gd name="connsiteX6-115" fmla="*/ 378041 w 549511"/>
                <a:gd name="connsiteY6-116" fmla="*/ 850871 h 1541433"/>
                <a:gd name="connsiteX7-117" fmla="*/ 253684 w 549511"/>
                <a:gd name="connsiteY7-118" fmla="*/ 920363 h 1541433"/>
                <a:gd name="connsiteX8-119" fmla="*/ 19050 w 549511"/>
                <a:gd name="connsiteY8-120" fmla="*/ 1541433 h 1541433"/>
                <a:gd name="connsiteX9-121" fmla="*/ 0 w 549511"/>
                <a:gd name="connsiteY9-122" fmla="*/ 0 h 1541433"/>
                <a:gd name="connsiteX0-123" fmla="*/ 0 w 549511"/>
                <a:gd name="connsiteY0-124" fmla="*/ 0 h 1541433"/>
                <a:gd name="connsiteX1-125" fmla="*/ 267971 w 549511"/>
                <a:gd name="connsiteY1-126" fmla="*/ 625088 h 1541433"/>
                <a:gd name="connsiteX2-127" fmla="*/ 378041 w 549511"/>
                <a:gd name="connsiteY2-128" fmla="*/ 704850 h 1541433"/>
                <a:gd name="connsiteX3-129" fmla="*/ 378041 w 549511"/>
                <a:gd name="connsiteY3-130" fmla="*/ 631839 h 1541433"/>
                <a:gd name="connsiteX4-131" fmla="*/ 549511 w 549511"/>
                <a:gd name="connsiteY4-132" fmla="*/ 777860 h 1541433"/>
                <a:gd name="connsiteX5-133" fmla="*/ 378041 w 549511"/>
                <a:gd name="connsiteY5-134" fmla="*/ 923881 h 1541433"/>
                <a:gd name="connsiteX6-135" fmla="*/ 378041 w 549511"/>
                <a:gd name="connsiteY6-136" fmla="*/ 850871 h 1541433"/>
                <a:gd name="connsiteX7-137" fmla="*/ 253684 w 549511"/>
                <a:gd name="connsiteY7-138" fmla="*/ 920363 h 1541433"/>
                <a:gd name="connsiteX8-139" fmla="*/ 19050 w 549511"/>
                <a:gd name="connsiteY8-140" fmla="*/ 1541433 h 1541433"/>
                <a:gd name="connsiteX9-141" fmla="*/ 0 w 549511"/>
                <a:gd name="connsiteY9-142" fmla="*/ 0 h 1541433"/>
                <a:gd name="connsiteX0-143" fmla="*/ 0 w 549511"/>
                <a:gd name="connsiteY0-144" fmla="*/ 0 h 1541433"/>
                <a:gd name="connsiteX1-145" fmla="*/ 267971 w 549511"/>
                <a:gd name="connsiteY1-146" fmla="*/ 625088 h 1541433"/>
                <a:gd name="connsiteX2-147" fmla="*/ 378041 w 549511"/>
                <a:gd name="connsiteY2-148" fmla="*/ 704850 h 1541433"/>
                <a:gd name="connsiteX3-149" fmla="*/ 378041 w 549511"/>
                <a:gd name="connsiteY3-150" fmla="*/ 631839 h 1541433"/>
                <a:gd name="connsiteX4-151" fmla="*/ 549511 w 549511"/>
                <a:gd name="connsiteY4-152" fmla="*/ 777860 h 1541433"/>
                <a:gd name="connsiteX5-153" fmla="*/ 378041 w 549511"/>
                <a:gd name="connsiteY5-154" fmla="*/ 923881 h 1541433"/>
                <a:gd name="connsiteX6-155" fmla="*/ 378041 w 549511"/>
                <a:gd name="connsiteY6-156" fmla="*/ 850871 h 1541433"/>
                <a:gd name="connsiteX7-157" fmla="*/ 253684 w 549511"/>
                <a:gd name="connsiteY7-158" fmla="*/ 920363 h 1541433"/>
                <a:gd name="connsiteX8-159" fmla="*/ 19050 w 549511"/>
                <a:gd name="connsiteY8-160" fmla="*/ 1541433 h 1541433"/>
                <a:gd name="connsiteX9-161" fmla="*/ 0 w 549511"/>
                <a:gd name="connsiteY9-162" fmla="*/ 0 h 1541433"/>
                <a:gd name="connsiteX0-163" fmla="*/ 0 w 549511"/>
                <a:gd name="connsiteY0-164" fmla="*/ 0 h 1541433"/>
                <a:gd name="connsiteX1-165" fmla="*/ 267971 w 549511"/>
                <a:gd name="connsiteY1-166" fmla="*/ 625088 h 1541433"/>
                <a:gd name="connsiteX2-167" fmla="*/ 378041 w 549511"/>
                <a:gd name="connsiteY2-168" fmla="*/ 704850 h 1541433"/>
                <a:gd name="connsiteX3-169" fmla="*/ 378041 w 549511"/>
                <a:gd name="connsiteY3-170" fmla="*/ 631839 h 1541433"/>
                <a:gd name="connsiteX4-171" fmla="*/ 549511 w 549511"/>
                <a:gd name="connsiteY4-172" fmla="*/ 777860 h 1541433"/>
                <a:gd name="connsiteX5-173" fmla="*/ 378041 w 549511"/>
                <a:gd name="connsiteY5-174" fmla="*/ 923881 h 1541433"/>
                <a:gd name="connsiteX6-175" fmla="*/ 378041 w 549511"/>
                <a:gd name="connsiteY6-176" fmla="*/ 850871 h 1541433"/>
                <a:gd name="connsiteX7-177" fmla="*/ 253684 w 549511"/>
                <a:gd name="connsiteY7-178" fmla="*/ 920363 h 1541433"/>
                <a:gd name="connsiteX8-179" fmla="*/ 19050 w 549511"/>
                <a:gd name="connsiteY8-180" fmla="*/ 1541433 h 1541433"/>
                <a:gd name="connsiteX9-181" fmla="*/ 0 w 549511"/>
                <a:gd name="connsiteY9-182" fmla="*/ 0 h 1541433"/>
                <a:gd name="connsiteX0-183" fmla="*/ 0 w 549511"/>
                <a:gd name="connsiteY0-184" fmla="*/ 0 h 1541433"/>
                <a:gd name="connsiteX1-185" fmla="*/ 267971 w 549511"/>
                <a:gd name="connsiteY1-186" fmla="*/ 625088 h 1541433"/>
                <a:gd name="connsiteX2-187" fmla="*/ 378041 w 549511"/>
                <a:gd name="connsiteY2-188" fmla="*/ 704850 h 1541433"/>
                <a:gd name="connsiteX3-189" fmla="*/ 378041 w 549511"/>
                <a:gd name="connsiteY3-190" fmla="*/ 631839 h 1541433"/>
                <a:gd name="connsiteX4-191" fmla="*/ 549511 w 549511"/>
                <a:gd name="connsiteY4-192" fmla="*/ 777860 h 1541433"/>
                <a:gd name="connsiteX5-193" fmla="*/ 378041 w 549511"/>
                <a:gd name="connsiteY5-194" fmla="*/ 923881 h 1541433"/>
                <a:gd name="connsiteX6-195" fmla="*/ 378041 w 549511"/>
                <a:gd name="connsiteY6-196" fmla="*/ 850871 h 1541433"/>
                <a:gd name="connsiteX7-197" fmla="*/ 241778 w 549511"/>
                <a:gd name="connsiteY7-198" fmla="*/ 958463 h 1541433"/>
                <a:gd name="connsiteX8-199" fmla="*/ 19050 w 549511"/>
                <a:gd name="connsiteY8-200" fmla="*/ 1541433 h 1541433"/>
                <a:gd name="connsiteX9-201" fmla="*/ 0 w 549511"/>
                <a:gd name="connsiteY9-202" fmla="*/ 0 h 1541433"/>
                <a:gd name="connsiteX0-203" fmla="*/ 0 w 549511"/>
                <a:gd name="connsiteY0-204" fmla="*/ 0 h 1541433"/>
                <a:gd name="connsiteX1-205" fmla="*/ 267971 w 549511"/>
                <a:gd name="connsiteY1-206" fmla="*/ 625088 h 1541433"/>
                <a:gd name="connsiteX2-207" fmla="*/ 378041 w 549511"/>
                <a:gd name="connsiteY2-208" fmla="*/ 704850 h 1541433"/>
                <a:gd name="connsiteX3-209" fmla="*/ 378041 w 549511"/>
                <a:gd name="connsiteY3-210" fmla="*/ 631839 h 1541433"/>
                <a:gd name="connsiteX4-211" fmla="*/ 549511 w 549511"/>
                <a:gd name="connsiteY4-212" fmla="*/ 777860 h 1541433"/>
                <a:gd name="connsiteX5-213" fmla="*/ 378041 w 549511"/>
                <a:gd name="connsiteY5-214" fmla="*/ 923881 h 1541433"/>
                <a:gd name="connsiteX6-215" fmla="*/ 378041 w 549511"/>
                <a:gd name="connsiteY6-216" fmla="*/ 850871 h 1541433"/>
                <a:gd name="connsiteX7-217" fmla="*/ 241778 w 549511"/>
                <a:gd name="connsiteY7-218" fmla="*/ 958463 h 1541433"/>
                <a:gd name="connsiteX8-219" fmla="*/ 19050 w 549511"/>
                <a:gd name="connsiteY8-220" fmla="*/ 1541433 h 1541433"/>
                <a:gd name="connsiteX9-221" fmla="*/ 0 w 549511"/>
                <a:gd name="connsiteY9-222" fmla="*/ 0 h 1541433"/>
                <a:gd name="connsiteX0-223" fmla="*/ 0 w 549511"/>
                <a:gd name="connsiteY0-224" fmla="*/ 0 h 1541433"/>
                <a:gd name="connsiteX1-225" fmla="*/ 267971 w 549511"/>
                <a:gd name="connsiteY1-226" fmla="*/ 625088 h 1541433"/>
                <a:gd name="connsiteX2-227" fmla="*/ 378041 w 549511"/>
                <a:gd name="connsiteY2-228" fmla="*/ 704850 h 1541433"/>
                <a:gd name="connsiteX3-229" fmla="*/ 378041 w 549511"/>
                <a:gd name="connsiteY3-230" fmla="*/ 631839 h 1541433"/>
                <a:gd name="connsiteX4-231" fmla="*/ 549511 w 549511"/>
                <a:gd name="connsiteY4-232" fmla="*/ 777860 h 1541433"/>
                <a:gd name="connsiteX5-233" fmla="*/ 378041 w 549511"/>
                <a:gd name="connsiteY5-234" fmla="*/ 923881 h 1541433"/>
                <a:gd name="connsiteX6-235" fmla="*/ 378041 w 549511"/>
                <a:gd name="connsiteY6-236" fmla="*/ 850871 h 1541433"/>
                <a:gd name="connsiteX7-237" fmla="*/ 287021 w 549511"/>
                <a:gd name="connsiteY7-238" fmla="*/ 917981 h 1541433"/>
                <a:gd name="connsiteX8-239" fmla="*/ 19050 w 549511"/>
                <a:gd name="connsiteY8-240" fmla="*/ 1541433 h 1541433"/>
                <a:gd name="connsiteX9-241" fmla="*/ 0 w 549511"/>
                <a:gd name="connsiteY9-242" fmla="*/ 0 h 1541433"/>
                <a:gd name="connsiteX0-243" fmla="*/ 0 w 549511"/>
                <a:gd name="connsiteY0-244" fmla="*/ 0 h 1541433"/>
                <a:gd name="connsiteX1-245" fmla="*/ 267971 w 549511"/>
                <a:gd name="connsiteY1-246" fmla="*/ 625088 h 1541433"/>
                <a:gd name="connsiteX2-247" fmla="*/ 378041 w 549511"/>
                <a:gd name="connsiteY2-248" fmla="*/ 704850 h 1541433"/>
                <a:gd name="connsiteX3-249" fmla="*/ 378041 w 549511"/>
                <a:gd name="connsiteY3-250" fmla="*/ 631839 h 1541433"/>
                <a:gd name="connsiteX4-251" fmla="*/ 549511 w 549511"/>
                <a:gd name="connsiteY4-252" fmla="*/ 777860 h 1541433"/>
                <a:gd name="connsiteX5-253" fmla="*/ 378041 w 549511"/>
                <a:gd name="connsiteY5-254" fmla="*/ 923881 h 1541433"/>
                <a:gd name="connsiteX6-255" fmla="*/ 378041 w 549511"/>
                <a:gd name="connsiteY6-256" fmla="*/ 850871 h 1541433"/>
                <a:gd name="connsiteX7-257" fmla="*/ 287021 w 549511"/>
                <a:gd name="connsiteY7-258" fmla="*/ 917981 h 1541433"/>
                <a:gd name="connsiteX8-259" fmla="*/ 19050 w 549511"/>
                <a:gd name="connsiteY8-260" fmla="*/ 1541433 h 1541433"/>
                <a:gd name="connsiteX9-261" fmla="*/ 0 w 549511"/>
                <a:gd name="connsiteY9-262" fmla="*/ 0 h 1541433"/>
                <a:gd name="connsiteX0-263" fmla="*/ 0 w 549511"/>
                <a:gd name="connsiteY0-264" fmla="*/ 0 h 1541433"/>
                <a:gd name="connsiteX1-265" fmla="*/ 267971 w 549511"/>
                <a:gd name="connsiteY1-266" fmla="*/ 625088 h 1541433"/>
                <a:gd name="connsiteX2-267" fmla="*/ 378041 w 549511"/>
                <a:gd name="connsiteY2-268" fmla="*/ 704850 h 1541433"/>
                <a:gd name="connsiteX3-269" fmla="*/ 378041 w 549511"/>
                <a:gd name="connsiteY3-270" fmla="*/ 631839 h 1541433"/>
                <a:gd name="connsiteX4-271" fmla="*/ 549511 w 549511"/>
                <a:gd name="connsiteY4-272" fmla="*/ 777860 h 1541433"/>
                <a:gd name="connsiteX5-273" fmla="*/ 378041 w 549511"/>
                <a:gd name="connsiteY5-274" fmla="*/ 923881 h 1541433"/>
                <a:gd name="connsiteX6-275" fmla="*/ 378041 w 549511"/>
                <a:gd name="connsiteY6-276" fmla="*/ 850871 h 1541433"/>
                <a:gd name="connsiteX7-277" fmla="*/ 287021 w 549511"/>
                <a:gd name="connsiteY7-278" fmla="*/ 917981 h 1541433"/>
                <a:gd name="connsiteX8-279" fmla="*/ 19050 w 549511"/>
                <a:gd name="connsiteY8-280" fmla="*/ 1541433 h 1541433"/>
                <a:gd name="connsiteX9-281" fmla="*/ 0 w 549511"/>
                <a:gd name="connsiteY9-282" fmla="*/ 0 h 1541433"/>
                <a:gd name="connsiteX0-283" fmla="*/ 0 w 549511"/>
                <a:gd name="connsiteY0-284" fmla="*/ 0 h 1541433"/>
                <a:gd name="connsiteX1-285" fmla="*/ 303689 w 549511"/>
                <a:gd name="connsiteY1-286" fmla="*/ 658426 h 1541433"/>
                <a:gd name="connsiteX2-287" fmla="*/ 378041 w 549511"/>
                <a:gd name="connsiteY2-288" fmla="*/ 704850 h 1541433"/>
                <a:gd name="connsiteX3-289" fmla="*/ 378041 w 549511"/>
                <a:gd name="connsiteY3-290" fmla="*/ 631839 h 1541433"/>
                <a:gd name="connsiteX4-291" fmla="*/ 549511 w 549511"/>
                <a:gd name="connsiteY4-292" fmla="*/ 777860 h 1541433"/>
                <a:gd name="connsiteX5-293" fmla="*/ 378041 w 549511"/>
                <a:gd name="connsiteY5-294" fmla="*/ 923881 h 1541433"/>
                <a:gd name="connsiteX6-295" fmla="*/ 378041 w 549511"/>
                <a:gd name="connsiteY6-296" fmla="*/ 850871 h 1541433"/>
                <a:gd name="connsiteX7-297" fmla="*/ 287021 w 549511"/>
                <a:gd name="connsiteY7-298" fmla="*/ 917981 h 1541433"/>
                <a:gd name="connsiteX8-299" fmla="*/ 19050 w 549511"/>
                <a:gd name="connsiteY8-300" fmla="*/ 1541433 h 1541433"/>
                <a:gd name="connsiteX9-301" fmla="*/ 0 w 549511"/>
                <a:gd name="connsiteY9-302" fmla="*/ 0 h 1541433"/>
                <a:gd name="connsiteX0-303" fmla="*/ 0 w 549511"/>
                <a:gd name="connsiteY0-304" fmla="*/ 0 h 1541433"/>
                <a:gd name="connsiteX1-305" fmla="*/ 303689 w 549511"/>
                <a:gd name="connsiteY1-306" fmla="*/ 658426 h 1541433"/>
                <a:gd name="connsiteX2-307" fmla="*/ 378041 w 549511"/>
                <a:gd name="connsiteY2-308" fmla="*/ 704850 h 1541433"/>
                <a:gd name="connsiteX3-309" fmla="*/ 378041 w 549511"/>
                <a:gd name="connsiteY3-310" fmla="*/ 631839 h 1541433"/>
                <a:gd name="connsiteX4-311" fmla="*/ 549511 w 549511"/>
                <a:gd name="connsiteY4-312" fmla="*/ 777860 h 1541433"/>
                <a:gd name="connsiteX5-313" fmla="*/ 378041 w 549511"/>
                <a:gd name="connsiteY5-314" fmla="*/ 923881 h 1541433"/>
                <a:gd name="connsiteX6-315" fmla="*/ 378041 w 549511"/>
                <a:gd name="connsiteY6-316" fmla="*/ 850871 h 1541433"/>
                <a:gd name="connsiteX7-317" fmla="*/ 287021 w 549511"/>
                <a:gd name="connsiteY7-318" fmla="*/ 917981 h 1541433"/>
                <a:gd name="connsiteX8-319" fmla="*/ 19050 w 549511"/>
                <a:gd name="connsiteY8-320" fmla="*/ 1541433 h 1541433"/>
                <a:gd name="connsiteX9-321" fmla="*/ 0 w 549511"/>
                <a:gd name="connsiteY9-322" fmla="*/ 0 h 1541433"/>
                <a:gd name="connsiteX0-323" fmla="*/ 0 w 549511"/>
                <a:gd name="connsiteY0-324" fmla="*/ 0 h 1541433"/>
                <a:gd name="connsiteX1-325" fmla="*/ 303689 w 549511"/>
                <a:gd name="connsiteY1-326" fmla="*/ 658426 h 1541433"/>
                <a:gd name="connsiteX2-327" fmla="*/ 378041 w 549511"/>
                <a:gd name="connsiteY2-328" fmla="*/ 704850 h 1541433"/>
                <a:gd name="connsiteX3-329" fmla="*/ 378041 w 549511"/>
                <a:gd name="connsiteY3-330" fmla="*/ 631839 h 1541433"/>
                <a:gd name="connsiteX4-331" fmla="*/ 549511 w 549511"/>
                <a:gd name="connsiteY4-332" fmla="*/ 777860 h 1541433"/>
                <a:gd name="connsiteX5-333" fmla="*/ 378041 w 549511"/>
                <a:gd name="connsiteY5-334" fmla="*/ 923881 h 1541433"/>
                <a:gd name="connsiteX6-335" fmla="*/ 378041 w 549511"/>
                <a:gd name="connsiteY6-336" fmla="*/ 850871 h 1541433"/>
                <a:gd name="connsiteX7-337" fmla="*/ 246542 w 549511"/>
                <a:gd name="connsiteY7-338" fmla="*/ 972243 h 1541433"/>
                <a:gd name="connsiteX8-339" fmla="*/ 19050 w 549511"/>
                <a:gd name="connsiteY8-340" fmla="*/ 1541433 h 1541433"/>
                <a:gd name="connsiteX9-341" fmla="*/ 0 w 549511"/>
                <a:gd name="connsiteY9-342" fmla="*/ 0 h 1541433"/>
                <a:gd name="connsiteX0-343" fmla="*/ 0 w 549511"/>
                <a:gd name="connsiteY0-344" fmla="*/ 0 h 1541433"/>
                <a:gd name="connsiteX1-345" fmla="*/ 303689 w 549511"/>
                <a:gd name="connsiteY1-346" fmla="*/ 658426 h 1541433"/>
                <a:gd name="connsiteX2-347" fmla="*/ 378041 w 549511"/>
                <a:gd name="connsiteY2-348" fmla="*/ 704850 h 1541433"/>
                <a:gd name="connsiteX3-349" fmla="*/ 378041 w 549511"/>
                <a:gd name="connsiteY3-350" fmla="*/ 631839 h 1541433"/>
                <a:gd name="connsiteX4-351" fmla="*/ 549511 w 549511"/>
                <a:gd name="connsiteY4-352" fmla="*/ 777860 h 1541433"/>
                <a:gd name="connsiteX5-353" fmla="*/ 378041 w 549511"/>
                <a:gd name="connsiteY5-354" fmla="*/ 923881 h 1541433"/>
                <a:gd name="connsiteX6-355" fmla="*/ 378041 w 549511"/>
                <a:gd name="connsiteY6-356" fmla="*/ 850871 h 1541433"/>
                <a:gd name="connsiteX7-357" fmla="*/ 246542 w 549511"/>
                <a:gd name="connsiteY7-358" fmla="*/ 972243 h 1541433"/>
                <a:gd name="connsiteX8-359" fmla="*/ 19050 w 549511"/>
                <a:gd name="connsiteY8-360" fmla="*/ 1541433 h 1541433"/>
                <a:gd name="connsiteX9-361" fmla="*/ 0 w 549511"/>
                <a:gd name="connsiteY9-362" fmla="*/ 0 h 1541433"/>
                <a:gd name="connsiteX0-363" fmla="*/ 0 w 549511"/>
                <a:gd name="connsiteY0-364" fmla="*/ 0 h 1541433"/>
                <a:gd name="connsiteX1-365" fmla="*/ 303689 w 549511"/>
                <a:gd name="connsiteY1-366" fmla="*/ 658426 h 1541433"/>
                <a:gd name="connsiteX2-367" fmla="*/ 378041 w 549511"/>
                <a:gd name="connsiteY2-368" fmla="*/ 704850 h 1541433"/>
                <a:gd name="connsiteX3-369" fmla="*/ 378041 w 549511"/>
                <a:gd name="connsiteY3-370" fmla="*/ 631839 h 1541433"/>
                <a:gd name="connsiteX4-371" fmla="*/ 549511 w 549511"/>
                <a:gd name="connsiteY4-372" fmla="*/ 777860 h 1541433"/>
                <a:gd name="connsiteX5-373" fmla="*/ 378041 w 549511"/>
                <a:gd name="connsiteY5-374" fmla="*/ 923881 h 1541433"/>
                <a:gd name="connsiteX6-375" fmla="*/ 378041 w 549511"/>
                <a:gd name="connsiteY6-376" fmla="*/ 850871 h 1541433"/>
                <a:gd name="connsiteX7-377" fmla="*/ 246542 w 549511"/>
                <a:gd name="connsiteY7-378" fmla="*/ 972243 h 1541433"/>
                <a:gd name="connsiteX8-379" fmla="*/ 19050 w 549511"/>
                <a:gd name="connsiteY8-380" fmla="*/ 1541433 h 1541433"/>
                <a:gd name="connsiteX9-381" fmla="*/ 0 w 549511"/>
                <a:gd name="connsiteY9-382" fmla="*/ 0 h 1541433"/>
                <a:gd name="connsiteX0-383" fmla="*/ 0 w 549511"/>
                <a:gd name="connsiteY0-384" fmla="*/ 0 h 1541433"/>
                <a:gd name="connsiteX1-385" fmla="*/ 303689 w 549511"/>
                <a:gd name="connsiteY1-386" fmla="*/ 658426 h 1541433"/>
                <a:gd name="connsiteX2-387" fmla="*/ 378041 w 549511"/>
                <a:gd name="connsiteY2-388" fmla="*/ 704850 h 1541433"/>
                <a:gd name="connsiteX3-389" fmla="*/ 378041 w 549511"/>
                <a:gd name="connsiteY3-390" fmla="*/ 631839 h 1541433"/>
                <a:gd name="connsiteX4-391" fmla="*/ 549511 w 549511"/>
                <a:gd name="connsiteY4-392" fmla="*/ 777860 h 1541433"/>
                <a:gd name="connsiteX5-393" fmla="*/ 378041 w 549511"/>
                <a:gd name="connsiteY5-394" fmla="*/ 923881 h 1541433"/>
                <a:gd name="connsiteX6-395" fmla="*/ 378041 w 549511"/>
                <a:gd name="connsiteY6-396" fmla="*/ 850871 h 1541433"/>
                <a:gd name="connsiteX7-397" fmla="*/ 246542 w 549511"/>
                <a:gd name="connsiteY7-398" fmla="*/ 972243 h 1541433"/>
                <a:gd name="connsiteX8-399" fmla="*/ 19050 w 549511"/>
                <a:gd name="connsiteY8-400" fmla="*/ 1541433 h 1541433"/>
                <a:gd name="connsiteX9-401" fmla="*/ 0 w 549511"/>
                <a:gd name="connsiteY9-402" fmla="*/ 0 h 1541433"/>
                <a:gd name="connsiteX0-403" fmla="*/ 0 w 549511"/>
                <a:gd name="connsiteY0-404" fmla="*/ 0 h 1541433"/>
                <a:gd name="connsiteX1-405" fmla="*/ 303689 w 549511"/>
                <a:gd name="connsiteY1-406" fmla="*/ 658426 h 1541433"/>
                <a:gd name="connsiteX2-407" fmla="*/ 378041 w 549511"/>
                <a:gd name="connsiteY2-408" fmla="*/ 704850 h 1541433"/>
                <a:gd name="connsiteX3-409" fmla="*/ 378041 w 549511"/>
                <a:gd name="connsiteY3-410" fmla="*/ 631839 h 1541433"/>
                <a:gd name="connsiteX4-411" fmla="*/ 549511 w 549511"/>
                <a:gd name="connsiteY4-412" fmla="*/ 777860 h 1541433"/>
                <a:gd name="connsiteX5-413" fmla="*/ 378041 w 549511"/>
                <a:gd name="connsiteY5-414" fmla="*/ 923881 h 1541433"/>
                <a:gd name="connsiteX6-415" fmla="*/ 378041 w 549511"/>
                <a:gd name="connsiteY6-416" fmla="*/ 850871 h 1541433"/>
                <a:gd name="connsiteX7-417" fmla="*/ 249719 w 549511"/>
                <a:gd name="connsiteY7-418" fmla="*/ 982109 h 1541433"/>
                <a:gd name="connsiteX8-419" fmla="*/ 19050 w 549511"/>
                <a:gd name="connsiteY8-420" fmla="*/ 1541433 h 1541433"/>
                <a:gd name="connsiteX9-421" fmla="*/ 0 w 549511"/>
                <a:gd name="connsiteY9-422" fmla="*/ 0 h 1541433"/>
                <a:gd name="connsiteX0-423" fmla="*/ 0 w 549511"/>
                <a:gd name="connsiteY0-424" fmla="*/ 0 h 1541433"/>
                <a:gd name="connsiteX1-425" fmla="*/ 303689 w 549511"/>
                <a:gd name="connsiteY1-426" fmla="*/ 658426 h 1541433"/>
                <a:gd name="connsiteX2-427" fmla="*/ 378041 w 549511"/>
                <a:gd name="connsiteY2-428" fmla="*/ 704850 h 1541433"/>
                <a:gd name="connsiteX3-429" fmla="*/ 378041 w 549511"/>
                <a:gd name="connsiteY3-430" fmla="*/ 631839 h 1541433"/>
                <a:gd name="connsiteX4-431" fmla="*/ 549511 w 549511"/>
                <a:gd name="connsiteY4-432" fmla="*/ 777860 h 1541433"/>
                <a:gd name="connsiteX5-433" fmla="*/ 378041 w 549511"/>
                <a:gd name="connsiteY5-434" fmla="*/ 923881 h 1541433"/>
                <a:gd name="connsiteX6-435" fmla="*/ 378041 w 549511"/>
                <a:gd name="connsiteY6-436" fmla="*/ 850871 h 1541433"/>
                <a:gd name="connsiteX7-437" fmla="*/ 249719 w 549511"/>
                <a:gd name="connsiteY7-438" fmla="*/ 982109 h 1541433"/>
                <a:gd name="connsiteX8-439" fmla="*/ 19050 w 549511"/>
                <a:gd name="connsiteY8-440" fmla="*/ 1541433 h 1541433"/>
                <a:gd name="connsiteX9-441" fmla="*/ 0 w 549511"/>
                <a:gd name="connsiteY9-442" fmla="*/ 0 h 1541433"/>
                <a:gd name="connsiteX0-443" fmla="*/ 0 w 549511"/>
                <a:gd name="connsiteY0-444" fmla="*/ 0 h 1541433"/>
                <a:gd name="connsiteX1-445" fmla="*/ 303689 w 549511"/>
                <a:gd name="connsiteY1-446" fmla="*/ 658426 h 1541433"/>
                <a:gd name="connsiteX2-447" fmla="*/ 378041 w 549511"/>
                <a:gd name="connsiteY2-448" fmla="*/ 704850 h 1541433"/>
                <a:gd name="connsiteX3-449" fmla="*/ 378041 w 549511"/>
                <a:gd name="connsiteY3-450" fmla="*/ 631839 h 1541433"/>
                <a:gd name="connsiteX4-451" fmla="*/ 549511 w 549511"/>
                <a:gd name="connsiteY4-452" fmla="*/ 777860 h 1541433"/>
                <a:gd name="connsiteX5-453" fmla="*/ 378041 w 549511"/>
                <a:gd name="connsiteY5-454" fmla="*/ 923881 h 1541433"/>
                <a:gd name="connsiteX6-455" fmla="*/ 378041 w 549511"/>
                <a:gd name="connsiteY6-456" fmla="*/ 850871 h 1541433"/>
                <a:gd name="connsiteX7-457" fmla="*/ 249719 w 549511"/>
                <a:gd name="connsiteY7-458" fmla="*/ 982109 h 1541433"/>
                <a:gd name="connsiteX8-459" fmla="*/ 19050 w 549511"/>
                <a:gd name="connsiteY8-460" fmla="*/ 1541433 h 1541433"/>
                <a:gd name="connsiteX9-461" fmla="*/ 0 w 549511"/>
                <a:gd name="connsiteY9-462" fmla="*/ 0 h 1541433"/>
                <a:gd name="connsiteX0-463" fmla="*/ 0 w 549511"/>
                <a:gd name="connsiteY0-464" fmla="*/ 0 h 1541433"/>
                <a:gd name="connsiteX1-465" fmla="*/ 303689 w 549511"/>
                <a:gd name="connsiteY1-466" fmla="*/ 658426 h 1541433"/>
                <a:gd name="connsiteX2-467" fmla="*/ 378041 w 549511"/>
                <a:gd name="connsiteY2-468" fmla="*/ 704850 h 1541433"/>
                <a:gd name="connsiteX3-469" fmla="*/ 378041 w 549511"/>
                <a:gd name="connsiteY3-470" fmla="*/ 631839 h 1541433"/>
                <a:gd name="connsiteX4-471" fmla="*/ 549511 w 549511"/>
                <a:gd name="connsiteY4-472" fmla="*/ 777860 h 1541433"/>
                <a:gd name="connsiteX5-473" fmla="*/ 378041 w 549511"/>
                <a:gd name="connsiteY5-474" fmla="*/ 923881 h 1541433"/>
                <a:gd name="connsiteX6-475" fmla="*/ 378041 w 549511"/>
                <a:gd name="connsiteY6-476" fmla="*/ 850871 h 1541433"/>
                <a:gd name="connsiteX7-477" fmla="*/ 249719 w 549511"/>
                <a:gd name="connsiteY7-478" fmla="*/ 982109 h 1541433"/>
                <a:gd name="connsiteX8-479" fmla="*/ 19050 w 549511"/>
                <a:gd name="connsiteY8-480" fmla="*/ 1541433 h 1541433"/>
                <a:gd name="connsiteX9-481" fmla="*/ 0 w 549511"/>
                <a:gd name="connsiteY9-482" fmla="*/ 0 h 1541433"/>
                <a:gd name="connsiteX0-483" fmla="*/ 0 w 549511"/>
                <a:gd name="connsiteY0-484" fmla="*/ 0 h 1541433"/>
                <a:gd name="connsiteX1-485" fmla="*/ 262416 w 549511"/>
                <a:gd name="connsiteY1-486" fmla="*/ 614577 h 1541433"/>
                <a:gd name="connsiteX2-487" fmla="*/ 378041 w 549511"/>
                <a:gd name="connsiteY2-488" fmla="*/ 704850 h 1541433"/>
                <a:gd name="connsiteX3-489" fmla="*/ 378041 w 549511"/>
                <a:gd name="connsiteY3-490" fmla="*/ 631839 h 1541433"/>
                <a:gd name="connsiteX4-491" fmla="*/ 549511 w 549511"/>
                <a:gd name="connsiteY4-492" fmla="*/ 777860 h 1541433"/>
                <a:gd name="connsiteX5-493" fmla="*/ 378041 w 549511"/>
                <a:gd name="connsiteY5-494" fmla="*/ 923881 h 1541433"/>
                <a:gd name="connsiteX6-495" fmla="*/ 378041 w 549511"/>
                <a:gd name="connsiteY6-496" fmla="*/ 850871 h 1541433"/>
                <a:gd name="connsiteX7-497" fmla="*/ 249719 w 549511"/>
                <a:gd name="connsiteY7-498" fmla="*/ 982109 h 1541433"/>
                <a:gd name="connsiteX8-499" fmla="*/ 19050 w 549511"/>
                <a:gd name="connsiteY8-500" fmla="*/ 1541433 h 1541433"/>
                <a:gd name="connsiteX9-501" fmla="*/ 0 w 549511"/>
                <a:gd name="connsiteY9-502" fmla="*/ 0 h 1541433"/>
                <a:gd name="connsiteX0-503" fmla="*/ 0 w 549511"/>
                <a:gd name="connsiteY0-504" fmla="*/ 0 h 1541433"/>
                <a:gd name="connsiteX1-505" fmla="*/ 262416 w 549511"/>
                <a:gd name="connsiteY1-506" fmla="*/ 614577 h 1541433"/>
                <a:gd name="connsiteX2-507" fmla="*/ 378041 w 549511"/>
                <a:gd name="connsiteY2-508" fmla="*/ 704850 h 1541433"/>
                <a:gd name="connsiteX3-509" fmla="*/ 378041 w 549511"/>
                <a:gd name="connsiteY3-510" fmla="*/ 631839 h 1541433"/>
                <a:gd name="connsiteX4-511" fmla="*/ 549511 w 549511"/>
                <a:gd name="connsiteY4-512" fmla="*/ 777860 h 1541433"/>
                <a:gd name="connsiteX5-513" fmla="*/ 378041 w 549511"/>
                <a:gd name="connsiteY5-514" fmla="*/ 923881 h 1541433"/>
                <a:gd name="connsiteX6-515" fmla="*/ 437574 w 549511"/>
                <a:gd name="connsiteY6-516" fmla="*/ 846760 h 1541433"/>
                <a:gd name="connsiteX7-517" fmla="*/ 249719 w 549511"/>
                <a:gd name="connsiteY7-518" fmla="*/ 982109 h 1541433"/>
                <a:gd name="connsiteX8-519" fmla="*/ 19050 w 549511"/>
                <a:gd name="connsiteY8-520" fmla="*/ 1541433 h 1541433"/>
                <a:gd name="connsiteX9-521" fmla="*/ 0 w 549511"/>
                <a:gd name="connsiteY9-522" fmla="*/ 0 h 1541433"/>
                <a:gd name="connsiteX0-523" fmla="*/ 0 w 549511"/>
                <a:gd name="connsiteY0-524" fmla="*/ 0 h 1541433"/>
                <a:gd name="connsiteX1-525" fmla="*/ 262416 w 549511"/>
                <a:gd name="connsiteY1-526" fmla="*/ 614577 h 1541433"/>
                <a:gd name="connsiteX2-527" fmla="*/ 437574 w 549511"/>
                <a:gd name="connsiteY2-528" fmla="*/ 713894 h 1541433"/>
                <a:gd name="connsiteX3-529" fmla="*/ 378041 w 549511"/>
                <a:gd name="connsiteY3-530" fmla="*/ 631839 h 1541433"/>
                <a:gd name="connsiteX4-531" fmla="*/ 549511 w 549511"/>
                <a:gd name="connsiteY4-532" fmla="*/ 777860 h 1541433"/>
                <a:gd name="connsiteX5-533" fmla="*/ 378041 w 549511"/>
                <a:gd name="connsiteY5-534" fmla="*/ 923881 h 1541433"/>
                <a:gd name="connsiteX6-535" fmla="*/ 437574 w 549511"/>
                <a:gd name="connsiteY6-536" fmla="*/ 846760 h 1541433"/>
                <a:gd name="connsiteX7-537" fmla="*/ 249719 w 549511"/>
                <a:gd name="connsiteY7-538" fmla="*/ 982109 h 1541433"/>
                <a:gd name="connsiteX8-539" fmla="*/ 19050 w 549511"/>
                <a:gd name="connsiteY8-540" fmla="*/ 1541433 h 1541433"/>
                <a:gd name="connsiteX9-541" fmla="*/ 0 w 549511"/>
                <a:gd name="connsiteY9-542" fmla="*/ 0 h 15414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65" y="connsiteY8-66"/>
                </a:cxn>
                <a:cxn ang="0">
                  <a:pos x="connsiteX9-121" y="connsiteY9-122"/>
                </a:cxn>
              </a:cxnLst>
              <a:rect l="l" t="t" r="r" b="b"/>
              <a:pathLst>
                <a:path w="549511" h="1541433">
                  <a:moveTo>
                    <a:pt x="0" y="0"/>
                  </a:moveTo>
                  <a:cubicBezTo>
                    <a:pt x="108374" y="201219"/>
                    <a:pt x="165948" y="544327"/>
                    <a:pt x="262416" y="614577"/>
                  </a:cubicBezTo>
                  <a:cubicBezTo>
                    <a:pt x="394356" y="714983"/>
                    <a:pt x="400884" y="687307"/>
                    <a:pt x="437574" y="713894"/>
                  </a:cubicBezTo>
                  <a:lnTo>
                    <a:pt x="378041" y="631839"/>
                  </a:lnTo>
                  <a:lnTo>
                    <a:pt x="549511" y="777860"/>
                  </a:lnTo>
                  <a:lnTo>
                    <a:pt x="378041" y="923881"/>
                  </a:lnTo>
                  <a:lnTo>
                    <a:pt x="437574" y="846760"/>
                  </a:lnTo>
                  <a:cubicBezTo>
                    <a:pt x="415172" y="892149"/>
                    <a:pt x="297535" y="887263"/>
                    <a:pt x="249719" y="982109"/>
                  </a:cubicBezTo>
                  <a:lnTo>
                    <a:pt x="19050" y="154143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0000">
                  <a:srgbClr val="6A9BC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5" name="矩形 21"/>
            <p:cNvSpPr/>
            <p:nvPr/>
          </p:nvSpPr>
          <p:spPr>
            <a:xfrm>
              <a:off x="874" y="1326"/>
              <a:ext cx="7280" cy="8472"/>
            </a:xfrm>
            <a:prstGeom prst="rect">
              <a:avLst/>
            </a:prstGeom>
            <a:noFill/>
            <a:ln w="381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6" name="矩形 4"/>
            <p:cNvSpPr/>
            <p:nvPr/>
          </p:nvSpPr>
          <p:spPr>
            <a:xfrm>
              <a:off x="1146" y="2250"/>
              <a:ext cx="6774" cy="282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597" name="文本框 5"/>
            <p:cNvSpPr txBox="1"/>
            <p:nvPr/>
          </p:nvSpPr>
          <p:spPr>
            <a:xfrm>
              <a:off x="1415" y="2275"/>
              <a:ext cx="6641" cy="25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fontAlgn="auto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储能电池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运行基数大</a:t>
              </a:r>
              <a:r>
                <a:rPr lang="zh-CN" alt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，电池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早期热失控</a:t>
              </a:r>
              <a:r>
                <a:rPr lang="zh-CN" alt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风险及各类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故障检测困难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auto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现有储能电池检测技术无法做到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及时、快速检测</a:t>
              </a:r>
              <a:endPara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auto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8598" name="文本框 23"/>
          <p:cNvSpPr txBox="1"/>
          <p:nvPr/>
        </p:nvSpPr>
        <p:spPr>
          <a:xfrm>
            <a:off x="6812915" y="2008505"/>
            <a:ext cx="4651375" cy="124714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基于电化学阻抗谱方法，具有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精准、快速、实时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等优势的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集成小型化便携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储能电池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高精度快速检测系统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99" name="矩形 24"/>
          <p:cNvSpPr/>
          <p:nvPr/>
        </p:nvSpPr>
        <p:spPr>
          <a:xfrm>
            <a:off x="6578600" y="798830"/>
            <a:ext cx="5168900" cy="5718175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7" name="图片 20" descr="好主意创意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180" y="2898775"/>
            <a:ext cx="1050290" cy="1050290"/>
          </a:xfrm>
          <a:prstGeom prst="rect">
            <a:avLst/>
          </a:prstGeom>
        </p:spPr>
      </p:pic>
      <p:pic>
        <p:nvPicPr>
          <p:cNvPr id="2097158" name="图片 8" descr="问号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4905" y="2783840"/>
            <a:ext cx="1165225" cy="1165225"/>
          </a:xfrm>
          <a:prstGeom prst="rect">
            <a:avLst/>
          </a:prstGeom>
        </p:spPr>
      </p:pic>
      <p:sp>
        <p:nvSpPr>
          <p:cNvPr id="1048601" name="文本框 16"/>
          <p:cNvSpPr txBox="1"/>
          <p:nvPr/>
        </p:nvSpPr>
        <p:spPr>
          <a:xfrm>
            <a:off x="3431540" y="4123690"/>
            <a:ext cx="202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422400" rtl="0" eaLnBrk="1" fontAlgn="auto" latinLnBrk="0" hangingPunct="1"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新能源汽车爆燃</a:t>
            </a:r>
            <a:endParaRPr lang="zh-CN" altLang="en-US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02" name="文本框 28"/>
          <p:cNvSpPr txBox="1"/>
          <p:nvPr/>
        </p:nvSpPr>
        <p:spPr>
          <a:xfrm>
            <a:off x="990600" y="411924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422400" rtl="0" eaLnBrk="1" fontAlgn="auto" latinLnBrk="0" hangingPunct="1"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储能电站爆炸</a:t>
            </a:r>
            <a:endParaRPr lang="zh-CN" altLang="en-US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97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4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97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8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8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48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9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5" grpId="0" bldLvl="0" animBg="1"/>
      <p:bldP spid="1048585" grpId="1" animBg="1"/>
      <p:bldP spid="1048586" grpId="0" bldLvl="0" animBg="1"/>
      <p:bldP spid="1048586" grpId="1" animBg="1"/>
      <p:bldP spid="1048587" grpId="0" bldLvl="0" animBg="1"/>
      <p:bldP spid="1048590" grpId="0" bldLvl="0" animBg="1"/>
      <p:bldP spid="1048591" grpId="0" bldLvl="0" animBg="1"/>
      <p:bldP spid="1048592" grpId="0" bldLvl="0" animBg="1"/>
      <p:bldP spid="1048598" grpId="0" bldLvl="0" animBg="1"/>
      <p:bldP spid="1048599" grpId="0" bldLvl="0" animBg="1"/>
      <p:bldP spid="1048601" grpId="0"/>
      <p:bldP spid="1048601" grpId="1"/>
      <p:bldP spid="1048602" grpId="0"/>
      <p:bldP spid="104860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4"/>
          <a:stretch>
            <a:fillRect/>
          </a:stretch>
        </p:blipFill>
        <p:spPr bwMode="auto">
          <a:xfrm>
            <a:off x="8043768" y="3614237"/>
            <a:ext cx="3576774" cy="253816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: 圆顶角 6"/>
          <p:cNvSpPr/>
          <p:nvPr/>
        </p:nvSpPr>
        <p:spPr>
          <a:xfrm rot="5400000">
            <a:off x="1608653" y="2108176"/>
            <a:ext cx="2541476" cy="5758783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23000">
                <a:srgbClr val="F2FCFF"/>
              </a:gs>
              <a:gs pos="100000">
                <a:srgbClr val="FFFFFF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: 圆顶角 7"/>
          <p:cNvSpPr/>
          <p:nvPr/>
        </p:nvSpPr>
        <p:spPr>
          <a:xfrm rot="16200000">
            <a:off x="7684711" y="1750973"/>
            <a:ext cx="2541474" cy="6433217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9000">
                <a:srgbClr val="F2FCFF"/>
              </a:gs>
              <a:gs pos="100000">
                <a:srgbClr val="FFFFFF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8196" name="组合 1"/>
          <p:cNvGrpSpPr/>
          <p:nvPr/>
        </p:nvGrpSpPr>
        <p:grpSpPr bwMode="auto">
          <a:xfrm>
            <a:off x="268288" y="103188"/>
            <a:ext cx="4747591" cy="601662"/>
            <a:chOff x="267858" y="102478"/>
            <a:chExt cx="3025443" cy="602574"/>
          </a:xfrm>
        </p:grpSpPr>
        <p:sp>
          <p:nvSpPr>
            <p:cNvPr id="3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02544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研究基础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技术原理</a:t>
              </a:r>
              <a:endPara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sp>
        <p:nvSpPr>
          <p:cNvPr id="5" name="矩形: 圆顶角 4"/>
          <p:cNvSpPr/>
          <p:nvPr/>
        </p:nvSpPr>
        <p:spPr>
          <a:xfrm rot="5400000">
            <a:off x="1417899" y="-624052"/>
            <a:ext cx="2922983" cy="5758784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25000">
                <a:srgbClr val="F2FCFF"/>
              </a:gs>
              <a:gs pos="100000">
                <a:srgbClr val="FFFFFF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矩形: 圆顶角 5"/>
          <p:cNvSpPr/>
          <p:nvPr/>
        </p:nvSpPr>
        <p:spPr>
          <a:xfrm rot="16200000">
            <a:off x="7515510" y="-959662"/>
            <a:ext cx="2919763" cy="6433217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34000">
                <a:srgbClr val="F2FCFF"/>
              </a:gs>
              <a:gs pos="100000">
                <a:srgbClr val="FFFFFF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0" y="6346161"/>
            <a:ext cx="12192000" cy="46166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电化学阻抗谱能够通过</a:t>
            </a:r>
            <a:r>
              <a:rPr lang="zh-CN" altLang="en-US" sz="2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对电池内部电化学反应的映射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实现对电池特征</a:t>
            </a:r>
            <a:r>
              <a:rPr lang="zh-CN" altLang="en-US" sz="2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更精确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的监测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3"/>
          <p:cNvSpPr>
            <a:spLocks noChangeArrowheads="1"/>
          </p:cNvSpPr>
          <p:nvPr/>
        </p:nvSpPr>
        <p:spPr bwMode="auto">
          <a:xfrm>
            <a:off x="506260" y="911171"/>
            <a:ext cx="8542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电化学阻抗谱</a:t>
            </a:r>
            <a:r>
              <a:rPr lang="en-US" altLang="zh-CN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(electrochemical impedance spectroscopy, </a:t>
            </a:r>
            <a:r>
              <a:rPr lang="en-US" altLang="zh-CN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EIS</a:t>
            </a:r>
            <a:r>
              <a:rPr lang="en-US" altLang="zh-CN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06095" y="1360170"/>
            <a:ext cx="112344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以一系列不同频率的小振幅正弦波电压（电流）为扰动信号，使电极系统产生响应信号。</a:t>
            </a:r>
            <a:endParaRPr lang="zh-CN" altLang="en-US" sz="24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66984" y="2381898"/>
            <a:ext cx="2457469" cy="3484301"/>
            <a:chOff x="404000" y="2451625"/>
            <a:chExt cx="2457469" cy="3484301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0852" y="4240517"/>
              <a:ext cx="560617" cy="960382"/>
            </a:xfrm>
            <a:prstGeom prst="rect">
              <a:avLst/>
            </a:prstGeom>
          </p:spPr>
        </p:pic>
        <p:grpSp>
          <p:nvGrpSpPr>
            <p:cNvPr id="49" name="组合 48"/>
            <p:cNvGrpSpPr/>
            <p:nvPr/>
          </p:nvGrpSpPr>
          <p:grpSpPr>
            <a:xfrm>
              <a:off x="404000" y="2451625"/>
              <a:ext cx="2293804" cy="3484301"/>
              <a:chOff x="404000" y="2451625"/>
              <a:chExt cx="2293804" cy="3484301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04000" y="2974845"/>
                <a:ext cx="1890410" cy="2961081"/>
                <a:chOff x="404000" y="2974845"/>
                <a:chExt cx="1890410" cy="2961081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>
                  <a:off x="404000" y="2974845"/>
                  <a:ext cx="1890410" cy="1374343"/>
                  <a:chOff x="404000" y="2974845"/>
                  <a:chExt cx="1890410" cy="1374343"/>
                </a:xfrm>
              </p:grpSpPr>
              <p:pic>
                <p:nvPicPr>
                  <p:cNvPr id="61" name="图片 60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04000" y="2974845"/>
                    <a:ext cx="1513769" cy="1374343"/>
                  </a:xfrm>
                  <a:prstGeom prst="rect">
                    <a:avLst/>
                  </a:prstGeom>
                </p:spPr>
              </p:pic>
              <p:sp>
                <p:nvSpPr>
                  <p:cNvPr id="62" name="右箭头 21"/>
                  <p:cNvSpPr/>
                  <p:nvPr/>
                </p:nvSpPr>
                <p:spPr>
                  <a:xfrm rot="3556622">
                    <a:off x="1879622" y="3794766"/>
                    <a:ext cx="613194" cy="216383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4685C2"/>
                      </a:gs>
                      <a:gs pos="100000">
                        <a:srgbClr val="ECF1F9"/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黑体" panose="02010609060101010101" charset="-122"/>
                      <a:ea typeface="黑体" panose="02010609060101010101" charset="-122"/>
                    </a:endParaRPr>
                  </a:p>
                </p:txBody>
              </p:sp>
            </p:grpSp>
            <p:grpSp>
              <p:nvGrpSpPr>
                <p:cNvPr id="58" name="组合 57"/>
                <p:cNvGrpSpPr/>
                <p:nvPr/>
              </p:nvGrpSpPr>
              <p:grpSpPr>
                <a:xfrm>
                  <a:off x="509406" y="4766414"/>
                  <a:ext cx="1681064" cy="1169512"/>
                  <a:chOff x="509406" y="4766414"/>
                  <a:chExt cx="1681064" cy="1169512"/>
                </a:xfrm>
              </p:grpSpPr>
              <p:pic>
                <p:nvPicPr>
                  <p:cNvPr id="59" name="图片 58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9406" y="4766414"/>
                    <a:ext cx="1281907" cy="1169512"/>
                  </a:xfrm>
                  <a:prstGeom prst="rect">
                    <a:avLst/>
                  </a:prstGeom>
                </p:spPr>
              </p:pic>
              <p:sp>
                <p:nvSpPr>
                  <p:cNvPr id="60" name="右箭头 22"/>
                  <p:cNvSpPr/>
                  <p:nvPr/>
                </p:nvSpPr>
                <p:spPr>
                  <a:xfrm rot="7337152">
                    <a:off x="1751779" y="5281626"/>
                    <a:ext cx="654352" cy="22303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6A9DCE"/>
                      </a:gs>
                      <a:gs pos="100000">
                        <a:srgbClr val="F0F4FB"/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黑体" panose="02010609060101010101" charset="-122"/>
                      <a:ea typeface="黑体" panose="02010609060101010101" charset="-122"/>
                    </a:endParaRPr>
                  </a:p>
                </p:txBody>
              </p:sp>
            </p:grpSp>
          </p:grpSp>
          <p:sp>
            <p:nvSpPr>
              <p:cNvPr id="53" name="文本框 52"/>
              <p:cNvSpPr txBox="1"/>
              <p:nvPr/>
            </p:nvSpPr>
            <p:spPr>
              <a:xfrm>
                <a:off x="421964" y="2451625"/>
                <a:ext cx="22758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f:mHz—kHz</a:t>
                </a:r>
                <a:endPara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2458672" y="2182641"/>
            <a:ext cx="5094165" cy="4083936"/>
            <a:chOff x="2495688" y="2252368"/>
            <a:chExt cx="5094165" cy="4083936"/>
          </a:xfrm>
        </p:grpSpPr>
        <p:grpSp>
          <p:nvGrpSpPr>
            <p:cNvPr id="64" name="组合 63"/>
            <p:cNvGrpSpPr/>
            <p:nvPr/>
          </p:nvGrpSpPr>
          <p:grpSpPr>
            <a:xfrm>
              <a:off x="3059522" y="3429000"/>
              <a:ext cx="4530331" cy="2907304"/>
              <a:chOff x="3059522" y="3429000"/>
              <a:chExt cx="4530331" cy="2907304"/>
            </a:xfrm>
          </p:grpSpPr>
          <p:sp>
            <p:nvSpPr>
              <p:cNvPr id="76" name="下箭头 24"/>
              <p:cNvSpPr/>
              <p:nvPr/>
            </p:nvSpPr>
            <p:spPr>
              <a:xfrm rot="16200000">
                <a:off x="3218090" y="4403820"/>
                <a:ext cx="400111" cy="717247"/>
              </a:xfrm>
              <a:prstGeom prst="downArrow">
                <a:avLst/>
              </a:prstGeom>
              <a:gradFill>
                <a:gsLst>
                  <a:gs pos="0">
                    <a:srgbClr val="F5F7FC"/>
                  </a:gs>
                  <a:gs pos="100000">
                    <a:srgbClr val="4685C2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pic>
            <p:nvPicPr>
              <p:cNvPr id="77" name="图片 76"/>
              <p:cNvPicPr/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74822" y="3429000"/>
                <a:ext cx="3615031" cy="29073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aphicFrame>
          <p:nvGraphicFramePr>
            <p:cNvPr id="65" name="对象 64"/>
            <p:cNvGraphicFramePr>
              <a:graphicFrameLocks noChangeAspect="1"/>
            </p:cNvGraphicFramePr>
            <p:nvPr/>
          </p:nvGraphicFramePr>
          <p:xfrm>
            <a:off x="3302609" y="2252368"/>
            <a:ext cx="997558" cy="1226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6" imgW="10668000" imgH="13106400" progId="Equation.DSMT4">
                    <p:embed/>
                  </p:oleObj>
                </mc:Choice>
                <mc:Fallback>
                  <p:oleObj name="Equation" r:id="rId6" imgW="10668000" imgH="13106400" progId="Equation.DSMT4">
                    <p:embed/>
                    <p:pic>
                      <p:nvPicPr>
                        <p:cNvPr id="0" name="对象 6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302609" y="2252368"/>
                          <a:ext cx="997558" cy="12261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6" name="组合 65"/>
            <p:cNvGrpSpPr/>
            <p:nvPr/>
          </p:nvGrpSpPr>
          <p:grpSpPr>
            <a:xfrm>
              <a:off x="4470776" y="2386434"/>
              <a:ext cx="3025230" cy="951811"/>
              <a:chOff x="5129033" y="2116994"/>
              <a:chExt cx="3025230" cy="951811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5166550" y="2131235"/>
                <a:ext cx="2987713" cy="937570"/>
                <a:chOff x="5560603" y="2246582"/>
                <a:chExt cx="2987713" cy="937570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5560603" y="2264206"/>
                  <a:ext cx="1527161" cy="875450"/>
                  <a:chOff x="5560603" y="2233911"/>
                  <a:chExt cx="1527161" cy="875450"/>
                </a:xfrm>
              </p:grpSpPr>
              <p:sp>
                <p:nvSpPr>
                  <p:cNvPr id="74" name="文本框 73"/>
                  <p:cNvSpPr txBox="1"/>
                  <p:nvPr/>
                </p:nvSpPr>
                <p:spPr>
                  <a:xfrm>
                    <a:off x="5567600" y="2233911"/>
                    <a:ext cx="132210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ED7D31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实部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</a:rPr>
                      <a:t>’</a:t>
                    </a:r>
                    <a:endParaRPr lang="zh-CN" altLang="en-US" sz="2400" b="1" dirty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75" name="文本框 74"/>
                  <p:cNvSpPr txBox="1"/>
                  <p:nvPr/>
                </p:nvSpPr>
                <p:spPr>
                  <a:xfrm>
                    <a:off x="5560603" y="2647696"/>
                    <a:ext cx="152716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ED7D31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模值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</a:rPr>
                      <a:t>|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Z 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</a:rPr>
                      <a:t>|</a:t>
                    </a:r>
                    <a:endParaRPr lang="zh-CN" altLang="en-US" sz="2400" b="1" dirty="0">
                      <a:solidFill>
                        <a:srgbClr val="ED7D31"/>
                      </a:solidFill>
                    </a:endParaRPr>
                  </a:p>
                </p:txBody>
              </p:sp>
            </p:grpSp>
            <p:grpSp>
              <p:nvGrpSpPr>
                <p:cNvPr id="71" name="组合 70"/>
                <p:cNvGrpSpPr/>
                <p:nvPr/>
              </p:nvGrpSpPr>
              <p:grpSpPr>
                <a:xfrm>
                  <a:off x="7014948" y="2246582"/>
                  <a:ext cx="1533368" cy="937570"/>
                  <a:chOff x="7014948" y="2268081"/>
                  <a:chExt cx="1533368" cy="937570"/>
                </a:xfrm>
              </p:grpSpPr>
              <p:sp>
                <p:nvSpPr>
                  <p:cNvPr id="72" name="文本框 71"/>
                  <p:cNvSpPr txBox="1"/>
                  <p:nvPr/>
                </p:nvSpPr>
                <p:spPr>
                  <a:xfrm>
                    <a:off x="7014948" y="2268081"/>
                    <a:ext cx="132210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ED7D31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虚部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lang="en-US" altLang="zh-CN" sz="2400" b="1" dirty="0">
                        <a:solidFill>
                          <a:srgbClr val="ED7D31"/>
                        </a:solidFill>
                      </a:rPr>
                      <a:t>’’</a:t>
                    </a:r>
                    <a:endParaRPr lang="zh-CN" altLang="en-US" sz="2400" b="1" dirty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73" name="文本框 72"/>
                  <p:cNvSpPr txBox="1"/>
                  <p:nvPr/>
                </p:nvSpPr>
                <p:spPr>
                  <a:xfrm>
                    <a:off x="7021155" y="2743986"/>
                    <a:ext cx="152716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rgbClr val="ED7D31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相位角</a:t>
                    </a:r>
                    <a:r>
                      <a:rPr lang="en-US" altLang="zh-CN" sz="2400" b="1" i="1" dirty="0">
                        <a:solidFill>
                          <a:srgbClr val="ED7D31"/>
                        </a:solidFill>
                        <a:latin typeface="黑体" panose="02010609060101010101" charset="-122"/>
                        <a:ea typeface="黑体" panose="02010609060101010101" charset="-122"/>
                      </a:rPr>
                      <a:t>φ</a:t>
                    </a:r>
                    <a:endParaRPr lang="zh-CN" altLang="en-US" sz="2400" b="1" i="1" dirty="0">
                      <a:solidFill>
                        <a:srgbClr val="ED7D31"/>
                      </a:solidFill>
                    </a:endParaRPr>
                  </a:p>
                </p:txBody>
              </p:sp>
            </p:grpSp>
          </p:grpSp>
          <p:sp>
            <p:nvSpPr>
              <p:cNvPr id="69" name="矩形 68"/>
              <p:cNvSpPr/>
              <p:nvPr/>
            </p:nvSpPr>
            <p:spPr>
              <a:xfrm>
                <a:off x="5129033" y="2116994"/>
                <a:ext cx="2904347" cy="951811"/>
              </a:xfrm>
              <a:prstGeom prst="rect">
                <a:avLst/>
              </a:prstGeom>
              <a:noFill/>
              <a:ln w="38100">
                <a:solidFill>
                  <a:srgbClr val="ED7D3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67" name="箭头: 右 66"/>
            <p:cNvSpPr/>
            <p:nvPr/>
          </p:nvSpPr>
          <p:spPr>
            <a:xfrm>
              <a:off x="2495688" y="2644735"/>
              <a:ext cx="717249" cy="396207"/>
            </a:xfrm>
            <a:prstGeom prst="rightArrow">
              <a:avLst/>
            </a:prstGeom>
            <a:gradFill flip="none" rotWithShape="1">
              <a:gsLst>
                <a:gs pos="0">
                  <a:srgbClr val="E8EFF8"/>
                </a:gs>
                <a:gs pos="100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78" name="箭头: 左右 77"/>
          <p:cNvSpPr/>
          <p:nvPr/>
        </p:nvSpPr>
        <p:spPr>
          <a:xfrm>
            <a:off x="8013485" y="2955681"/>
            <a:ext cx="1527161" cy="422151"/>
          </a:xfrm>
          <a:prstGeom prst="leftRightArrow">
            <a:avLst/>
          </a:prstGeom>
          <a:gradFill flip="none" rotWithShape="1">
            <a:gsLst>
              <a:gs pos="0">
                <a:srgbClr val="1B69B4"/>
              </a:gs>
              <a:gs pos="51000">
                <a:srgbClr val="E9F2F9"/>
              </a:gs>
              <a:gs pos="100000">
                <a:srgbClr val="1B69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7726905" y="4408169"/>
            <a:ext cx="4098580" cy="1145437"/>
            <a:chOff x="7415248" y="4154074"/>
            <a:chExt cx="4098580" cy="1145437"/>
          </a:xfrm>
        </p:grpSpPr>
        <p:grpSp>
          <p:nvGrpSpPr>
            <p:cNvPr id="80" name="组合 79"/>
            <p:cNvGrpSpPr/>
            <p:nvPr/>
          </p:nvGrpSpPr>
          <p:grpSpPr>
            <a:xfrm>
              <a:off x="7415248" y="4154074"/>
              <a:ext cx="4098580" cy="1145437"/>
              <a:chOff x="7600965" y="4189482"/>
              <a:chExt cx="4098580" cy="1145437"/>
            </a:xfrm>
          </p:grpSpPr>
          <p:sp>
            <p:nvSpPr>
              <p:cNvPr id="82" name="文本框 81"/>
              <p:cNvSpPr txBox="1"/>
              <p:nvPr/>
            </p:nvSpPr>
            <p:spPr>
              <a:xfrm>
                <a:off x="7600965" y="4688588"/>
                <a:ext cx="40985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EIS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图谱各频段与电池内部电化学反应之间存在映射关系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8774624" y="4189482"/>
                <a:ext cx="17512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1B69B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电化学反应</a:t>
                </a:r>
                <a:endParaRPr lang="zh-CN" altLang="en-US" sz="2400" b="1" dirty="0">
                  <a:solidFill>
                    <a:srgbClr val="1B69B4"/>
                  </a:solidFill>
                </a:endParaRPr>
              </a:p>
            </p:txBody>
          </p:sp>
        </p:grpSp>
        <p:sp>
          <p:nvSpPr>
            <p:cNvPr id="81" name="箭头: 右 80"/>
            <p:cNvSpPr/>
            <p:nvPr/>
          </p:nvSpPr>
          <p:spPr>
            <a:xfrm>
              <a:off x="7592761" y="4166064"/>
              <a:ext cx="912582" cy="437683"/>
            </a:xfrm>
            <a:prstGeom prst="rightArrow">
              <a:avLst/>
            </a:prstGeom>
            <a:gradFill flip="none" rotWithShape="1">
              <a:gsLst>
                <a:gs pos="0">
                  <a:srgbClr val="F4FAFD"/>
                </a:gs>
                <a:gs pos="100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9557240" y="2714729"/>
            <a:ext cx="2338178" cy="1510205"/>
            <a:chOff x="9479565" y="2588914"/>
            <a:chExt cx="2338178" cy="1510205"/>
          </a:xfrm>
        </p:grpSpPr>
        <p:sp>
          <p:nvSpPr>
            <p:cNvPr id="85" name="文本框 84"/>
            <p:cNvSpPr txBox="1"/>
            <p:nvPr/>
          </p:nvSpPr>
          <p:spPr>
            <a:xfrm>
              <a:off x="9479565" y="2588914"/>
              <a:ext cx="233817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电池外在特征</a:t>
              </a:r>
              <a:endParaRPr lang="en-US" altLang="zh-CN" sz="24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SOC.SOH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zh-CN" altLang="en-US" sz="2400" b="1" dirty="0"/>
            </a:p>
          </p:txBody>
        </p:sp>
        <p:sp>
          <p:nvSpPr>
            <p:cNvPr id="86" name="箭头: 右 85"/>
            <p:cNvSpPr/>
            <p:nvPr/>
          </p:nvSpPr>
          <p:spPr>
            <a:xfrm rot="19062756">
              <a:off x="9799134" y="3661436"/>
              <a:ext cx="912582" cy="437683"/>
            </a:xfrm>
            <a:prstGeom prst="rightArrow">
              <a:avLst/>
            </a:prstGeom>
            <a:gradFill flip="none" rotWithShape="1">
              <a:gsLst>
                <a:gs pos="0">
                  <a:srgbClr val="EAF3FA"/>
                </a:gs>
                <a:gs pos="100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87" name="矩形 86"/>
          <p:cNvSpPr/>
          <p:nvPr/>
        </p:nvSpPr>
        <p:spPr>
          <a:xfrm>
            <a:off x="366984" y="2182641"/>
            <a:ext cx="7185853" cy="4083936"/>
          </a:xfrm>
          <a:prstGeom prst="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7678084" y="2170659"/>
            <a:ext cx="4092087" cy="4095918"/>
          </a:xfrm>
          <a:prstGeom prst="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: 圆角 88"/>
          <p:cNvSpPr/>
          <p:nvPr/>
        </p:nvSpPr>
        <p:spPr>
          <a:xfrm>
            <a:off x="1553026" y="1831033"/>
            <a:ext cx="4373453" cy="341202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研究内容一：阻抗数据获取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7958199" y="1821454"/>
            <a:ext cx="3531856" cy="341202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研究内容二：特征关联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114977" y="6351638"/>
            <a:ext cx="2743200" cy="365125"/>
          </a:xfrm>
        </p:spPr>
        <p:txBody>
          <a:bodyPr/>
          <a:lstStyle/>
          <a:p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376" y="195720"/>
            <a:ext cx="2514152" cy="673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框 74"/>
          <p:cNvSpPr txBox="1"/>
          <p:nvPr/>
        </p:nvSpPr>
        <p:spPr>
          <a:xfrm>
            <a:off x="0" y="6146666"/>
            <a:ext cx="12192000" cy="52322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电化学阻抗谱检测在</a:t>
            </a:r>
            <a:r>
              <a:rPr lang="zh-CN" altLang="en-US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检测范围</a:t>
            </a:r>
            <a:r>
              <a:rPr lang="zh-CN" altLang="en-US" sz="2800" b="1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蕴含信息</a:t>
            </a:r>
            <a:r>
              <a:rPr lang="zh-CN" altLang="en-US" sz="2800" b="1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等方面</a:t>
            </a:r>
            <a:r>
              <a:rPr lang="zh-CN" altLang="en-US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独具优势</a:t>
            </a:r>
            <a:r>
              <a:rPr lang="zh-CN" altLang="en-US" sz="2800" b="1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功能强大</a:t>
            </a:r>
            <a:endParaRPr lang="zh-CN" altLang="en-US" sz="2800" b="1" dirty="0">
              <a:solidFill>
                <a:srgbClr val="FE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75" name="组合 11"/>
          <p:cNvGrpSpPr/>
          <p:nvPr/>
        </p:nvGrpSpPr>
        <p:grpSpPr bwMode="auto">
          <a:xfrm>
            <a:off x="268288" y="103188"/>
            <a:ext cx="4925042" cy="601662"/>
            <a:chOff x="267858" y="102478"/>
            <a:chExt cx="3138525" cy="602574"/>
          </a:xfrm>
        </p:grpSpPr>
        <p:sp>
          <p:nvSpPr>
            <p:cNvPr id="13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138525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研究基础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检测方法对比</a:t>
              </a:r>
              <a:endPara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5345821" y="1006463"/>
            <a:ext cx="0" cy="4777505"/>
          </a:xfrm>
          <a:prstGeom prst="line">
            <a:avLst/>
          </a:prstGeom>
          <a:ln w="50800">
            <a:gradFill flip="none" rotWithShape="1">
              <a:gsLst>
                <a:gs pos="0">
                  <a:schemeClr val="bg1"/>
                </a:gs>
                <a:gs pos="50000">
                  <a:srgbClr val="1B69B4"/>
                </a:gs>
                <a:gs pos="100000">
                  <a:srgbClr val="FFFFFF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9"/>
          <p:cNvSpPr>
            <a:spLocks noChangeArrowheads="1"/>
          </p:cNvSpPr>
          <p:nvPr/>
        </p:nvSpPr>
        <p:spPr bwMode="auto">
          <a:xfrm>
            <a:off x="370658" y="1411849"/>
            <a:ext cx="3392472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电池实时端电压和电池包总电压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电池实时充放电电流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电池实时温度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13"/>
          <p:cNvSpPr>
            <a:spLocks noChangeArrowheads="1"/>
          </p:cNvSpPr>
          <p:nvPr/>
        </p:nvSpPr>
        <p:spPr bwMode="auto">
          <a:xfrm>
            <a:off x="370659" y="5079144"/>
            <a:ext cx="4925042" cy="10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传统的测量方法仅采集电池外部电压电流信息，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无从得知内部电化学参数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，无法辨识潜在性缺陷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电池状态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估算不准确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，电池性能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不能充分利用</a:t>
            </a:r>
            <a:endParaRPr lang="en-US" altLang="zh-CN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"/>
          <a:stretch>
            <a:fillRect/>
          </a:stretch>
        </p:blipFill>
        <p:spPr bwMode="auto">
          <a:xfrm>
            <a:off x="2510198" y="2469478"/>
            <a:ext cx="2505863" cy="177458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58" y="2481702"/>
            <a:ext cx="1922190" cy="1762358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376" y="195720"/>
            <a:ext cx="2514152" cy="673296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42108" y="945475"/>
            <a:ext cx="359317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marR="0" lvl="0" indent="-3429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kumimoji="0" sz="2000" b="1" i="0" u="none" strike="noStrike" kern="10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1B69B4"/>
                </a:solidFill>
              </a:rPr>
              <a:t>传统锂离子电池检测</a:t>
            </a:r>
            <a:endParaRPr lang="zh-CN" altLang="en-US" dirty="0">
              <a:solidFill>
                <a:srgbClr val="1B69B4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26890" y="4590486"/>
            <a:ext cx="359317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marR="0" lvl="0" indent="-3429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kumimoji="0" sz="2000" b="1" i="0" u="none" strike="noStrike" kern="10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B69B4"/>
                </a:solidFill>
              </a:rPr>
              <a:t>存在的问题</a:t>
            </a:r>
            <a:endParaRPr lang="zh-CN" altLang="en-US" dirty="0">
              <a:solidFill>
                <a:srgbClr val="1B69B4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675875" y="911691"/>
            <a:ext cx="359317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marR="0" lvl="0" indent="-3429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kumimoji="0" sz="2000" b="1" i="0" u="none" strike="noStrike" kern="10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accent2"/>
                </a:solidFill>
              </a:rPr>
              <a:t>电化学阻抗谱检测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9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857199" y="6265102"/>
            <a:ext cx="2743200" cy="365125"/>
          </a:xfrm>
        </p:spPr>
        <p:txBody>
          <a:bodyPr/>
          <a:lstStyle/>
          <a:p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70" name="矩形 9"/>
          <p:cNvSpPr>
            <a:spLocks noChangeArrowheads="1"/>
          </p:cNvSpPr>
          <p:nvPr/>
        </p:nvSpPr>
        <p:spPr bwMode="auto">
          <a:xfrm>
            <a:off x="5675875" y="1342065"/>
            <a:ext cx="3392472" cy="10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电池内部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阻抗幅值相位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电池内部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电化学反应对应阻抗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不同频率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下阻抗变化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4"/>
          <a:stretch>
            <a:fillRect/>
          </a:stretch>
        </p:blipFill>
        <p:spPr bwMode="auto">
          <a:xfrm>
            <a:off x="5689840" y="2304578"/>
            <a:ext cx="2895419" cy="205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图片 71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260" y="2457850"/>
            <a:ext cx="3349078" cy="1824302"/>
          </a:xfrm>
          <a:prstGeom prst="rect">
            <a:avLst/>
          </a:prstGeom>
          <a:noFill/>
        </p:spPr>
      </p:pic>
      <p:sp>
        <p:nvSpPr>
          <p:cNvPr id="73" name="文本框 72"/>
          <p:cNvSpPr txBox="1"/>
          <p:nvPr/>
        </p:nvSpPr>
        <p:spPr>
          <a:xfrm>
            <a:off x="5675582" y="4590486"/>
            <a:ext cx="359317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marR="0" lvl="0" indent="-3429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kumimoji="0" sz="2000" b="1" i="0" u="none" strike="noStrike" kern="10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accent2"/>
                </a:solidFill>
              </a:rPr>
              <a:t>方法优势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4" name="矩形 13"/>
          <p:cNvSpPr>
            <a:spLocks noChangeArrowheads="1"/>
          </p:cNvSpPr>
          <p:nvPr/>
        </p:nvSpPr>
        <p:spPr bwMode="auto">
          <a:xfrm>
            <a:off x="5689840" y="5051570"/>
            <a:ext cx="4925042" cy="10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572000" algn="l"/>
                <a:tab pos="466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572000" algn="l"/>
                <a:tab pos="46640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小幅度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正弦波对电极进行极化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宽频域范围测量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多频信号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蕴含信息量丰富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68" grpId="0"/>
      <p:bldP spid="70" grpId="0"/>
      <p:bldP spid="73" grpId="0"/>
      <p:bldP spid="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1"/>
          <p:cNvGrpSpPr/>
          <p:nvPr/>
        </p:nvGrpSpPr>
        <p:grpSpPr bwMode="auto">
          <a:xfrm>
            <a:off x="-189" y="49001"/>
            <a:ext cx="4819457" cy="657539"/>
            <a:chOff x="287705" y="46516"/>
            <a:chExt cx="3070393" cy="658536"/>
          </a:xfrm>
        </p:grpSpPr>
        <p:sp>
          <p:nvSpPr>
            <p:cNvPr id="1048608" name="矩形 65"/>
            <p:cNvSpPr>
              <a:spLocks noChangeArrowheads="1"/>
            </p:cNvSpPr>
            <p:nvPr/>
          </p:nvSpPr>
          <p:spPr bwMode="auto">
            <a:xfrm>
              <a:off x="287705" y="46516"/>
              <a:ext cx="3025004" cy="5844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altLang="zh-CN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r>
                <a:rPr lang="zh-CN" altLang="en-US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创新需求</a:t>
              </a:r>
              <a:endParaRPr lang="zh-CN" altLang="en-US" sz="2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609" name="矩形 104"/>
            <p:cNvSpPr/>
            <p:nvPr/>
          </p:nvSpPr>
          <p:spPr>
            <a:xfrm>
              <a:off x="333094" y="659264"/>
              <a:ext cx="3025004" cy="45788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72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sp>
        <p:nvSpPr>
          <p:cNvPr id="1048610" name="任意多边形: 形状 139"/>
          <p:cNvSpPr/>
          <p:nvPr>
            <p:custDataLst>
              <p:tags r:id="rId1"/>
            </p:custDataLst>
          </p:nvPr>
        </p:nvSpPr>
        <p:spPr>
          <a:xfrm>
            <a:off x="4549927" y="1232014"/>
            <a:ext cx="3233173" cy="436944"/>
          </a:xfrm>
          <a:custGeom>
            <a:avLst/>
            <a:gdLst>
              <a:gd name="connsiteX0" fmla="*/ 0 w 4017893"/>
              <a:gd name="connsiteY0" fmla="*/ 0 h 1001463"/>
              <a:gd name="connsiteX1" fmla="*/ 3517162 w 4017893"/>
              <a:gd name="connsiteY1" fmla="*/ 0 h 1001463"/>
              <a:gd name="connsiteX2" fmla="*/ 4017893 w 4017893"/>
              <a:gd name="connsiteY2" fmla="*/ 500732 h 1001463"/>
              <a:gd name="connsiteX3" fmla="*/ 3517162 w 4017893"/>
              <a:gd name="connsiteY3" fmla="*/ 1001463 h 1001463"/>
              <a:gd name="connsiteX4" fmla="*/ 39838 w 4017893"/>
              <a:gd name="connsiteY4" fmla="*/ 1001463 h 1001463"/>
              <a:gd name="connsiteX5" fmla="*/ 537500 w 4017893"/>
              <a:gd name="connsiteY5" fmla="*/ 503801 h 1001463"/>
              <a:gd name="connsiteX6" fmla="*/ 36769 w 4017893"/>
              <a:gd name="connsiteY6" fmla="*/ 3069 h 1001463"/>
              <a:gd name="connsiteX7" fmla="*/ 0 w 4017893"/>
              <a:gd name="connsiteY7" fmla="*/ 3069 h 1001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17893" h="1001463">
                <a:moveTo>
                  <a:pt x="0" y="0"/>
                </a:moveTo>
                <a:lnTo>
                  <a:pt x="3517162" y="0"/>
                </a:lnTo>
                <a:lnTo>
                  <a:pt x="4017893" y="500732"/>
                </a:lnTo>
                <a:lnTo>
                  <a:pt x="3517162" y="1001463"/>
                </a:lnTo>
                <a:lnTo>
                  <a:pt x="39838" y="1001463"/>
                </a:lnTo>
                <a:lnTo>
                  <a:pt x="537500" y="503801"/>
                </a:lnTo>
                <a:lnTo>
                  <a:pt x="36769" y="3069"/>
                </a:lnTo>
                <a:lnTo>
                  <a:pt x="0" y="3069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rgbClr val="0466C1"/>
              </a:gs>
            </a:gsLst>
            <a:lin ang="0" scaled="1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48611" name="任意多边形: 形状 139"/>
          <p:cNvSpPr/>
          <p:nvPr>
            <p:custDataLst>
              <p:tags r:id="rId2"/>
            </p:custDataLst>
          </p:nvPr>
        </p:nvSpPr>
        <p:spPr>
          <a:xfrm>
            <a:off x="8336915" y="1231900"/>
            <a:ext cx="2914015" cy="436880"/>
          </a:xfrm>
          <a:custGeom>
            <a:avLst/>
            <a:gdLst>
              <a:gd name="connsiteX0" fmla="*/ 0 w 4017893"/>
              <a:gd name="connsiteY0" fmla="*/ 0 h 1001463"/>
              <a:gd name="connsiteX1" fmla="*/ 3517162 w 4017893"/>
              <a:gd name="connsiteY1" fmla="*/ 0 h 1001463"/>
              <a:gd name="connsiteX2" fmla="*/ 4017893 w 4017893"/>
              <a:gd name="connsiteY2" fmla="*/ 500732 h 1001463"/>
              <a:gd name="connsiteX3" fmla="*/ 3517162 w 4017893"/>
              <a:gd name="connsiteY3" fmla="*/ 1001463 h 1001463"/>
              <a:gd name="connsiteX4" fmla="*/ 39838 w 4017893"/>
              <a:gd name="connsiteY4" fmla="*/ 1001463 h 1001463"/>
              <a:gd name="connsiteX5" fmla="*/ 537500 w 4017893"/>
              <a:gd name="connsiteY5" fmla="*/ 503801 h 1001463"/>
              <a:gd name="connsiteX6" fmla="*/ 36769 w 4017893"/>
              <a:gd name="connsiteY6" fmla="*/ 3069 h 1001463"/>
              <a:gd name="connsiteX7" fmla="*/ 0 w 4017893"/>
              <a:gd name="connsiteY7" fmla="*/ 3069 h 1001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17893" h="1001463">
                <a:moveTo>
                  <a:pt x="0" y="0"/>
                </a:moveTo>
                <a:lnTo>
                  <a:pt x="3517162" y="0"/>
                </a:lnTo>
                <a:lnTo>
                  <a:pt x="4017893" y="500732"/>
                </a:lnTo>
                <a:lnTo>
                  <a:pt x="3517162" y="1001463"/>
                </a:lnTo>
                <a:lnTo>
                  <a:pt x="39838" y="1001463"/>
                </a:lnTo>
                <a:lnTo>
                  <a:pt x="537500" y="503801"/>
                </a:lnTo>
                <a:lnTo>
                  <a:pt x="36769" y="3069"/>
                </a:lnTo>
                <a:lnTo>
                  <a:pt x="0" y="3069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rgbClr val="0466C1"/>
              </a:gs>
            </a:gsLst>
            <a:lin ang="0" scaled="1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0" name="组合 28"/>
          <p:cNvGrpSpPr/>
          <p:nvPr>
            <p:custDataLst>
              <p:tags r:id="rId3"/>
            </p:custDataLst>
          </p:nvPr>
        </p:nvGrpSpPr>
        <p:grpSpPr>
          <a:xfrm>
            <a:off x="8018145" y="1718310"/>
            <a:ext cx="3552190" cy="4003040"/>
            <a:chOff x="8017854" y="1718063"/>
            <a:chExt cx="3552326" cy="3519835"/>
          </a:xfrm>
        </p:grpSpPr>
        <p:sp>
          <p:nvSpPr>
            <p:cNvPr id="1048612" name="矩形 15"/>
            <p:cNvSpPr/>
            <p:nvPr>
              <p:custDataLst>
                <p:tags r:id="rId4"/>
              </p:custDataLst>
            </p:nvPr>
          </p:nvSpPr>
          <p:spPr bwMode="auto">
            <a:xfrm>
              <a:off x="8017854" y="1718063"/>
              <a:ext cx="3552326" cy="3519835"/>
            </a:xfrm>
            <a:prstGeom prst="rect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/>
            <a:lstStyle/>
            <a:p>
              <a:endParaRPr lang="zh-CN" altLang="en-US" sz="1500" b="1" kern="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1048613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8125839" y="1822289"/>
              <a:ext cx="3344319" cy="5011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no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chemeClr val="tx1"/>
                  </a:solidFill>
                </a:rPr>
                <a:t>广泛的应用价值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endParaRPr>
            </a:p>
          </p:txBody>
        </p:sp>
        <p:grpSp>
          <p:nvGrpSpPr>
            <p:cNvPr id="41" name="组合 17"/>
            <p:cNvGrpSpPr/>
            <p:nvPr/>
          </p:nvGrpSpPr>
          <p:grpSpPr>
            <a:xfrm>
              <a:off x="8073270" y="4418400"/>
              <a:ext cx="3446179" cy="501185"/>
              <a:chOff x="839048" y="3037238"/>
              <a:chExt cx="3452562" cy="458250"/>
            </a:xfrm>
            <a:effectLst/>
          </p:grpSpPr>
          <p:sp>
            <p:nvSpPr>
              <p:cNvPr id="1048614" name="圆角矩形 60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891712" y="3037238"/>
                <a:ext cx="3344320" cy="45825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048615" name="矩形 19"/>
              <p:cNvSpPr/>
              <p:nvPr>
                <p:custDataLst>
                  <p:tags r:id="rId7"/>
                </p:custDataLst>
              </p:nvPr>
            </p:nvSpPr>
            <p:spPr>
              <a:xfrm>
                <a:off x="839048" y="3093345"/>
                <a:ext cx="3452562" cy="318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电池检测系统准度、速度优化</a:t>
                </a:r>
                <a:endPara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097159" name="图片 2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132021" y="2462313"/>
              <a:ext cx="3338137" cy="175344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249087">
                  <a:alpha val="40000"/>
                </a:srgbClr>
              </a:outerShdw>
            </a:effectLst>
          </p:spPr>
        </p:pic>
      </p:grpSp>
      <p:sp>
        <p:nvSpPr>
          <p:cNvPr id="1048616" name="文本框 22"/>
          <p:cNvSpPr txBox="1"/>
          <p:nvPr>
            <p:custDataLst>
              <p:tags r:id="rId10"/>
            </p:custDataLst>
          </p:nvPr>
        </p:nvSpPr>
        <p:spPr>
          <a:xfrm>
            <a:off x="8909799" y="1192714"/>
            <a:ext cx="17684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30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设计优化</a:t>
            </a:r>
            <a:endParaRPr lang="zh-CN" alt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48617" name="任意多边形: 形状 139"/>
          <p:cNvSpPr/>
          <p:nvPr>
            <p:custDataLst>
              <p:tags r:id="rId11"/>
            </p:custDataLst>
          </p:nvPr>
        </p:nvSpPr>
        <p:spPr>
          <a:xfrm>
            <a:off x="610870" y="1214120"/>
            <a:ext cx="3525520" cy="436880"/>
          </a:xfrm>
          <a:custGeom>
            <a:avLst/>
            <a:gdLst>
              <a:gd name="connsiteX0" fmla="*/ 0 w 4017893"/>
              <a:gd name="connsiteY0" fmla="*/ 0 h 1001463"/>
              <a:gd name="connsiteX1" fmla="*/ 3517162 w 4017893"/>
              <a:gd name="connsiteY1" fmla="*/ 0 h 1001463"/>
              <a:gd name="connsiteX2" fmla="*/ 4017893 w 4017893"/>
              <a:gd name="connsiteY2" fmla="*/ 500732 h 1001463"/>
              <a:gd name="connsiteX3" fmla="*/ 3517162 w 4017893"/>
              <a:gd name="connsiteY3" fmla="*/ 1001463 h 1001463"/>
              <a:gd name="connsiteX4" fmla="*/ 39838 w 4017893"/>
              <a:gd name="connsiteY4" fmla="*/ 1001463 h 1001463"/>
              <a:gd name="connsiteX5" fmla="*/ 537500 w 4017893"/>
              <a:gd name="connsiteY5" fmla="*/ 503801 h 1001463"/>
              <a:gd name="connsiteX6" fmla="*/ 36769 w 4017893"/>
              <a:gd name="connsiteY6" fmla="*/ 3069 h 1001463"/>
              <a:gd name="connsiteX7" fmla="*/ 0 w 4017893"/>
              <a:gd name="connsiteY7" fmla="*/ 3069 h 1001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17893" h="1001463">
                <a:moveTo>
                  <a:pt x="0" y="0"/>
                </a:moveTo>
                <a:lnTo>
                  <a:pt x="3517162" y="0"/>
                </a:lnTo>
                <a:lnTo>
                  <a:pt x="4017893" y="500732"/>
                </a:lnTo>
                <a:lnTo>
                  <a:pt x="3517162" y="1001463"/>
                </a:lnTo>
                <a:lnTo>
                  <a:pt x="39838" y="1001463"/>
                </a:lnTo>
                <a:lnTo>
                  <a:pt x="537500" y="503801"/>
                </a:lnTo>
                <a:lnTo>
                  <a:pt x="36769" y="3069"/>
                </a:lnTo>
                <a:lnTo>
                  <a:pt x="0" y="3069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rgbClr val="0466C1"/>
              </a:gs>
            </a:gsLst>
            <a:lin ang="0" scaled="1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48618" name="文本框 120"/>
          <p:cNvSpPr txBox="1"/>
          <p:nvPr>
            <p:custDataLst>
              <p:tags r:id="rId12"/>
            </p:custDataLst>
          </p:nvPr>
        </p:nvSpPr>
        <p:spPr>
          <a:xfrm>
            <a:off x="1411773" y="1177868"/>
            <a:ext cx="176843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30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机理剖析</a:t>
            </a:r>
            <a:endParaRPr lang="zh-CN" altLang="en-US" sz="2800" b="1" spc="30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27"/>
          <p:cNvGrpSpPr/>
          <p:nvPr>
            <p:custDataLst>
              <p:tags r:id="rId13"/>
            </p:custDataLst>
          </p:nvPr>
        </p:nvGrpSpPr>
        <p:grpSpPr>
          <a:xfrm>
            <a:off x="283210" y="1694815"/>
            <a:ext cx="4025265" cy="4026535"/>
            <a:chOff x="3916130" y="1718063"/>
            <a:chExt cx="4025392" cy="3519835"/>
          </a:xfrm>
        </p:grpSpPr>
        <p:sp>
          <p:nvSpPr>
            <p:cNvPr id="1048619" name="矩形 121"/>
            <p:cNvSpPr/>
            <p:nvPr>
              <p:custDataLst>
                <p:tags r:id="rId14"/>
              </p:custDataLst>
            </p:nvPr>
          </p:nvSpPr>
          <p:spPr bwMode="auto">
            <a:xfrm>
              <a:off x="3916130" y="1718063"/>
              <a:ext cx="4025392" cy="3519835"/>
            </a:xfrm>
            <a:prstGeom prst="rect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/>
            <a:lstStyle/>
            <a:p>
              <a:endParaRPr lang="zh-CN" altLang="en-US" sz="1500" b="1" kern="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1048620" name="文本框 122"/>
            <p:cNvSpPr txBox="1"/>
            <p:nvPr>
              <p:custDataLst>
                <p:tags r:id="rId15"/>
              </p:custDataLst>
            </p:nvPr>
          </p:nvSpPr>
          <p:spPr>
            <a:xfrm>
              <a:off x="4001007" y="1824732"/>
              <a:ext cx="3832530" cy="5011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no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chemeClr val="tx1"/>
                  </a:solidFill>
                </a:rPr>
                <a:t>储能电池内部的理化特征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endParaRPr>
            </a:p>
          </p:txBody>
        </p:sp>
        <p:sp>
          <p:nvSpPr>
            <p:cNvPr id="1048621" name="圆角矩形 60"/>
            <p:cNvSpPr/>
            <p:nvPr>
              <p:custDataLst>
                <p:tags r:id="rId16"/>
              </p:custDataLst>
            </p:nvPr>
          </p:nvSpPr>
          <p:spPr bwMode="auto">
            <a:xfrm>
              <a:off x="4001007" y="4418401"/>
              <a:ext cx="3832530" cy="50118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048622" name="矩形 127"/>
            <p:cNvSpPr/>
            <p:nvPr>
              <p:custDataLst>
                <p:tags r:id="rId17"/>
              </p:custDataLst>
            </p:nvPr>
          </p:nvSpPr>
          <p:spPr>
            <a:xfrm>
              <a:off x="4066198" y="4455717"/>
              <a:ext cx="3702147" cy="345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储能电池温度、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SOC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以及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SOH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</a:t>
              </a:r>
              <a:endPara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7160" name="图片 124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print"/>
            <a:stretch>
              <a:fillRect/>
            </a:stretch>
          </p:blipFill>
          <p:spPr>
            <a:xfrm>
              <a:off x="4001007" y="2456341"/>
              <a:ext cx="2395857" cy="176755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249087">
                  <a:alpha val="40000"/>
                </a:srgbClr>
              </a:outerShdw>
            </a:effectLst>
          </p:spPr>
        </p:pic>
        <p:pic>
          <p:nvPicPr>
            <p:cNvPr id="2097161" name="图片 12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print"/>
            <a:stretch>
              <a:fillRect/>
            </a:stretch>
          </p:blipFill>
          <p:spPr>
            <a:xfrm>
              <a:off x="6396864" y="2455005"/>
              <a:ext cx="1436673" cy="176755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249087">
                  <a:alpha val="40000"/>
                </a:srgbClr>
              </a:outerShdw>
            </a:effectLst>
          </p:spPr>
        </p:pic>
      </p:grpSp>
      <p:grpSp>
        <p:nvGrpSpPr>
          <p:cNvPr id="43" name="组合 2"/>
          <p:cNvGrpSpPr/>
          <p:nvPr>
            <p:custDataLst>
              <p:tags r:id="rId22"/>
            </p:custDataLst>
          </p:nvPr>
        </p:nvGrpSpPr>
        <p:grpSpPr>
          <a:xfrm>
            <a:off x="4549775" y="1179195"/>
            <a:ext cx="3233420" cy="4542790"/>
            <a:chOff x="937" y="1857"/>
            <a:chExt cx="5092" cy="6392"/>
          </a:xfrm>
        </p:grpSpPr>
        <p:sp>
          <p:nvSpPr>
            <p:cNvPr id="1048624" name="文本框 13"/>
            <p:cNvSpPr txBox="1"/>
            <p:nvPr>
              <p:custDataLst>
                <p:tags r:id="rId23"/>
              </p:custDataLst>
            </p:nvPr>
          </p:nvSpPr>
          <p:spPr>
            <a:xfrm>
              <a:off x="2051" y="1857"/>
              <a:ext cx="2864" cy="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300" dirty="0">
                  <a:ln w="6350">
                    <a:noFill/>
                  </a:ln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系统集成</a:t>
              </a:r>
              <a:endParaRPr lang="zh-CN" altLang="en-US" sz="2800" b="1" spc="30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组合 21"/>
            <p:cNvGrpSpPr/>
            <p:nvPr>
              <p:custDataLst>
                <p:tags r:id="rId24"/>
              </p:custDataLst>
            </p:nvPr>
          </p:nvGrpSpPr>
          <p:grpSpPr>
            <a:xfrm>
              <a:off x="937" y="2706"/>
              <a:ext cx="5092" cy="5543"/>
              <a:chOff x="595148" y="1718063"/>
              <a:chExt cx="3233173" cy="3519835"/>
            </a:xfrm>
          </p:grpSpPr>
          <p:sp>
            <p:nvSpPr>
              <p:cNvPr id="1048625" name="矩形 4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95148" y="1718063"/>
                <a:ext cx="3233173" cy="3519835"/>
              </a:xfrm>
              <a:prstGeom prst="rect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0" tIns="0" rIns="0" bIns="0"/>
              <a:lstStyle/>
              <a:p>
                <a:endParaRPr lang="zh-CN" altLang="en-US" sz="1500" b="1" kern="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charset="-122"/>
                </a:endParaRPr>
              </a:p>
            </p:txBody>
          </p:sp>
          <p:grpSp>
            <p:nvGrpSpPr>
              <p:cNvPr id="45" name="组合 5"/>
              <p:cNvGrpSpPr/>
              <p:nvPr/>
            </p:nvGrpSpPr>
            <p:grpSpPr>
              <a:xfrm>
                <a:off x="675004" y="1824460"/>
                <a:ext cx="3032384" cy="3098816"/>
                <a:chOff x="448155" y="1132333"/>
                <a:chExt cx="3032384" cy="2833353"/>
              </a:xfrm>
            </p:grpSpPr>
            <p:sp>
              <p:nvSpPr>
                <p:cNvPr id="1048626" name="文本框 6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493069" y="1132333"/>
                  <a:ext cx="2983632" cy="45825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508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no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20000"/>
                    </a:lnSpc>
                    <a:defRPr sz="160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pPr lvl="0" eaLnBrk="1" fontAlgn="auto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</a:rPr>
                    <a:t>电化学阻抗谱快速测试</a:t>
                  </a:r>
                  <a:endPara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pic>
              <p:nvPicPr>
                <p:cNvPr id="2097162" name="图片 7"/>
                <p:cNvPicPr>
                  <a:picLocks noChangeAspect="1"/>
                </p:cNvPicPr>
                <p:nvPr>
                  <p:custDataLst>
                    <p:tags r:id="rId27"/>
                  </p:custDataLst>
                </p:nvPr>
              </p:nvPicPr>
              <p:blipFill>
                <a:blip r:embed="rId28" cstate="print"/>
                <a:stretch>
                  <a:fillRect/>
                </a:stretch>
              </p:blipFill>
              <p:spPr>
                <a:xfrm>
                  <a:off x="493069" y="1710084"/>
                  <a:ext cx="2983633" cy="1616134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249087">
                      <a:alpha val="40000"/>
                    </a:srgbClr>
                  </a:outerShdw>
                </a:effectLst>
              </p:spPr>
            </p:pic>
            <p:grpSp>
              <p:nvGrpSpPr>
                <p:cNvPr id="46" name="组合 8"/>
                <p:cNvGrpSpPr/>
                <p:nvPr/>
              </p:nvGrpSpPr>
              <p:grpSpPr>
                <a:xfrm>
                  <a:off x="448155" y="3507436"/>
                  <a:ext cx="3032384" cy="458250"/>
                  <a:chOff x="897906" y="3051129"/>
                  <a:chExt cx="3382220" cy="458250"/>
                </a:xfrm>
                <a:effectLst/>
              </p:grpSpPr>
              <p:sp>
                <p:nvSpPr>
                  <p:cNvPr id="1048627" name="圆角矩形 60"/>
                  <p:cNvSpPr/>
                  <p:nvPr>
                    <p:custDataLst>
                      <p:tags r:id="rId29"/>
                    </p:custDataLst>
                  </p:nvPr>
                </p:nvSpPr>
                <p:spPr bwMode="auto">
                  <a:xfrm>
                    <a:off x="948002" y="3051129"/>
                    <a:ext cx="3332124" cy="458250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525" cap="flat" cmpd="sng" algn="ctr">
                    <a:noFill/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4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33399"/>
                      </a:solidFill>
                      <a:effectLst/>
                      <a:uLnTx/>
                      <a:uFillTx/>
                      <a:latin typeface="+mn-ea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8628" name="矩形 10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897906" y="3084502"/>
                    <a:ext cx="3350513" cy="32319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110000"/>
                      </a:lnSpc>
                    </a:pPr>
                    <a:r>
                      <a:rPr lang="zh-CN" altLang="en-US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检测模块封装集成</a:t>
                    </a:r>
                    <a:endParaRPr lang="zh-CN" altLang="en-US" b="1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</p:grpSp>
      <p:sp>
        <p:nvSpPr>
          <p:cNvPr id="1048629" name="文本框 1"/>
          <p:cNvSpPr txBox="1"/>
          <p:nvPr/>
        </p:nvSpPr>
        <p:spPr>
          <a:xfrm>
            <a:off x="11852910" y="6513195"/>
            <a:ext cx="339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3</a:t>
            </a:r>
            <a:endParaRPr lang="en-US" altLang="zh-CN" sz="1200" b="1">
              <a:solidFill>
                <a:schemeClr val="bg1"/>
              </a:solidFill>
            </a:endParaRPr>
          </a:p>
        </p:txBody>
      </p:sp>
      <p:grpSp>
        <p:nvGrpSpPr>
          <p:cNvPr id="8196" name="组合 1"/>
          <p:cNvGrpSpPr/>
          <p:nvPr/>
        </p:nvGrpSpPr>
        <p:grpSpPr bwMode="auto">
          <a:xfrm>
            <a:off x="268288" y="103188"/>
            <a:ext cx="4747591" cy="601662"/>
            <a:chOff x="267858" y="102478"/>
            <a:chExt cx="3025443" cy="602574"/>
          </a:xfrm>
        </p:grpSpPr>
        <p:sp>
          <p:nvSpPr>
            <p:cNvPr id="3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02544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创新需求</a:t>
              </a: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sp>
        <p:nvSpPr>
          <p:cNvPr id="2" name="文本框 0"/>
          <p:cNvSpPr txBox="1"/>
          <p:nvPr/>
        </p:nvSpPr>
        <p:spPr>
          <a:xfrm>
            <a:off x="0" y="5993765"/>
            <a:ext cx="12192000" cy="76136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在实现</a:t>
            </a:r>
            <a:r>
              <a:rPr lang="zh-CN" altLang="en-US" sz="2800" b="1" dirty="0">
                <a:gradFill>
                  <a:gsLst>
                    <a:gs pos="0">
                      <a:srgbClr val="FDC7E9"/>
                    </a:gs>
                    <a:gs pos="100000">
                      <a:srgbClr val="0503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储能电池快速准确检测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同时兼顾</a:t>
            </a:r>
            <a:r>
              <a:rPr lang="zh-CN" altLang="en-US" sz="2800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小型化、轻量化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0" grpId="0" bldLvl="0" animBg="1"/>
      <p:bldP spid="1048611" grpId="0" bldLvl="0" animBg="1"/>
      <p:bldP spid="1048616" grpId="0"/>
      <p:bldP spid="1048617" grpId="0" bldLvl="0" animBg="1"/>
      <p:bldP spid="10486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矩形 65"/>
          <p:cNvSpPr>
            <a:spLocks noChangeArrowheads="1"/>
          </p:cNvSpPr>
          <p:nvPr/>
        </p:nvSpPr>
        <p:spPr bwMode="auto">
          <a:xfrm>
            <a:off x="55880" y="45085"/>
            <a:ext cx="8174990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 </a:t>
            </a:r>
            <a:r>
              <a:rPr lang="zh-CN" altLang="en-US" sz="2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项目总体概述</a:t>
            </a:r>
            <a:endParaRPr lang="zh-CN" altLang="en-US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0" name="矩形 21"/>
          <p:cNvSpPr/>
          <p:nvPr/>
        </p:nvSpPr>
        <p:spPr bwMode="auto">
          <a:xfrm>
            <a:off x="470414" y="2149671"/>
            <a:ext cx="4147686" cy="1629333"/>
          </a:xfrm>
          <a:prstGeom prst="rect">
            <a:avLst/>
          </a:prstGeom>
          <a:solidFill>
            <a:srgbClr val="FBB505">
              <a:alpha val="3000"/>
            </a:srgbClr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48651" name="矩形 8"/>
          <p:cNvSpPr/>
          <p:nvPr/>
        </p:nvSpPr>
        <p:spPr bwMode="auto">
          <a:xfrm>
            <a:off x="5179197" y="3941197"/>
            <a:ext cx="6474882" cy="1726817"/>
          </a:xfrm>
          <a:prstGeom prst="rect">
            <a:avLst/>
          </a:prstGeom>
          <a:solidFill>
            <a:srgbClr val="FBB505">
              <a:alpha val="3000"/>
            </a:srgbClr>
          </a:solidFill>
          <a:ln w="28575" cap="flat" cmpd="sng" algn="ctr">
            <a:solidFill>
              <a:srgbClr val="FBB505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48652" name="矩形 9"/>
          <p:cNvSpPr/>
          <p:nvPr/>
        </p:nvSpPr>
        <p:spPr bwMode="auto">
          <a:xfrm>
            <a:off x="468288" y="3945663"/>
            <a:ext cx="2713627" cy="1717886"/>
          </a:xfrm>
          <a:prstGeom prst="rect">
            <a:avLst/>
          </a:prstGeom>
          <a:solidFill>
            <a:srgbClr val="FBB505">
              <a:alpha val="3000"/>
            </a:srgbClr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defTabSz="914400"/>
            <a:endParaRPr lang="zh-CN" altLang="en-US" sz="44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48653" name="矩形 10"/>
          <p:cNvSpPr/>
          <p:nvPr/>
        </p:nvSpPr>
        <p:spPr bwMode="auto">
          <a:xfrm>
            <a:off x="3284210" y="3945664"/>
            <a:ext cx="1333890" cy="1725470"/>
          </a:xfrm>
          <a:prstGeom prst="rect">
            <a:avLst/>
          </a:prstGeom>
          <a:solidFill>
            <a:srgbClr val="FBB505">
              <a:alpha val="3000"/>
            </a:srgbClr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defTabSz="914400"/>
            <a:endParaRPr lang="zh-CN" altLang="en-US" sz="4400" dirty="0">
              <a:solidFill>
                <a:srgbClr val="FFC00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48654" name="文本框 11"/>
          <p:cNvSpPr txBox="1"/>
          <p:nvPr/>
        </p:nvSpPr>
        <p:spPr>
          <a:xfrm>
            <a:off x="55880" y="786130"/>
            <a:ext cx="120637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本项目将电池的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电化学阻抗测试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装置集成，在解决了针对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储能电池早期故障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常规手段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难检测、检测慢、检测不准等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问题的基础上，提出了储能电池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集成化、小型化、便携式快速精确检测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的解决方案。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655" name="文本框 12" descr="7b0a202020202262756c6c6574223a20227b5c2263617465676f727949645c223a5c225c222c5c2274656d706c61746549645c223a32303233313536337d220a7d0a"/>
          <p:cNvSpPr txBox="1"/>
          <p:nvPr/>
        </p:nvSpPr>
        <p:spPr>
          <a:xfrm>
            <a:off x="467995" y="1718310"/>
            <a:ext cx="43948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 kern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电池检测常规手段</a:t>
            </a:r>
            <a:r>
              <a:rPr lang="en-US" altLang="zh-CN" sz="2000" b="1" dirty="0">
                <a:solidFill>
                  <a:schemeClr val="tx1"/>
                </a:solidFill>
              </a:rPr>
              <a:t>—</a:t>
            </a:r>
            <a:r>
              <a:rPr lang="zh-CN" altLang="en-US" sz="2000" b="1" dirty="0">
                <a:solidFill>
                  <a:schemeClr val="tx1"/>
                </a:solidFill>
              </a:rPr>
              <a:t>电化学工作站</a:t>
            </a:r>
            <a:endParaRPr kumimoji="0" lang="zh-CN" altLang="en-US" sz="20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048656" name="文本框 13"/>
          <p:cNvSpPr txBox="1"/>
          <p:nvPr/>
        </p:nvSpPr>
        <p:spPr>
          <a:xfrm>
            <a:off x="490338" y="5277739"/>
            <a:ext cx="132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PARSTAT</a:t>
            </a:r>
            <a:endParaRPr lang="zh-CN" altLang="en-US" b="1" dirty="0"/>
          </a:p>
        </p:txBody>
      </p:sp>
      <p:sp>
        <p:nvSpPr>
          <p:cNvPr id="1048657" name="文本框 14"/>
          <p:cNvSpPr txBox="1"/>
          <p:nvPr/>
        </p:nvSpPr>
        <p:spPr>
          <a:xfrm>
            <a:off x="1817194" y="5301801"/>
            <a:ext cx="132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微通道板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58" name="文本框 15"/>
          <p:cNvSpPr txBox="1"/>
          <p:nvPr/>
        </p:nvSpPr>
        <p:spPr>
          <a:xfrm>
            <a:off x="3290592" y="5301801"/>
            <a:ext cx="133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三电极系统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67" name="图片 16"/>
          <p:cNvPicPr>
            <a:picLocks noChangeAspect="1"/>
          </p:cNvPicPr>
          <p:nvPr/>
        </p:nvPicPr>
        <p:blipFill rotWithShape="1">
          <a:blip r:embed="rId2"/>
          <a:srcRect t="10550" r="-581"/>
          <a:stretch>
            <a:fillRect/>
          </a:stretch>
        </p:blipFill>
        <p:spPr>
          <a:xfrm>
            <a:off x="1309222" y="2179796"/>
            <a:ext cx="3308878" cy="1559574"/>
          </a:xfrm>
          <a:prstGeom prst="rect">
            <a:avLst/>
          </a:prstGeom>
        </p:spPr>
      </p:pic>
      <p:pic>
        <p:nvPicPr>
          <p:cNvPr id="2097168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2959" y="3998893"/>
            <a:ext cx="1321390" cy="1272067"/>
          </a:xfrm>
          <a:prstGeom prst="rect">
            <a:avLst/>
          </a:prstGeom>
        </p:spPr>
      </p:pic>
      <p:pic>
        <p:nvPicPr>
          <p:cNvPr id="2097169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04352" y="4196799"/>
            <a:ext cx="1093605" cy="1016861"/>
          </a:xfrm>
          <a:prstGeom prst="rect">
            <a:avLst/>
          </a:prstGeom>
        </p:spPr>
      </p:pic>
      <p:pic>
        <p:nvPicPr>
          <p:cNvPr id="2097170" name="图片 2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4660" y="4004947"/>
            <a:ext cx="1324741" cy="1290799"/>
          </a:xfrm>
          <a:prstGeom prst="rect">
            <a:avLst/>
          </a:prstGeom>
        </p:spPr>
      </p:pic>
      <p:sp>
        <p:nvSpPr>
          <p:cNvPr id="1048659" name="文本框 24" descr="7b0a202020202262756c6c6574223a20227b5c2263617465676f727949645c223a5c225c222c5c2274656d706c61746549645c223a32303233313439347d220a7d0a"/>
          <p:cNvSpPr txBox="1"/>
          <p:nvPr/>
        </p:nvSpPr>
        <p:spPr>
          <a:xfrm>
            <a:off x="5177155" y="1722120"/>
            <a:ext cx="6301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 kern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marR="0" lvl="0" indent="-34290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2000" b="1" dirty="0">
                <a:solidFill>
                  <a:schemeClr val="accent1"/>
                </a:solidFill>
              </a:rPr>
              <a:t>基于电化学阻抗谱的储能电池高精度快速检测系统</a:t>
            </a:r>
            <a:endParaRPr kumimoji="0" lang="zh-CN" altLang="en-US" sz="2000" b="1" i="0" u="none" strike="noStrike" kern="1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1048660" name="矩形 25"/>
          <p:cNvSpPr/>
          <p:nvPr/>
        </p:nvSpPr>
        <p:spPr bwMode="auto">
          <a:xfrm>
            <a:off x="5176841" y="2142558"/>
            <a:ext cx="6477239" cy="1636446"/>
          </a:xfrm>
          <a:prstGeom prst="rect">
            <a:avLst/>
          </a:prstGeom>
          <a:solidFill>
            <a:srgbClr val="FBB505">
              <a:alpha val="3000"/>
            </a:srgbClr>
          </a:solidFill>
          <a:ln w="28575" cap="flat" cmpd="sng" algn="ctr">
            <a:solidFill>
              <a:srgbClr val="FBB505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  <a:ea typeface="黑体" panose="02010609060101010101" charset="-122"/>
            </a:endParaRPr>
          </a:p>
        </p:txBody>
      </p:sp>
      <p:cxnSp>
        <p:nvCxnSpPr>
          <p:cNvPr id="3145729" name="直接箭头连接符 26"/>
          <p:cNvCxnSpPr/>
          <p:nvPr/>
        </p:nvCxnSpPr>
        <p:spPr>
          <a:xfrm flipH="1">
            <a:off x="8547538" y="4795885"/>
            <a:ext cx="340523" cy="0"/>
          </a:xfrm>
          <a:prstGeom prst="straightConnector1">
            <a:avLst/>
          </a:prstGeom>
          <a:ln w="57150">
            <a:solidFill>
              <a:srgbClr val="4063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1" name="TextBox 1"/>
          <p:cNvSpPr txBox="1">
            <a:spLocks noChangeArrowheads="1"/>
          </p:cNvSpPr>
          <p:nvPr/>
        </p:nvSpPr>
        <p:spPr bwMode="auto">
          <a:xfrm>
            <a:off x="6296917" y="5363073"/>
            <a:ext cx="1117533" cy="2374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集成结果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28"/>
          <p:cNvGrpSpPr/>
          <p:nvPr/>
        </p:nvGrpSpPr>
        <p:grpSpPr>
          <a:xfrm>
            <a:off x="5248720" y="4081444"/>
            <a:ext cx="3212822" cy="1192667"/>
            <a:chOff x="5248720" y="4453288"/>
            <a:chExt cx="3212822" cy="1192667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pic>
          <p:nvPicPr>
            <p:cNvPr id="2097171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875285" y="4453288"/>
              <a:ext cx="1586257" cy="11926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172" name="图片 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48720" y="4453288"/>
              <a:ext cx="1590003" cy="1192667"/>
            </a:xfrm>
            <a:prstGeom prst="rect">
              <a:avLst/>
            </a:prstGeom>
          </p:spPr>
        </p:pic>
      </p:grpSp>
      <p:pic>
        <p:nvPicPr>
          <p:cNvPr id="2097173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087" y="4039121"/>
            <a:ext cx="2502446" cy="1530968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048662" name="文本框 32"/>
          <p:cNvSpPr txBox="1"/>
          <p:nvPr/>
        </p:nvSpPr>
        <p:spPr>
          <a:xfrm>
            <a:off x="449767" y="4611219"/>
            <a:ext cx="2739268" cy="36933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bg2">
                  <a:lumMod val="75000"/>
                  <a:shade val="67500"/>
                  <a:satMod val="115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E44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尺寸大</a:t>
            </a:r>
            <a:r>
              <a:rPr lang="en-US" altLang="zh-CN" b="1" dirty="0">
                <a:solidFill>
                  <a:srgbClr val="E44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solidFill>
                  <a:srgbClr val="E44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成本高</a:t>
            </a:r>
            <a:endParaRPr lang="zh-CN" altLang="en-US" b="1" dirty="0">
              <a:solidFill>
                <a:srgbClr val="E44C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3" name="文本框 33"/>
          <p:cNvSpPr txBox="1"/>
          <p:nvPr/>
        </p:nvSpPr>
        <p:spPr>
          <a:xfrm>
            <a:off x="3281108" y="4611219"/>
            <a:ext cx="1352881" cy="36933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bg2">
                  <a:lumMod val="75000"/>
                  <a:shade val="67500"/>
                  <a:satMod val="115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E44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扫频测量</a:t>
            </a:r>
            <a:endParaRPr lang="zh-CN" altLang="en-US" b="1" dirty="0">
              <a:solidFill>
                <a:srgbClr val="E44C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组合 34"/>
          <p:cNvGrpSpPr/>
          <p:nvPr/>
        </p:nvGrpSpPr>
        <p:grpSpPr>
          <a:xfrm>
            <a:off x="5169282" y="2336902"/>
            <a:ext cx="6473370" cy="1405666"/>
            <a:chOff x="5169282" y="2665886"/>
            <a:chExt cx="6473370" cy="1405666"/>
          </a:xfrm>
        </p:grpSpPr>
        <p:grpSp>
          <p:nvGrpSpPr>
            <p:cNvPr id="65" name="组合 35"/>
            <p:cNvGrpSpPr/>
            <p:nvPr/>
          </p:nvGrpSpPr>
          <p:grpSpPr>
            <a:xfrm>
              <a:off x="5169282" y="2668301"/>
              <a:ext cx="1235767" cy="1400194"/>
              <a:chOff x="5100702" y="2653061"/>
              <a:chExt cx="1235767" cy="1400194"/>
            </a:xfrm>
          </p:grpSpPr>
          <p:sp>
            <p:nvSpPr>
              <p:cNvPr id="1048664" name="文本框 46"/>
              <p:cNvSpPr txBox="1"/>
              <p:nvPr/>
            </p:nvSpPr>
            <p:spPr>
              <a:xfrm>
                <a:off x="5100702" y="3683923"/>
                <a:ext cx="1235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电池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097174" name="图片 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46857" y="2653061"/>
                <a:ext cx="943455" cy="1018829"/>
              </a:xfrm>
              <a:prstGeom prst="rect">
                <a:avLst/>
              </a:prstGeom>
              <a:solidFill>
                <a:srgbClr val="1D67AF"/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</p:grpSp>
        <p:cxnSp>
          <p:nvCxnSpPr>
            <p:cNvPr id="3145730" name="直接箭头连接符 36"/>
            <p:cNvCxnSpPr/>
            <p:nvPr/>
          </p:nvCxnSpPr>
          <p:spPr>
            <a:xfrm>
              <a:off x="6336766" y="3199783"/>
              <a:ext cx="385945" cy="0"/>
            </a:xfrm>
            <a:prstGeom prst="straightConnector1">
              <a:avLst/>
            </a:prstGeom>
            <a:ln w="57150">
              <a:solidFill>
                <a:srgbClr val="40632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直接箭头连接符 37"/>
            <p:cNvCxnSpPr/>
            <p:nvPr/>
          </p:nvCxnSpPr>
          <p:spPr>
            <a:xfrm>
              <a:off x="9633857" y="3199783"/>
              <a:ext cx="385945" cy="0"/>
            </a:xfrm>
            <a:prstGeom prst="straightConnector1">
              <a:avLst/>
            </a:prstGeom>
            <a:ln w="57150">
              <a:solidFill>
                <a:srgbClr val="40632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38"/>
            <p:cNvGrpSpPr/>
            <p:nvPr/>
          </p:nvGrpSpPr>
          <p:grpSpPr>
            <a:xfrm>
              <a:off x="6756020" y="2670398"/>
              <a:ext cx="2804441" cy="1398097"/>
              <a:chOff x="6687440" y="2655158"/>
              <a:chExt cx="2804441" cy="1398097"/>
            </a:xfrm>
          </p:grpSpPr>
          <p:sp>
            <p:nvSpPr>
              <p:cNvPr id="1048665" name="文本框 42"/>
              <p:cNvSpPr txBox="1"/>
              <p:nvPr/>
            </p:nvSpPr>
            <p:spPr>
              <a:xfrm>
                <a:off x="7194342" y="3683923"/>
                <a:ext cx="17749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DDS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扰动注入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" name="组合 43"/>
              <p:cNvGrpSpPr/>
              <p:nvPr/>
            </p:nvGrpSpPr>
            <p:grpSpPr>
              <a:xfrm>
                <a:off x="6687440" y="2655158"/>
                <a:ext cx="2804441" cy="1018829"/>
                <a:chOff x="12769106" y="2963353"/>
                <a:chExt cx="4605739" cy="1673225"/>
              </a:xfrm>
            </p:grpSpPr>
            <p:pic>
              <p:nvPicPr>
                <p:cNvPr id="2097175" name="Picture 1"/>
                <p:cNvPicPr>
                  <a:picLocks noChangeAspect="1" noChangeArrowheads="1"/>
                </p:cNvPicPr>
                <p:nvPr/>
              </p:nvPicPr>
              <p:blipFill>
                <a:blip r:embed="rId10" cstate="print"/>
                <a:srcRect l="1952" t="1556" r="1219" b="3078"/>
                <a:stretch>
                  <a:fillRect/>
                </a:stretch>
              </p:blipFill>
              <p:spPr bwMode="auto">
                <a:xfrm>
                  <a:off x="12769106" y="2963353"/>
                  <a:ext cx="2268538" cy="1673225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pic>
              <p:nvPicPr>
                <p:cNvPr id="2097176" name="Picture 3"/>
                <p:cNvPicPr>
                  <a:picLocks noChangeAspect="1" noChangeArrowheads="1"/>
                </p:cNvPicPr>
                <p:nvPr/>
              </p:nvPicPr>
              <p:blipFill>
                <a:blip r:embed="rId11" cstate="print"/>
                <a:srcRect l="29811" t="32054" r="31802" b="31303"/>
                <a:stretch>
                  <a:fillRect/>
                </a:stretch>
              </p:blipFill>
              <p:spPr bwMode="auto">
                <a:xfrm>
                  <a:off x="15041136" y="2963353"/>
                  <a:ext cx="2333709" cy="1673225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</p:grpSp>
        </p:grpSp>
        <p:grpSp>
          <p:nvGrpSpPr>
            <p:cNvPr id="68" name="组合 39"/>
            <p:cNvGrpSpPr/>
            <p:nvPr/>
          </p:nvGrpSpPr>
          <p:grpSpPr>
            <a:xfrm>
              <a:off x="10049392" y="2665886"/>
              <a:ext cx="1593260" cy="1405666"/>
              <a:chOff x="10194172" y="2650646"/>
              <a:chExt cx="1593260" cy="1405666"/>
            </a:xfrm>
          </p:grpSpPr>
          <p:sp>
            <p:nvSpPr>
              <p:cNvPr id="1048666" name="文本框 40"/>
              <p:cNvSpPr txBox="1"/>
              <p:nvPr/>
            </p:nvSpPr>
            <p:spPr>
              <a:xfrm>
                <a:off x="10194172" y="3686980"/>
                <a:ext cx="15932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电化学阻抗谱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097177" name="Picture 4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10287014" y="2650646"/>
                <a:ext cx="1304616" cy="1021244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</p:grpSp>
      </p:grpSp>
      <p:sp>
        <p:nvSpPr>
          <p:cNvPr id="1048667" name="文本框 48"/>
          <p:cNvSpPr txBox="1"/>
          <p:nvPr/>
        </p:nvSpPr>
        <p:spPr>
          <a:xfrm>
            <a:off x="5184061" y="2674126"/>
            <a:ext cx="6484797" cy="5847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易于集成 实时监测</a:t>
            </a:r>
            <a:endParaRPr lang="en-US" altLang="zh-CN" sz="3200" b="1" dirty="0">
              <a:solidFill>
                <a:srgbClr val="FEA4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8" name="文本框 49"/>
          <p:cNvSpPr txBox="1"/>
          <p:nvPr/>
        </p:nvSpPr>
        <p:spPr>
          <a:xfrm>
            <a:off x="5176841" y="4609339"/>
            <a:ext cx="6484797" cy="3683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75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轻便廉价，实现单体</a:t>
            </a:r>
            <a:r>
              <a:rPr lang="en-US" altLang="zh-CN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集成储能电池快速准确检测</a:t>
            </a:r>
            <a:endParaRPr lang="zh-CN" altLang="en-US" b="1" dirty="0">
              <a:solidFill>
                <a:srgbClr val="FEA4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0" name="文本框 22"/>
          <p:cNvSpPr txBox="1"/>
          <p:nvPr/>
        </p:nvSpPr>
        <p:spPr>
          <a:xfrm>
            <a:off x="663761" y="2363193"/>
            <a:ext cx="474191" cy="11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1" name="文本框 23"/>
          <p:cNvSpPr txBox="1"/>
          <p:nvPr/>
        </p:nvSpPr>
        <p:spPr>
          <a:xfrm>
            <a:off x="463322" y="2671668"/>
            <a:ext cx="4170667" cy="5847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bg2">
                  <a:lumMod val="75000"/>
                  <a:shade val="67500"/>
                  <a:satMod val="115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E44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频率范围固定</a:t>
            </a:r>
            <a:endParaRPr lang="zh-CN" altLang="en-US" sz="3200" b="1" dirty="0">
              <a:solidFill>
                <a:srgbClr val="E44C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2" name="圆角矩形 3"/>
          <p:cNvSpPr/>
          <p:nvPr/>
        </p:nvSpPr>
        <p:spPr>
          <a:xfrm>
            <a:off x="23495" y="815340"/>
            <a:ext cx="12121515" cy="84645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73" name="文本框 1"/>
          <p:cNvSpPr txBox="1"/>
          <p:nvPr/>
        </p:nvSpPr>
        <p:spPr>
          <a:xfrm>
            <a:off x="11852910" y="6513195"/>
            <a:ext cx="339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4</a:t>
            </a:r>
            <a:endParaRPr lang="en-US" altLang="zh-CN" sz="1200" b="1">
              <a:solidFill>
                <a:schemeClr val="bg1"/>
              </a:solidFill>
            </a:endParaRPr>
          </a:p>
        </p:txBody>
      </p:sp>
      <p:sp>
        <p:nvSpPr>
          <p:cNvPr id="1048674" name="矩形 2"/>
          <p:cNvSpPr/>
          <p:nvPr/>
        </p:nvSpPr>
        <p:spPr bwMode="auto">
          <a:xfrm>
            <a:off x="135192" y="657012"/>
            <a:ext cx="4748213" cy="45719"/>
          </a:xfrm>
          <a:prstGeom prst="rect">
            <a:avLst/>
          </a:prstGeom>
          <a:gradFill flip="none" rotWithShape="1">
            <a:gsLst>
              <a:gs pos="4000">
                <a:schemeClr val="bg1"/>
              </a:gs>
              <a:gs pos="72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rgbClr val="1B69B4"/>
              </a:solidFill>
            </a:endParaRPr>
          </a:p>
        </p:txBody>
      </p:sp>
      <p:grpSp>
        <p:nvGrpSpPr>
          <p:cNvPr id="8196" name="组合 1"/>
          <p:cNvGrpSpPr/>
          <p:nvPr/>
        </p:nvGrpSpPr>
        <p:grpSpPr bwMode="auto">
          <a:xfrm>
            <a:off x="268288" y="103188"/>
            <a:ext cx="4747591" cy="891540"/>
            <a:chOff x="267858" y="102478"/>
            <a:chExt cx="3025443" cy="892891"/>
          </a:xfrm>
        </p:grpSpPr>
        <p:sp>
          <p:nvSpPr>
            <p:cNvPr id="3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025443" cy="8928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实施方案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项目总体概述</a:t>
              </a: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sp>
        <p:nvSpPr>
          <p:cNvPr id="2" name="文本框 0"/>
          <p:cNvSpPr txBox="1"/>
          <p:nvPr/>
        </p:nvSpPr>
        <p:spPr>
          <a:xfrm>
            <a:off x="0" y="6027420"/>
            <a:ext cx="12192000" cy="76136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zh-CN" altLang="en-US" sz="2400" b="1" spc="300" dirty="0">
                <a:ln w="635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基于电化学阻抗谱的</a:t>
            </a:r>
            <a:r>
              <a:rPr lang="zh-CN" altLang="en-US" sz="2400" b="1" spc="300" dirty="0">
                <a:ln w="6350">
                  <a:noFill/>
                </a:ln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高精度快速检测系统</a:t>
            </a:r>
            <a:r>
              <a:rPr lang="zh-CN" altLang="en-US" sz="2400" b="1" spc="300" dirty="0">
                <a:ln w="635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提供了解决</a:t>
            </a:r>
            <a:r>
              <a:rPr lang="zh-CN" altLang="en-US" sz="2400" b="1" spc="300" dirty="0">
                <a:ln w="6350">
                  <a:noFill/>
                </a:ln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储能电池检测</a:t>
            </a:r>
            <a:r>
              <a:rPr lang="zh-CN" altLang="en-US" sz="2400" b="1" spc="300" dirty="0">
                <a:ln w="635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的成熟</a:t>
            </a:r>
            <a:r>
              <a:rPr lang="zh-CN" altLang="en-US" sz="2400" b="1" spc="300" dirty="0">
                <a:ln w="6350">
                  <a:noFill/>
                </a:ln>
                <a:solidFill>
                  <a:srgbClr val="FEA40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</a:t>
            </a:r>
            <a:endParaRPr lang="zh-CN" altLang="en-US" sz="2400" b="1" spc="300" dirty="0">
              <a:ln w="6350">
                <a:noFill/>
              </a:ln>
              <a:solidFill>
                <a:srgbClr val="FEA40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9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4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500"/>
                                        <p:tgtEl>
                                          <p:spTgt spid="209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500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8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500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5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48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4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48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0" grpId="0" bldLvl="0" animBg="1"/>
      <p:bldP spid="1048651" grpId="0" bldLvl="0" animBg="1"/>
      <p:bldP spid="1048652" grpId="0" bldLvl="0" animBg="1"/>
      <p:bldP spid="1048653" grpId="0" bldLvl="0" animBg="1"/>
      <p:bldP spid="1048654" grpId="0"/>
      <p:bldP spid="1048655" grpId="0"/>
      <p:bldP spid="1048656" grpId="0"/>
      <p:bldP spid="1048657" grpId="0"/>
      <p:bldP spid="1048658" grpId="0"/>
      <p:bldP spid="1048659" grpId="0"/>
      <p:bldP spid="1048660" grpId="0" bldLvl="0" animBg="1"/>
      <p:bldP spid="1048661" grpId="0"/>
      <p:bldP spid="1048662" grpId="0" bldLvl="0" animBg="1"/>
      <p:bldP spid="1048663" grpId="0" bldLvl="0" animBg="1"/>
      <p:bldP spid="1048667" grpId="0" bldLvl="0" animBg="1"/>
      <p:bldP spid="1048668" grpId="0" bldLvl="0" animBg="1"/>
      <p:bldP spid="1048670" grpId="0"/>
      <p:bldP spid="1048671" grpId="0" bldLvl="0" animBg="1"/>
      <p:bldP spid="104867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330" y="1003935"/>
            <a:ext cx="11468100" cy="5744845"/>
          </a:xfrm>
          <a:prstGeom prst="rect">
            <a:avLst/>
          </a:prstGeom>
          <a:noFill/>
          <a:ln w="38100">
            <a:solidFill>
              <a:srgbClr val="1B69B4"/>
            </a:solidFill>
            <a:prstDash val="dash"/>
          </a:ln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 bwMode="auto">
          <a:xfrm>
            <a:off x="370657" y="659200"/>
            <a:ext cx="4164223" cy="4565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000">
                <a:srgbClr val="1B69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1B69B4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637321" y="5877187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电化学阻抗谱</a:t>
            </a:r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测试平台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1199808" y="5877146"/>
            <a:ext cx="311481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</a:t>
            </a:r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充放电</a:t>
            </a:r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实验平台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 descr="C:\Users\dell\Documents\Tencent Files\530222348\Image\C2C\530222348-1684691661-CD54DDA70982D501D8A9DECB4EB52BD2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" y="1442085"/>
            <a:ext cx="5259705" cy="397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390" y="1442720"/>
            <a:ext cx="5300345" cy="3973830"/>
          </a:xfrm>
          <a:prstGeom prst="rect">
            <a:avLst/>
          </a:prstGeom>
          <a:noFill/>
        </p:spPr>
      </p:pic>
      <p:sp>
        <p:nvSpPr>
          <p:cNvPr id="29" name="矩形: 圆角 28"/>
          <p:cNvSpPr/>
          <p:nvPr/>
        </p:nvSpPr>
        <p:spPr>
          <a:xfrm>
            <a:off x="5037399" y="836969"/>
            <a:ext cx="2117203" cy="341202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实验设备与平台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65"/>
          <p:cNvSpPr>
            <a:spLocks noChangeArrowheads="1"/>
          </p:cNvSpPr>
          <p:nvPr/>
        </p:nvSpPr>
        <p:spPr bwMode="auto">
          <a:xfrm>
            <a:off x="268288" y="103188"/>
            <a:ext cx="7051848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研究基础 </a:t>
            </a:r>
            <a:r>
              <a: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离线实验平台构建</a:t>
            </a:r>
            <a:endParaRPr lang="zh-CN" altLang="en-US" b="1" spc="300" dirty="0">
              <a:ln w="6350">
                <a:noFill/>
              </a:ln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370657" y="659200"/>
            <a:ext cx="4164223" cy="4565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000">
                <a:srgbClr val="1B69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1B69B4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9470" y="4365625"/>
            <a:ext cx="4241800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实验样品选用松下公司的</a:t>
            </a:r>
            <a:r>
              <a:rPr lang="en-US" altLang="zh-CN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NCR18650GA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</a:t>
            </a:r>
            <a:endParaRPr lang="en-US" altLang="zh-CN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电池标称容量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3300mAh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，充电截止电压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4.20V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，放电截止电压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2.50V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，最大持续放电电流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10A</a:t>
            </a:r>
            <a:endParaRPr lang="zh-CN" altLang="en-US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1429" y="3717154"/>
            <a:ext cx="19463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NCR18650GA</a:t>
            </a:r>
            <a:r>
              <a:rPr lang="zh-CN" altLang="en-US" sz="14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锂电池</a:t>
            </a:r>
            <a:endParaRPr lang="zh-CN" altLang="en-US" sz="14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7" t="3022" r="8744"/>
          <a:stretch>
            <a:fillRect/>
          </a:stretch>
        </p:blipFill>
        <p:spPr>
          <a:xfrm>
            <a:off x="767656" y="1622474"/>
            <a:ext cx="1800000" cy="1699597"/>
          </a:xfrm>
          <a:prstGeom prst="rect">
            <a:avLst/>
          </a:prstGeom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</p:pic>
      <p:sp>
        <p:nvSpPr>
          <p:cNvPr id="17" name="矩形 16"/>
          <p:cNvSpPr/>
          <p:nvPr/>
        </p:nvSpPr>
        <p:spPr>
          <a:xfrm>
            <a:off x="7392069" y="1608228"/>
            <a:ext cx="272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</a:t>
            </a:r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一致性筛选</a:t>
            </a:r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预实验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72" b="17636"/>
          <a:stretch>
            <a:fillRect/>
          </a:stretch>
        </p:blipFill>
        <p:spPr>
          <a:xfrm>
            <a:off x="3143885" y="1608455"/>
            <a:ext cx="1865630" cy="1713865"/>
          </a:xfrm>
          <a:prstGeom prst="rect">
            <a:avLst/>
          </a:prstGeom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45" y="2132965"/>
            <a:ext cx="2103120" cy="3705225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205740" y="1002030"/>
            <a:ext cx="11706860" cy="5744845"/>
          </a:xfrm>
          <a:prstGeom prst="rect">
            <a:avLst/>
          </a:prstGeom>
          <a:noFill/>
          <a:ln w="38100">
            <a:solidFill>
              <a:srgbClr val="1B69B4"/>
            </a:solidFill>
            <a:prstDash val="dash"/>
          </a:ln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/>
        </p:nvSpPr>
        <p:spPr>
          <a:xfrm>
            <a:off x="4513925" y="835064"/>
            <a:ext cx="3130475" cy="341202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主体实验对象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65"/>
          <p:cNvSpPr>
            <a:spLocks noChangeArrowheads="1"/>
          </p:cNvSpPr>
          <p:nvPr/>
        </p:nvSpPr>
        <p:spPr bwMode="auto">
          <a:xfrm>
            <a:off x="268288" y="103188"/>
            <a:ext cx="7051848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研究基础 </a:t>
            </a:r>
            <a:r>
              <a: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离线实验平台构建</a:t>
            </a:r>
            <a:endParaRPr lang="zh-CN" altLang="en-US" b="1" spc="300" dirty="0">
              <a:ln w="6350">
                <a:noFill/>
              </a:ln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40370" y="2565400"/>
            <a:ext cx="3872865" cy="2451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首先以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0.5C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倍率恒流放电至电压下限，随后静置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小时</a:t>
            </a:r>
            <a:endParaRPr lang="zh-CN" altLang="en-US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接着进行充电阶段，先以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0.5C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恒流充电至电压上限，再转为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4.2V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恒压充电直至电流衰减至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0.05C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以下，并再次静置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小时</a:t>
            </a:r>
            <a:endParaRPr lang="zh-CN" altLang="en-US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以上充放电过程重复进行，当循环次数达到或超过</a:t>
            </a:r>
            <a:r>
              <a:rPr lang="en-US" altLang="zh-CN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次后，测试结束</a:t>
            </a:r>
            <a:endParaRPr lang="zh-CN" altLang="en-US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370657" y="659200"/>
            <a:ext cx="4164223" cy="4565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000">
                <a:srgbClr val="1B69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1B69B4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66065" y="1005840"/>
            <a:ext cx="11684000" cy="5744845"/>
          </a:xfrm>
          <a:prstGeom prst="rect">
            <a:avLst/>
          </a:prstGeom>
          <a:noFill/>
          <a:ln w="38100">
            <a:solidFill>
              <a:srgbClr val="1B69B4"/>
            </a:solidFill>
            <a:prstDash val="dash"/>
          </a:ln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4883710" y="836769"/>
            <a:ext cx="2424580" cy="341202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478790" y="2780665"/>
          <a:ext cx="3829685" cy="2758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5474970" imgH="2854960" progId="Visio.Drawing.15">
                  <p:embed/>
                </p:oleObj>
              </mc:Choice>
              <mc:Fallback>
                <p:oleObj name="Visio" r:id="rId1" imgW="5474970" imgH="2854960" progId="Visio.Drawing.15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" y="2780665"/>
                        <a:ext cx="3829685" cy="2758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439285" y="2924810"/>
          <a:ext cx="4240530" cy="2456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Visio" r:id="rId3" imgW="3616960" imgH="2098040" progId="Visio.Drawing.15">
                  <p:embed/>
                </p:oleObj>
              </mc:Choice>
              <mc:Fallback>
                <p:oleObj name="Visio" r:id="rId3" imgW="3616960" imgH="2098040" progId="Visio.Drawing.15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285" y="2924810"/>
                        <a:ext cx="4240530" cy="2456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838527" y="1988770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循环老化实验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9346" y="2034158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阻抗特性测定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2" name="图片 41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25" y="3140710"/>
            <a:ext cx="2697480" cy="212344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</p:pic>
      <p:sp>
        <p:nvSpPr>
          <p:cNvPr id="43" name="矩形 42"/>
          <p:cNvSpPr/>
          <p:nvPr/>
        </p:nvSpPr>
        <p:spPr>
          <a:xfrm>
            <a:off x="9180195" y="1725930"/>
            <a:ext cx="244856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</a:t>
            </a:r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充放电</a:t>
            </a:r>
            <a:endParaRPr lang="en-US" altLang="zh-CN" sz="20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r>
              <a:rPr lang="zh-CN" altLang="en-US" sz="20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电压电流曲线示意图</a:t>
            </a:r>
            <a:endParaRPr lang="zh-CN" altLang="en-US" sz="20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65"/>
          <p:cNvSpPr>
            <a:spLocks noChangeArrowheads="1"/>
          </p:cNvSpPr>
          <p:nvPr/>
        </p:nvSpPr>
        <p:spPr bwMode="auto">
          <a:xfrm>
            <a:off x="268288" y="103188"/>
            <a:ext cx="7051848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研究基础 </a:t>
            </a:r>
            <a:r>
              <a: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离线实验平台构建</a:t>
            </a:r>
            <a:endParaRPr lang="zh-CN" altLang="en-US" b="1" spc="300" dirty="0">
              <a:ln w="6350">
                <a:noFill/>
              </a:ln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组合 1"/>
          <p:cNvGrpSpPr/>
          <p:nvPr/>
        </p:nvGrpSpPr>
        <p:grpSpPr bwMode="auto">
          <a:xfrm>
            <a:off x="268288" y="103188"/>
            <a:ext cx="5395664" cy="601662"/>
            <a:chOff x="267858" y="102478"/>
            <a:chExt cx="3438433" cy="602574"/>
          </a:xfrm>
        </p:grpSpPr>
        <p:sp>
          <p:nvSpPr>
            <p:cNvPr id="3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43843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08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研究基础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离线实验平台构建</a:t>
              </a:r>
              <a:endPara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376" y="195720"/>
            <a:ext cx="2514152" cy="67329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8288" y="815635"/>
            <a:ext cx="9860160" cy="65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实验样品扩展至松下公司的</a:t>
            </a:r>
            <a:r>
              <a:rPr lang="en-US" altLang="zh-CN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NCR18650GA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三元锂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电池、</a:t>
            </a:r>
            <a:r>
              <a:rPr lang="en-US" altLang="zh-CN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LF32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磷酸铁锂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电池、</a:t>
            </a:r>
            <a:r>
              <a:rPr lang="en-US" altLang="zh-CN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LC-P220ST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铅酸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电池</a:t>
            </a:r>
            <a:endParaRPr lang="en-US" altLang="zh-CN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Clr>
                <a:srgbClr val="1B69B4"/>
              </a:buClr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恒温环境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准确测试，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宽频带阻抗检测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获取丰富信息，</a:t>
            </a:r>
            <a:r>
              <a:rPr lang="zh-CN" altLang="en-US" sz="16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数据融合与分析</a:t>
            </a:r>
            <a:r>
              <a:rPr lang="zh-CN" altLang="en-US" sz="1600" b="1" dirty="0"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实现电池状态评估等多种监测技术</a:t>
            </a:r>
            <a:endParaRPr lang="en-US" altLang="zh-CN" sz="1600" b="1" dirty="0">
              <a:solidFill>
                <a:srgbClr val="1B69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539895"/>
            <a:ext cx="8640960" cy="471401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885" y="1512695"/>
            <a:ext cx="2633883" cy="4796625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>
          <a:xfrm>
            <a:off x="8989787" y="2043950"/>
            <a:ext cx="274565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/>
          <p:cNvSpPr/>
          <p:nvPr/>
        </p:nvSpPr>
        <p:spPr>
          <a:xfrm>
            <a:off x="8989787" y="3192082"/>
            <a:ext cx="274565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/>
          <p:cNvSpPr/>
          <p:nvPr/>
        </p:nvSpPr>
        <p:spPr>
          <a:xfrm>
            <a:off x="8989786" y="4340481"/>
            <a:ext cx="274565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/>
          <p:cNvSpPr/>
          <p:nvPr/>
        </p:nvSpPr>
        <p:spPr>
          <a:xfrm>
            <a:off x="8989786" y="5489444"/>
            <a:ext cx="274565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组合 1"/>
          <p:cNvGrpSpPr/>
          <p:nvPr/>
        </p:nvGrpSpPr>
        <p:grpSpPr bwMode="auto">
          <a:xfrm>
            <a:off x="268288" y="103188"/>
            <a:ext cx="5395664" cy="601662"/>
            <a:chOff x="267858" y="102478"/>
            <a:chExt cx="3438433" cy="602574"/>
          </a:xfrm>
        </p:grpSpPr>
        <p:sp>
          <p:nvSpPr>
            <p:cNvPr id="5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43843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09EIS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特征测试 </a:t>
              </a:r>
              <a:r>
                <a:rPr lang="zh-CN" altLang="en-US" sz="2000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规律分析</a:t>
              </a:r>
              <a:endParaRPr lang="zh-CN" altLang="en-US" sz="2000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825500"/>
            <a:ext cx="6229350" cy="60325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6560185" y="1005840"/>
            <a:ext cx="5389880" cy="5744845"/>
          </a:xfrm>
          <a:prstGeom prst="rect">
            <a:avLst/>
          </a:prstGeom>
          <a:noFill/>
          <a:ln w="38100">
            <a:solidFill>
              <a:srgbClr val="1B69B4"/>
            </a:solidFill>
            <a:prstDash val="dash"/>
          </a:ln>
          <a:effectLst>
            <a:outerShdw blurRad="63500" sx="102000" sy="102000" algn="ctr" rotWithShape="0">
              <a:srgbClr val="1B69B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8298815" y="766445"/>
            <a:ext cx="2424430" cy="411480"/>
          </a:xfrm>
          <a:prstGeom prst="roundRect">
            <a:avLst/>
          </a:prstGeom>
          <a:solidFill>
            <a:srgbClr val="1B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14490" y="1485265"/>
            <a:ext cx="5253355" cy="3723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04800" defTabSz="266700" fontAlgn="ctr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）在高频区（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&gt;100Hz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），阻抗谱呈现与欧姆内阻相关的实部截距，受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SOC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变化影响较小；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 fontAlgn="ctr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）在中频区（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0.1-100Hz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），容抗弧半径随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SOC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降低而显著增大，表明电荷传递过程对电池状态具有敏感响应；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4800" defTabSz="266700" fontAlgn="ctr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）在低频区（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&lt;0.1Hz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Warburg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扩散特征与锂离子在电极中的传输速率密切相关，呈现明显的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SOC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依赖性。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43370" y="5415915"/>
            <a:ext cx="5201920" cy="108267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为后续建立基于特征频率的快速检测方法提供了重要依据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组合 1"/>
          <p:cNvGrpSpPr/>
          <p:nvPr/>
        </p:nvGrpSpPr>
        <p:grpSpPr bwMode="auto">
          <a:xfrm>
            <a:off x="268288" y="103188"/>
            <a:ext cx="5395664" cy="601662"/>
            <a:chOff x="267858" y="102478"/>
            <a:chExt cx="3438433" cy="602574"/>
          </a:xfrm>
        </p:grpSpPr>
        <p:sp>
          <p:nvSpPr>
            <p:cNvPr id="5" name="矩形 65"/>
            <p:cNvSpPr>
              <a:spLocks noChangeArrowheads="1"/>
            </p:cNvSpPr>
            <p:nvPr/>
          </p:nvSpPr>
          <p:spPr bwMode="auto">
            <a:xfrm>
              <a:off x="267858" y="102478"/>
              <a:ext cx="3438433" cy="58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lang="en-US" altLang="zh-CN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b="1" spc="300" dirty="0">
                  <a:ln w="6350">
                    <a:noFill/>
                  </a:ln>
                  <a:solidFill>
                    <a:srgbClr val="1B69B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未来计划与经费安排</a:t>
              </a:r>
              <a:endParaRPr lang="zh-CN" altLang="en-US" b="1" spc="300" dirty="0">
                <a:ln w="6350">
                  <a:noFill/>
                </a:ln>
                <a:solidFill>
                  <a:srgbClr val="1B69B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33094" y="659333"/>
              <a:ext cx="2653687" cy="45719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4000">
                  <a:srgbClr val="1B69B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1B69B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平行四边形 17"/>
          <p:cNvSpPr/>
          <p:nvPr/>
        </p:nvSpPr>
        <p:spPr>
          <a:xfrm>
            <a:off x="-384720" y="5216640"/>
            <a:ext cx="4465624" cy="156578"/>
          </a:xfrm>
          <a:prstGeom prst="parallelogram">
            <a:avLst>
              <a:gd name="adj" fmla="val 614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957" y="1911477"/>
            <a:ext cx="6465965" cy="3315412"/>
          </a:xfrm>
          <a:prstGeom prst="rect">
            <a:avLst/>
          </a:prstGeom>
        </p:spPr>
      </p:pic>
      <p:sp>
        <p:nvSpPr>
          <p:cNvPr id="2" name="直角三角形 1"/>
          <p:cNvSpPr/>
          <p:nvPr/>
        </p:nvSpPr>
        <p:spPr>
          <a:xfrm flipH="1">
            <a:off x="4038719" y="1866898"/>
            <a:ext cx="2129289" cy="336230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平行四边形 33"/>
          <p:cNvSpPr/>
          <p:nvPr/>
        </p:nvSpPr>
        <p:spPr>
          <a:xfrm>
            <a:off x="9395331" y="0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/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/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/>
          <p:cNvCxnSpPr/>
          <p:nvPr/>
        </p:nvCxnSpPr>
        <p:spPr>
          <a:xfrm flipH="1">
            <a:off x="11098400" y="5047329"/>
            <a:ext cx="1093600" cy="181067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/>
          <p:cNvCxnSpPr/>
          <p:nvPr/>
        </p:nvCxnSpPr>
        <p:spPr>
          <a:xfrm flipH="1">
            <a:off x="5680255" y="1484784"/>
            <a:ext cx="927761" cy="148383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/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22195" y="2850285"/>
            <a:ext cx="5803271" cy="88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kumimoji="1" lang="zh-CN" altLang="en-US" sz="44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感谢聆听！</a:t>
            </a:r>
            <a:endParaRPr kumimoji="1" lang="en-US" altLang="zh-CN" sz="44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168" y="1530250"/>
            <a:ext cx="2514152" cy="673296"/>
          </a:xfrm>
          <a:prstGeom prst="rect">
            <a:avLst/>
          </a:prstGeom>
        </p:spPr>
      </p:pic>
      <p:sp>
        <p:nvSpPr>
          <p:cNvPr id="6" name="平行四边形 5"/>
          <p:cNvSpPr/>
          <p:nvPr/>
        </p:nvSpPr>
        <p:spPr>
          <a:xfrm>
            <a:off x="3863752" y="2060848"/>
            <a:ext cx="2305311" cy="3312368"/>
          </a:xfrm>
          <a:prstGeom prst="parallelogram">
            <a:avLst>
              <a:gd name="adj" fmla="val 9258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767396" y="4922511"/>
            <a:ext cx="3420497" cy="80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58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答辩人：莫智超</a:t>
            </a:r>
            <a:endParaRPr lang="zh-CN" altLang="en-US" sz="2400" b="1" dirty="0">
              <a:solidFill>
                <a:srgbClr val="0058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58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2025.XX.XX</a:t>
            </a:r>
            <a:endParaRPr lang="en-US" altLang="zh-CN" b="1" dirty="0">
              <a:solidFill>
                <a:srgbClr val="0058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275.0925196850393,&quot;left&quot;:74.14456692913386,&quot;top&quot;:228.28984251968504,&quot;width&quot;:633.8840944881889}"/>
</p:tagLst>
</file>

<file path=ppt/tags/tag7.xml><?xml version="1.0" encoding="utf-8"?>
<p:tagLst xmlns:p="http://schemas.openxmlformats.org/presentationml/2006/main">
  <p:tag name="KSO_WM_DIAGRAM_VIRTUALLY_FRAME" val="{&quot;height&quot;:275.0925196850393,&quot;left&quot;:74.14456692913386,&quot;top&quot;:228.28984251968504,&quot;width&quot;:633.8840944881889}"/>
</p:tagLst>
</file>

<file path=ppt/tags/tag8.xml><?xml version="1.0" encoding="utf-8"?>
<p:tagLst xmlns:p="http://schemas.openxmlformats.org/presentationml/2006/main">
  <p:tag name="KSO_WM_DIAGRAM_VIRTUALLY_FRAME" val="{&quot;height&quot;:328.58472440944877,&quot;left&quot;:36.96212598425197,&quot;top&quot;:92.84818897637794,&quot;width&quot;:886.0756692913386}"/>
</p:tagLst>
</file>

<file path=ppt/tags/tag9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0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1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2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3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4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5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6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7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8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19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0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1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2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3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4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5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6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7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8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29.xml><?xml version="1.0" encoding="utf-8"?>
<p:tagLst xmlns:p="http://schemas.openxmlformats.org/presentationml/2006/main">
  <p:tag name="KSO_WM_DIAGRAM_VIRTUALLY_FRAME" val="{&quot;height&quot;:328.58472440944877,&quot;left&quot;:36.96212598425197,&quot;top&quot;:92.84818897637794,&quot;width&quot;:886.0756692913386}"/>
</p:tagLst>
</file>

<file path=ppt/tags/tag30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31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32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33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34.xml><?xml version="1.0" encoding="utf-8"?>
<p:tagLst xmlns:p="http://schemas.openxmlformats.org/presentationml/2006/main">
  <p:tag name="KSO_WM_DIAGRAM_VIRTUALLY_FRAME" val="{&quot;height&quot;:610.5374015748032,&quot;left&quot;:-13.943307086614187,&quot;top&quot;:91.0455118110236,&quot;width&quot;:1194.285905511811}"/>
</p:tagLst>
</file>

<file path=ppt/tags/tag35.xml><?xml version="1.0" encoding="utf-8"?>
<p:tagLst xmlns:p="http://schemas.openxmlformats.org/presentationml/2006/main">
  <p:tag name="KSO_WM_DIAGRAM_VIRTUALLY_FRAME" val="{&quot;height&quot;:380.6174015748032,&quot;left&quot;:43.4,&quot;top&quot;:113.55,&quot;width&quot;:859.65}"/>
</p:tagLst>
</file>

<file path=ppt/tags/tag36.xml><?xml version="1.0" encoding="utf-8"?>
<p:tagLst xmlns:p="http://schemas.openxmlformats.org/presentationml/2006/main">
  <p:tag name="KSO_WM_DIAGRAM_VIRTUALLY_FRAME" val="{&quot;height&quot;:380.6174015748032,&quot;left&quot;:43.4,&quot;top&quot;:113.55,&quot;width&quot;:859.65}"/>
</p:tagLst>
</file>

<file path=ppt/tags/tag37.xml><?xml version="1.0" encoding="utf-8"?>
<p:tagLst xmlns:p="http://schemas.openxmlformats.org/presentationml/2006/main">
  <p:tag name="KSO_WM_DIAGRAM_VIRTUALLY_FRAME" val="{&quot;height&quot;:380.6174015748032,&quot;left&quot;:43.4,&quot;top&quot;:113.55,&quot;width&quot;:859.65}"/>
</p:tagLst>
</file>

<file path=ppt/tags/tag38.xml><?xml version="1.0" encoding="utf-8"?>
<p:tagLst xmlns:p="http://schemas.openxmlformats.org/presentationml/2006/main">
  <p:tag name="KSO_WM_DIAGRAM_VIRTUALLY_FRAME" val="{&quot;height&quot;:380.6174015748032,&quot;left&quot;:43.4,&quot;top&quot;:113.55,&quot;width&quot;:859.65}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eaVert"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1860</Words>
  <Application>WPS 演示</Application>
  <PresentationFormat>宽屏</PresentationFormat>
  <Paragraphs>227</Paragraphs>
  <Slides>14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微软雅黑</vt:lpstr>
      <vt:lpstr>Calibri Light</vt:lpstr>
      <vt:lpstr>等线</vt:lpstr>
      <vt:lpstr>思源黑体 CN Regular</vt:lpstr>
      <vt:lpstr>黑体</vt:lpstr>
      <vt:lpstr>Arial</vt:lpstr>
      <vt:lpstr>Times New Roman</vt:lpstr>
      <vt:lpstr>Wingdings</vt:lpstr>
      <vt:lpstr>Arial Unicode MS</vt:lpstr>
      <vt:lpstr>等线 Light</vt:lpstr>
      <vt:lpstr>quote-cjk-patch</vt:lpstr>
      <vt:lpstr>Segoe Print</vt:lpstr>
      <vt:lpstr>默认设计模板</vt:lpstr>
      <vt:lpstr>Equation.DSMT4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WPS_1693130571</cp:lastModifiedBy>
  <cp:revision>992</cp:revision>
  <dcterms:created xsi:type="dcterms:W3CDTF">2016-12-02T08:56:00Z</dcterms:created>
  <dcterms:modified xsi:type="dcterms:W3CDTF">2025-10-25T04:57:24Z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CBFC7385DC6146E08A2CDFEEFAF30872_12</vt:lpwstr>
  </property>
</Properties>
</file>